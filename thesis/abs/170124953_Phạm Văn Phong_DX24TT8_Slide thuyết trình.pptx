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529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chào thầy cô. Em là Phạm Văn Phong, mã số sinh viên 170124953, lớp DX24TT8. Đề tài đồ án thực tập cơ sở ngành của em là xây dựng website giới thiệu di tích lịch sử và văn hóa Việt Nam, do thầy Trầm Hoàng Nam hướng dẫn. Sản phẩm là một website ASP.NET Core MVC có khu quản trị riêng, dùng bộ dữ liệu 209 bản ghi đều có nguồn.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của em gồm năm phần, đi theo trình tự của quyển báo cáo. Đầu tiên là bối cảnh và bài toán, tiếp theo là mục tiêu và phạm vi, rồi đến công nghệ và thiết kế. Phần thứ tư là hiện thực và kết quả, phần cuối là đánh giá và hướng phát triển. Sản phẩm em nộp gồm website chạy được bằng Visual Studio và Docker, bộ dữ liệu 209 bản ghi có nguồn, quyển báo cáo theo mẫu của trường và bộ 50 test case.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Tính đến tháng 2 năm 2026, cả nước có 153 di tích quốc gia đặc biệt qua 19 đợt xếp hạng, cùng 17 di sản văn hóa phi vật thể được UNESCO ghi danh. Khi tự tra cứu, em thấy thông tin nằm rải rác. Cổng của cơ quan nhà nước có cấp xếp hạng nhưng thiếu thông tin tham quan, cổng tỉnh chỉ nói về địa phương mình, còn trang du lịch thường không ghi loại, cấp và nguồn. Muốn biết một tỉnh có những di tích nào thì gần như phải tự tổng hợp bằng tay. Vì vậy em đề xuất một bộ dữ liệu thống nhất có nguồn, cho tra cứu theo tỉnh, loại, cấp và từ khóa không dấu, kèm khu quản trị tách riêng để cập nhật dữ liệu.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Đề tài có sáu mục tiêu chính: bộ dữ liệu có nguồn phủ trọn di tích quốc gia đặc biệt, cơ sở dữ liệu theo khung Luật Di sản văn hóa, đủ 14 chức năng đã đăng ký, khu quản trị tách cổng, giao diện dùng được trên điện thoại, và chức năng nào cũng có test case. Trong phạm vi, website có 209 bản ghi trên 33 trong 34 tỉnh thành, 8 chức năng tra cứu và 7 chức năng quản trị, chạy trên máy cá nhân. Những phần em chưa triển khai gồm bản đồ số nền vệ tinh và chỉ đường, giao diện tiếng Anh, Web API cho ứng dụng di động và tài khoản người xem. Di vật, cổ vật, bảo vật quốc gia và di sản tư liệu cũng nằm ngoài bộ dữ liệu.</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dùng ASP.NET Core MVC trên .NET 10 vì học phần yêu cầu thực hành MVC, và website chủ yếu là chữ để đọc nên sinh HTML ở máy chủ là đủ. Entity Framework Core ánh xạ lớp sang bảng, migration tự tạo cơ sở dữ liệu khi chạy lần đầu. Em chọn SQLite để thầy cô tải mã về là chạy được, không phải cài máy chủ cơ sở dữ liệu. Phần đăng nhập dùng ASP.NET Core Identity vì khâu băm mật khẩu và khóa tài khoản không được phép sai. Giao diện dùng Bootstrap 5.3 và jQuery có sẵn trong mẫu dự án. Ngoài thư viện có sẵn, em chỉ thêm ba gói NuGet.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có hai tác nhân. Khách tra cứu không cần đăng nhập, dùng 8 chức năng từ U01 đến U08 như xem trang chủ, tìm kiếm, lọc và xem chi tiết. Quản trị viên đăng nhập trên cổng riêng, dùng 6 chức năng đã đăng ký từ A01 đến A06. Em làm thêm chức năng A07 để quản lý tài khoản quản trị. Mỗi chức năng có một mã riêng, phần cài đặt và các test case sau này đều dẫn về mã đó.</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theo mô hình MVC, có thêm lớp Service. Yêu cầu đi một chiều từ Controller xuống Service, rồi tới DbContext và SQLite; View chỉ nhận ViewModel để sinh HTML. Nghiệp vụ nằm ở bảy thư mục dịch vụ, mỗi thư mục có interface, service, factory và validator riêng. Khu quản trị là một Area riêng với 9 controller, controller nào cũng đòi vai trò Admin. Phần ánh xạ và kiểm tra dữ liệu em viết tay, không thêm thư viện ngoài, vì số lớp trong đồ án không nhiều.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Cơ sở dữ liệu có bốn bảng nghiệp vụ. Relics là bảng trung tâm, Provinces và RelicTypes là danh mục, RelicImages lưu ảnh; Identity thêm ba bảng tài khoản và vai trò. Có bốn quyết định thiết kế chính. Tên và mô tả được lưu sẵn bản không dấu để tìm không dấu. Mỗi bản ghi có slug làm địa chỉ trang. Cấp xếp hạng là kiểu liệt kê vì ba cấp do luật quy định. Nguồn là trường bắt buộc ngay ở mức cơ sở dữ liệu. Ngoài ra, không xóa được tỉnh thành hay loại khi còn bản ghi, còn xóa bản ghi thì ảnh xóa theo.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giao diện phía người xem. Trang chủ có khối di tích tiêu biểu với ảnh thật và ô tìm kiếm, đánh số 1. Trang chi tiết có thanh mục ở ô số 2 để chuyển nhanh giữa giới thiệu, lịch sử, tham quan, hình ảnh và nguồn; phía dưới là mốc thời gian và sơ đồ vị trí của di tích ở ô số 3. Với 36 di sản văn hóa phi vật thể, trang chi tiết có nhãn UNESCO ghi danh hoặc Danh mục quốc gia như ô số 4, và thay thẻ vé bằng thời gian và nơi thực hành.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em đầu tư nhiều nhất là tra cứu. Ở ảnh thứ nhất, ô số 1 cho thấy từ khóa văn miếu ra 5 kết quả; gõ van mieu không dấu cũng ra đúng 5 kết quả đó, cùng thứ tự. Ảnh thứ hai lọc kết hợp Hà Nội, di tích lịch sử và cấp quốc gia đặc biệt ở ô số 2, được 12 kết quả, em đã đối chiếu khớp với truy vấn SQL. Bản đồ trên trang chủ tô màu 34 tỉnh thành theo số di tích, chú giải màu ở ô số 3. Cách làm là lưu sẵn bản không dấu của tên và mô tả, vì SQLite không so khớp được chữ có dấu, rồi sắp kết quả theo tiếng Việt để chữ Đ đứng ngay sau chữ 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Khu quản trị có trang thống kê, ô số 1 là bốn chỉ số tổng: số mục, số ảnh, lượt xem và số tỉnh có dữ liệu. Trang danh sách có bộ lọc ở ô số 2 để tìm nhanh hồ sơ cần sửa. Khi tải ảnh, ảnh nào cũng bắt buộc ghi nguồn; tệp hỏng hoặc sai định dạng bị từ chối kèm lý do như ô số 3. Trang tài khoản cho thêm, khóa, đặt lại mật khẩu; ô số 4 là một tài khoản đang bị khóa tạm. Không ai tự khóa hay tự xóa được tài khoản của chính mình.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Khu quản trị chạy trên cổng riêng. Cổng 5112 mở cho khách; ai gõ đường dẫn quản trị trên cổng này sẽ nhận trang không tìm thấy, giống hệt một địa chỉ không có thật, như ảnh bên trái. Em thử 8 đường dẫn quản trị, có và không có cookie, cả 16 yêu cầu đều trả 404. Cổng 5113 chỉ nhận kết nối từ chính máy chạy ứng dụng. Ngoài ra còn bốn lớp bảo vệ: mật khẩu mạnh và khóa 5 phút sau 5 lần sai; ảnh tải lên được kiểm theo chữ ký đầu tệp; nội dung nhập được mã hóa khi hiển thị nên thẻ script không chạy; và đổi mã định danh trong biểu mẫu cũng không sửa được bản ghi khác.</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dữ liệu khởi tạo có 209 bản ghi, gồm 173 di tích và 36 di sản văn hóa phi vật thể. Riêng 150 bản ghi quốc gia đặc biệt phủ đủ danh sách 153 di tích đến đợt 19, vì các lần xếp hạng bổ sung được gộp vào bản ghi gốc. Dữ liệu có ở 33 trong 34 tỉnh thành, kèm 216 ảnh. Bản ghi nào cũng có đường dẫn nguồn, ảnh nào cũng ghi tác giả và giấy phép. Em ưu tiên nguồn của Cục Di sản văn hóa và Cổng Thông tin điện tử Chính phủ. Chỗ nào thiếu thông tin em để trống, không bù bằng nội dung không rõ nguồn.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kiểm thử hộp đen với 50 test case chia thành tám nhóm, chạy trên bản publish Release. Trong đó có 26 test case dùng dữ liệu sai hoặc thao tác trái phép. Cả tám nhóm đều đạt, tổng cộng 50 trên 50 test case. Có một lỗi em tìm ra khi nghiệm thu: ở lần chạy đầu, 5 trong 48 địa chỉ tệp CSS quản trị vẫn mở được trên cổng công khai, vì .NET 10 tự đăng ký thêm địa chỉ có mã băm và bản nén. Em gom tệp quản trị vào thư mục admin-assets và chặn cả tiền tố này. Chạy lại 1.728 yêu cầu thì tất cả đều trả 404.</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hai cách chạy chương trình. Với Visual Studio 2026, thầy cô clone repository, mở tệp DiTichVietNam.slnx, chọn profile http rồi bấm F5; lần chạy đầu ứng dụng tự tạo cơ sở dữ liệu và nạp dữ liệu. Với Docker Compose, chỉ cần vào thư mục docker và chạy một lệnh. Cả hai cách đều mở trang công khai ở cổng 5112 và khu quản trị ở cổng 5113. Khi chạy bằng Docker, ba volume giữ lại cơ sở dữ liệu, ảnh tải lên và khóa bảo vệ dữ liệu khi dựng lại container.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ưu điểm, website có đủ 14 chức năng đã đăng ký và chức năng mở rộng A07, cả 50 test case đều đạt, tìm không dấu và lọc kết hợp cho kết quả khớp truy vấn SQL. Đo trên máy phát triển, trang chậm nhất phản hồi trong 4,6 mili giây phía máy chủ. Về hạn chế, còn 75 bản ghi chưa có ảnh, 69 di tích chưa có tọa độ, tỉnh Lai Châu chưa có bản ghi, trang chủ nặng khoảng 3 MiB và repository chưa có kiểm thử đơn vị. Hướng phát triển của em là bổ sung ảnh và tọa độ có nguồn, sinh ảnh thu nhỏ, thêm cột phiên bản để phát hiện sửa chồng, viết kiểm thử đơn vị, sau đó làm giao diện tiếng Anh và Web API. Kết luận, đồ án đã hoàn thành 14 chức năng đăng ký cùng chức năng mở rộng, với 209 bản ghi có nguồn và 50 trên 50 test case đạt.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Mã nguồn của đồ án nằm trên GitHub theo đường dẫn này, thầy cô có thể quét mã QR để mở. Repository có đủ mã nguồn, migration, dữ liệu khởi tạo, ảnh, hướng dẫn cài đặt và tệp Docker Compose. Đường dẫn video thuyết trình em ghi ở dòng bên dưới.</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2310206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trình bày của em đến đây là hết. Em xin cảm ơn thầy Trầm Hoàng Nam và quý thầy cô đã lắng nghe. Em rất mong nhận được góp ý của thầy cô để hoàn thiện đồ án.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1060008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png"/><Relationship Id="rId7"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hyperlink" Target="https://github.com/doits930/csn-dx24tt8-phamvanphong-gioithieuditichlichsuvavanhoavietnam-asp.netmvc"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1B"/>
        </a:solidFill>
        <a:effectLst/>
      </p:bgPr>
    </p:bg>
    <p:spTree>
      <p:nvGrpSpPr>
        <p:cNvPr id="1" name=""/>
        <p:cNvGrpSpPr/>
        <p:nvPr/>
      </p:nvGrpSpPr>
      <p:grpSpPr>
        <a:xfrm>
          <a:off x="0" y="0"/>
          <a:ext cx="0" cy="0"/>
          <a:chOff x="0" y="0"/>
          <a:chExt cx="0" cy="0"/>
        </a:xfrm>
      </p:grpSpPr>
      <p:sp>
        <p:nvSpPr>
          <p:cNvPr id="2" name="S01 Rectangle 2"/>
          <p:cNvSpPr/>
          <p:nvPr/>
        </p:nvSpPr>
        <p:spPr>
          <a:xfrm>
            <a:off x="0" y="0"/>
            <a:ext cx="109728" cy="6858000"/>
          </a:xfrm>
          <a:prstGeom prst="rect">
            <a:avLst/>
          </a:prstGeom>
          <a:solidFill>
            <a:srgbClr val="43705F"/>
          </a:solidFill>
          <a:ln/>
        </p:spPr>
      </p:sp>
      <p:sp>
        <p:nvSpPr>
          <p:cNvPr id="3" name="S01 Rectangle 3"/>
          <p:cNvSpPr/>
          <p:nvPr/>
        </p:nvSpPr>
        <p:spPr>
          <a:xfrm>
            <a:off x="12081967" y="0"/>
            <a:ext cx="109728" cy="6858000"/>
          </a:xfrm>
          <a:prstGeom prst="rect">
            <a:avLst/>
          </a:prstGeom>
          <a:solidFill>
            <a:srgbClr val="7A5C10"/>
          </a:solidFill>
          <a:ln/>
        </p:spPr>
      </p:sp>
      <p:sp>
        <p:nvSpPr>
          <p:cNvPr id="4" name="!!LogoBg"/>
          <p:cNvSpPr/>
          <p:nvPr/>
        </p:nvSpPr>
        <p:spPr>
          <a:xfrm>
            <a:off x="685800" y="868680"/>
            <a:ext cx="960120" cy="960120"/>
          </a:xfrm>
          <a:prstGeom prst="ellipse">
            <a:avLst/>
          </a:prstGeom>
          <a:solidFill>
            <a:srgbClr val="FFFFFF"/>
          </a:solidFill>
          <a:ln/>
        </p:spPr>
      </p:sp>
      <p:pic>
        <p:nvPicPr>
          <p:cNvPr id="5" name="!!Logo" descr="Logo Trường Đại học Trà Vinh"/>
          <p:cNvPicPr>
            <a:picLocks noChangeAspect="1"/>
          </p:cNvPicPr>
          <p:nvPr/>
        </p:nvPicPr>
        <p:blipFill>
          <a:blip r:embed="rId3"/>
          <a:stretch>
            <a:fillRect/>
          </a:stretch>
        </p:blipFill>
        <p:spPr>
          <a:xfrm>
            <a:off x="724205" y="907085"/>
            <a:ext cx="883310" cy="883310"/>
          </a:xfrm>
          <a:prstGeom prst="rect">
            <a:avLst/>
          </a:prstGeom>
        </p:spPr>
      </p:pic>
      <p:sp>
        <p:nvSpPr>
          <p:cNvPr id="6" name="S01 Rectangle 6"/>
          <p:cNvSpPr/>
          <p:nvPr/>
        </p:nvSpPr>
        <p:spPr>
          <a:xfrm>
            <a:off x="1874520" y="1170432"/>
            <a:ext cx="3154680" cy="365760"/>
          </a:xfrm>
          <a:prstGeom prst="rect">
            <a:avLst/>
          </a:prstGeom>
          <a:solidFill>
            <a:srgbClr val="7A5C10"/>
          </a:solidFill>
          <a:ln/>
        </p:spPr>
        <p:txBody>
          <a:bodyPr wrap="square" lIns="0" tIns="0" rIns="0" bIns="0" rtlCol="0" anchor="ctr"/>
          <a:lstStyle/>
          <a:p>
            <a:pPr marL="0" indent="0" algn="ctr">
              <a:buNone/>
            </a:pPr>
            <a:r>
              <a:rPr lang="en-US" sz="1100" b="1" kern="0" spc="100" dirty="0">
                <a:solidFill>
                  <a:srgbClr val="F8F8F4"/>
                </a:solidFill>
                <a:latin typeface="Segoe UI" pitchFamily="34" charset="0"/>
                <a:ea typeface="Segoe UI" pitchFamily="34" charset="-122"/>
                <a:cs typeface="Segoe UI" pitchFamily="34" charset="-120"/>
              </a:rPr>
              <a:t>ĐỒ ÁN THỰC TẬP CƠ SỞ NGÀNH</a:t>
            </a:r>
            <a:endParaRPr lang="en-US" sz="1100" dirty="0"/>
          </a:p>
        </p:txBody>
      </p:sp>
      <p:sp>
        <p:nvSpPr>
          <p:cNvPr id="7" name="S01 TextBox 7"/>
          <p:cNvSpPr txBox="1"/>
          <p:nvPr/>
        </p:nvSpPr>
        <p:spPr>
          <a:xfrm>
            <a:off x="685800" y="2148840"/>
            <a:ext cx="5669280" cy="1783080"/>
          </a:xfrm>
          <a:prstGeom prst="rect">
            <a:avLst/>
          </a:prstGeom>
          <a:noFill/>
          <a:ln/>
        </p:spPr>
        <p:txBody>
          <a:bodyPr wrap="square" lIns="0" tIns="0" rIns="0" bIns="0" rtlCol="0" anchor="t"/>
          <a:lstStyle/>
          <a:p>
            <a:pPr marL="0" indent="0">
              <a:lnSpc>
                <a:spcPct val="95000"/>
              </a:lnSpc>
              <a:buNone/>
            </a:pPr>
            <a:r>
              <a:rPr lang="en-US" sz="3400" b="1" dirty="0">
                <a:solidFill>
                  <a:srgbClr val="F8F8F4"/>
                </a:solidFill>
                <a:latin typeface="Cambria" pitchFamily="34" charset="0"/>
                <a:ea typeface="Cambria" pitchFamily="34" charset="-122"/>
                <a:cs typeface="Cambria" pitchFamily="34" charset="-120"/>
              </a:rPr>
              <a:t>Xây dựng website giới thiệu</a:t>
            </a:r>
            <a:endParaRPr lang="en-US" sz="3400" dirty="0"/>
          </a:p>
          <a:p>
            <a:pPr marL="0" indent="0">
              <a:lnSpc>
                <a:spcPct val="95000"/>
              </a:lnSpc>
              <a:buNone/>
            </a:pPr>
            <a:r>
              <a:rPr lang="en-US" sz="3400" b="1" dirty="0">
                <a:solidFill>
                  <a:srgbClr val="F8F8F4"/>
                </a:solidFill>
                <a:latin typeface="Cambria" pitchFamily="34" charset="0"/>
                <a:ea typeface="Cambria" pitchFamily="34" charset="-122"/>
                <a:cs typeface="Cambria" pitchFamily="34" charset="-120"/>
              </a:rPr>
              <a:t>di tích lịch sử</a:t>
            </a:r>
            <a:endParaRPr lang="en-US" sz="3400" dirty="0"/>
          </a:p>
          <a:p>
            <a:pPr marL="0" indent="0">
              <a:lnSpc>
                <a:spcPct val="95000"/>
              </a:lnSpc>
              <a:buNone/>
            </a:pPr>
            <a:r>
              <a:rPr lang="en-US" sz="3400" b="1" dirty="0">
                <a:solidFill>
                  <a:srgbClr val="F8F8F4"/>
                </a:solidFill>
                <a:latin typeface="Cambria" pitchFamily="34" charset="0"/>
                <a:ea typeface="Cambria" pitchFamily="34" charset="-122"/>
                <a:cs typeface="Cambria" pitchFamily="34" charset="-120"/>
              </a:rPr>
              <a:t>và văn hóa Việt Nam</a:t>
            </a:r>
            <a:endParaRPr lang="en-US" sz="3400" dirty="0"/>
          </a:p>
        </p:txBody>
      </p:sp>
      <p:sp>
        <p:nvSpPr>
          <p:cNvPr id="8" name="S01 Rectangle 8"/>
          <p:cNvSpPr/>
          <p:nvPr/>
        </p:nvSpPr>
        <p:spPr>
          <a:xfrm>
            <a:off x="685800" y="3995928"/>
            <a:ext cx="1463040" cy="54864"/>
          </a:xfrm>
          <a:prstGeom prst="rect">
            <a:avLst/>
          </a:prstGeom>
          <a:solidFill>
            <a:srgbClr val="43705F"/>
          </a:solidFill>
          <a:ln/>
        </p:spPr>
      </p:sp>
      <p:sp>
        <p:nvSpPr>
          <p:cNvPr id="9" name="S01 TextBox 9"/>
          <p:cNvSpPr txBox="1"/>
          <p:nvPr/>
        </p:nvSpPr>
        <p:spPr>
          <a:xfrm>
            <a:off x="685800" y="4251960"/>
            <a:ext cx="5760720" cy="1097280"/>
          </a:xfrm>
          <a:prstGeom prst="rect">
            <a:avLst/>
          </a:prstGeom>
          <a:noFill/>
          <a:ln/>
        </p:spPr>
        <p:txBody>
          <a:bodyPr wrap="square" lIns="0" tIns="0" rIns="0" bIns="0" rtlCol="0" anchor="t"/>
          <a:lstStyle/>
          <a:p>
            <a:pPr marL="0" indent="0">
              <a:spcAft>
                <a:spcPts val="600"/>
              </a:spcAft>
              <a:buNone/>
            </a:pPr>
            <a:r>
              <a:rPr lang="en-US" sz="1350" dirty="0">
                <a:solidFill>
                  <a:srgbClr val="F8F8F4"/>
                </a:solidFill>
                <a:latin typeface="Segoe UI" pitchFamily="34" charset="0"/>
                <a:ea typeface="Segoe UI" pitchFamily="34" charset="-122"/>
                <a:cs typeface="Segoe UI" pitchFamily="34" charset="-120"/>
              </a:rPr>
              <a:t>Sinh viên: Phạm Văn Phong  ·  MSSV: 170124953  ·  Lớp: DX24TT8</a:t>
            </a:r>
            <a:endParaRPr lang="en-US" sz="1350" dirty="0"/>
          </a:p>
          <a:p>
            <a:pPr marL="0" indent="0">
              <a:spcAft>
                <a:spcPts val="600"/>
              </a:spcAft>
              <a:buNone/>
            </a:pPr>
            <a:r>
              <a:rPr lang="en-US" sz="1350" dirty="0">
                <a:solidFill>
                  <a:srgbClr val="F8F8F4"/>
                </a:solidFill>
                <a:latin typeface="Segoe UI" pitchFamily="34" charset="0"/>
                <a:ea typeface="Segoe UI" pitchFamily="34" charset="-122"/>
                <a:cs typeface="Segoe UI" pitchFamily="34" charset="-120"/>
              </a:rPr>
              <a:t>GVHD: ThS. Trầm Hoàng Nam</a:t>
            </a:r>
            <a:endParaRPr lang="en-US" sz="1350" dirty="0"/>
          </a:p>
          <a:p>
            <a:pPr marL="0" indent="0">
              <a:spcAft>
                <a:spcPts val="600"/>
              </a:spcAft>
              <a:buNone/>
            </a:pPr>
            <a:r>
              <a:rPr lang="en-US" sz="1350" dirty="0">
                <a:solidFill>
                  <a:srgbClr val="C8CFC9"/>
                </a:solidFill>
                <a:latin typeface="Segoe UI" pitchFamily="34" charset="0"/>
                <a:ea typeface="Segoe UI" pitchFamily="34" charset="-122"/>
                <a:cs typeface="Segoe UI" pitchFamily="34" charset="-120"/>
              </a:rPr>
              <a:t>Đại học Trà Vinh  ·  2026</a:t>
            </a:r>
            <a:endParaRPr lang="en-US" sz="1350" dirty="0"/>
          </a:p>
        </p:txBody>
      </p:sp>
      <p:sp>
        <p:nvSpPr>
          <p:cNvPr id="10" name="S01 Rectangle 10"/>
          <p:cNvSpPr/>
          <p:nvPr/>
        </p:nvSpPr>
        <p:spPr>
          <a:xfrm>
            <a:off x="6492240" y="1325880"/>
            <a:ext cx="5303520" cy="3017520"/>
          </a:xfrm>
          <a:prstGeom prst="rect">
            <a:avLst/>
          </a:prstGeom>
          <a:solidFill>
            <a:srgbClr val="F8F8F4"/>
          </a:solidFill>
          <a:ln/>
          <a:effectLst>
            <a:outerShdw blurRad="127000" dist="25400" dir="5400000" algn="bl" rotWithShape="0">
              <a:srgbClr val="000000">
                <a:alpha val="12000"/>
              </a:srgbClr>
            </a:outerShdw>
          </a:effectLst>
        </p:spPr>
      </p:sp>
      <p:pic>
        <p:nvPicPr>
          <p:cNvPr id="11" name="S01 Picture 11" descr="Trang chủ website Di tích Việt Nam"/>
          <p:cNvPicPr>
            <a:picLocks noChangeAspect="1"/>
          </p:cNvPicPr>
          <p:nvPr/>
        </p:nvPicPr>
        <p:blipFill>
          <a:blip r:embed="rId4"/>
          <a:stretch>
            <a:fillRect/>
          </a:stretch>
        </p:blipFill>
        <p:spPr>
          <a:xfrm>
            <a:off x="6537960" y="1371600"/>
            <a:ext cx="5212080" cy="2930652"/>
          </a:xfrm>
          <a:prstGeom prst="rect">
            <a:avLst/>
          </a:prstGeom>
        </p:spPr>
      </p:pic>
      <p:sp>
        <p:nvSpPr>
          <p:cNvPr id="12" name="S01 Rounded Rectangle 12"/>
          <p:cNvSpPr/>
          <p:nvPr/>
        </p:nvSpPr>
        <p:spPr>
          <a:xfrm>
            <a:off x="6492240" y="4663440"/>
            <a:ext cx="5303520" cy="493776"/>
          </a:xfrm>
          <a:prstGeom prst="roundRect">
            <a:avLst>
              <a:gd name="adj" fmla="val 50000"/>
            </a:avLst>
          </a:prstGeom>
          <a:solidFill>
            <a:srgbClr val="FFFFFF"/>
          </a:solidFill>
          <a:ln/>
        </p:spPr>
        <p:txBody>
          <a:bodyPr wrap="square" lIns="0" tIns="0" rIns="0" bIns="0" rtlCol="0" anchor="ctr"/>
          <a:lstStyle/>
          <a:p>
            <a:pPr marL="0" indent="0" algn="ctr">
              <a:buNone/>
            </a:pPr>
            <a:r>
              <a:rPr lang="en-US" sz="1250" b="1" dirty="0">
                <a:solidFill>
                  <a:srgbClr val="1C2B25"/>
                </a:solidFill>
                <a:latin typeface="Segoe UI" pitchFamily="34" charset="0"/>
                <a:ea typeface="Segoe UI" pitchFamily="34" charset="-122"/>
                <a:cs typeface="Segoe UI" pitchFamily="34" charset="-120"/>
              </a:rPr>
              <a:t>Website ASP.NET Core MVC có khu quản trị riêng</a:t>
            </a:r>
            <a:endParaRPr lang="en-US" sz="1250" dirty="0"/>
          </a:p>
        </p:txBody>
      </p:sp>
      <p:sp>
        <p:nvSpPr>
          <p:cNvPr id="13" name="S01 Rounded Rectangle 13"/>
          <p:cNvSpPr/>
          <p:nvPr/>
        </p:nvSpPr>
        <p:spPr>
          <a:xfrm>
            <a:off x="6492240" y="5303520"/>
            <a:ext cx="5303520" cy="493776"/>
          </a:xfrm>
          <a:prstGeom prst="roundRect">
            <a:avLst>
              <a:gd name="adj" fmla="val 50000"/>
            </a:avLst>
          </a:prstGeom>
          <a:solidFill>
            <a:srgbClr val="FFFFFF"/>
          </a:solidFill>
          <a:ln/>
        </p:spPr>
        <p:txBody>
          <a:bodyPr wrap="square" lIns="0" tIns="0" rIns="0" bIns="0" rtlCol="0" anchor="ctr"/>
          <a:lstStyle/>
          <a:p>
            <a:pPr marL="0" indent="0" algn="ctr">
              <a:buNone/>
            </a:pPr>
            <a:r>
              <a:rPr lang="en-US" sz="1250" b="1" dirty="0">
                <a:solidFill>
                  <a:srgbClr val="1C2B25"/>
                </a:solidFill>
                <a:latin typeface="Segoe UI" pitchFamily="34" charset="0"/>
                <a:ea typeface="Segoe UI" pitchFamily="34" charset="-122"/>
                <a:cs typeface="Segoe UI" pitchFamily="34" charset="-120"/>
              </a:rPr>
              <a:t>209 bản ghi di tích có nguồn  ·  tìm kiếm không dấu</a:t>
            </a:r>
            <a:endParaRPr lang="en-US" sz="1250" dirty="0"/>
          </a:p>
        </p:txBody>
      </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42" presetClass="entr" presetSubtype="0" fill="hold" grpId="0" nodeType="withEffect">
                                  <p:stCondLst>
                                    <p:cond delay="12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anim calcmode="lin" valueType="num">
                                      <p:cBhvr>
                                        <p:cTn id="17" dur="500" fill="hold"/>
                                        <p:tgtEl>
                                          <p:spTgt spid="7"/>
                                        </p:tgtEl>
                                        <p:attrNameLst>
                                          <p:attrName>ppt_x</p:attrName>
                                        </p:attrNameLst>
                                      </p:cBhvr>
                                      <p:tavLst>
                                        <p:tav tm="0">
                                          <p:val>
                                            <p:strVal val="#ppt_x"/>
                                          </p:val>
                                        </p:tav>
                                        <p:tav tm="100000">
                                          <p:val>
                                            <p:strVal val="#ppt_x"/>
                                          </p:val>
                                        </p:tav>
                                      </p:tavLst>
                                    </p:anim>
                                    <p:anim calcmode="lin" valueType="num">
                                      <p:cBhvr>
                                        <p:cTn id="18" dur="500" fill="hold"/>
                                        <p:tgtEl>
                                          <p:spTgt spid="7"/>
                                        </p:tgtEl>
                                        <p:attrNameLst>
                                          <p:attrName>ppt_y</p:attrName>
                                        </p:attrNameLst>
                                      </p:cBhvr>
                                      <p:tavLst>
                                        <p:tav tm="0">
                                          <p:val>
                                            <p:strVal val="#ppt_y+.1"/>
                                          </p:val>
                                        </p:tav>
                                        <p:tav tm="100000">
                                          <p:val>
                                            <p:strVal val="#ppt_y"/>
                                          </p:val>
                                        </p:tav>
                                      </p:tavLst>
                                    </p:anim>
                                  </p:childTnLst>
                                </p:cTn>
                              </p:par>
                              <p:par>
                                <p:cTn id="19" presetID="10" presetClass="entr" presetSubtype="0" fill="hold" nodeType="withEffect">
                                  <p:stCondLst>
                                    <p:cond delay="12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24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53" presetClass="entr" presetSubtype="16" fill="hold" nodeType="withEffect">
                                  <p:stCondLst>
                                    <p:cond delay="360"/>
                                  </p:stCondLst>
                                  <p:childTnLst>
                                    <p:set>
                                      <p:cBhvr>
                                        <p:cTn id="26" dur="1" fill="hold">
                                          <p:stCondLst>
                                            <p:cond delay="0"/>
                                          </p:stCondLst>
                                        </p:cTn>
                                        <p:tgtEl>
                                          <p:spTgt spid="10"/>
                                        </p:tgtEl>
                                        <p:attrNameLst>
                                          <p:attrName>style.visibility</p:attrName>
                                        </p:attrNameLst>
                                      </p:cBhvr>
                                      <p:to>
                                        <p:strVal val="visible"/>
                                      </p:to>
                                    </p:set>
                                    <p:anim calcmode="lin" valueType="num">
                                      <p:cBhvr>
                                        <p:cTn id="27" dur="600" fill="hold"/>
                                        <p:tgtEl>
                                          <p:spTgt spid="10"/>
                                        </p:tgtEl>
                                        <p:attrNameLst>
                                          <p:attrName>ppt_w</p:attrName>
                                        </p:attrNameLst>
                                      </p:cBhvr>
                                      <p:tavLst>
                                        <p:tav tm="0">
                                          <p:val>
                                            <p:fltVal val="0"/>
                                          </p:val>
                                        </p:tav>
                                        <p:tav tm="100000">
                                          <p:val>
                                            <p:strVal val="#ppt_w"/>
                                          </p:val>
                                        </p:tav>
                                      </p:tavLst>
                                    </p:anim>
                                    <p:anim calcmode="lin" valueType="num">
                                      <p:cBhvr>
                                        <p:cTn id="28" dur="600" fill="hold"/>
                                        <p:tgtEl>
                                          <p:spTgt spid="10"/>
                                        </p:tgtEl>
                                        <p:attrNameLst>
                                          <p:attrName>ppt_h</p:attrName>
                                        </p:attrNameLst>
                                      </p:cBhvr>
                                      <p:tavLst>
                                        <p:tav tm="0">
                                          <p:val>
                                            <p:fltVal val="0"/>
                                          </p:val>
                                        </p:tav>
                                        <p:tav tm="100000">
                                          <p:val>
                                            <p:strVal val="#ppt_h"/>
                                          </p:val>
                                        </p:tav>
                                      </p:tavLst>
                                    </p:anim>
                                    <p:animEffect transition="in" filter="fade">
                                      <p:cBhvr>
                                        <p:cTn id="29" dur="600"/>
                                        <p:tgtEl>
                                          <p:spTgt spid="10"/>
                                        </p:tgtEl>
                                      </p:cBhvr>
                                    </p:animEffect>
                                  </p:childTnLst>
                                </p:cTn>
                              </p:par>
                              <p:par>
                                <p:cTn id="30" presetID="53" presetClass="entr" presetSubtype="16" fill="hold" nodeType="withEffect">
                                  <p:stCondLst>
                                    <p:cond delay="360"/>
                                  </p:stCondLst>
                                  <p:childTnLst>
                                    <p:set>
                                      <p:cBhvr>
                                        <p:cTn id="31" dur="1" fill="hold">
                                          <p:stCondLst>
                                            <p:cond delay="0"/>
                                          </p:stCondLst>
                                        </p:cTn>
                                        <p:tgtEl>
                                          <p:spTgt spid="11"/>
                                        </p:tgtEl>
                                        <p:attrNameLst>
                                          <p:attrName>style.visibility</p:attrName>
                                        </p:attrNameLst>
                                      </p:cBhvr>
                                      <p:to>
                                        <p:strVal val="visible"/>
                                      </p:to>
                                    </p:set>
                                    <p:anim calcmode="lin" valueType="num">
                                      <p:cBhvr>
                                        <p:cTn id="32" dur="600" fill="hold"/>
                                        <p:tgtEl>
                                          <p:spTgt spid="11"/>
                                        </p:tgtEl>
                                        <p:attrNameLst>
                                          <p:attrName>ppt_w</p:attrName>
                                        </p:attrNameLst>
                                      </p:cBhvr>
                                      <p:tavLst>
                                        <p:tav tm="0">
                                          <p:val>
                                            <p:fltVal val="0"/>
                                          </p:val>
                                        </p:tav>
                                        <p:tav tm="100000">
                                          <p:val>
                                            <p:strVal val="#ppt_w"/>
                                          </p:val>
                                        </p:tav>
                                      </p:tavLst>
                                    </p:anim>
                                    <p:anim calcmode="lin" valueType="num">
                                      <p:cBhvr>
                                        <p:cTn id="33" dur="600" fill="hold"/>
                                        <p:tgtEl>
                                          <p:spTgt spid="11"/>
                                        </p:tgtEl>
                                        <p:attrNameLst>
                                          <p:attrName>ppt_h</p:attrName>
                                        </p:attrNameLst>
                                      </p:cBhvr>
                                      <p:tavLst>
                                        <p:tav tm="0">
                                          <p:val>
                                            <p:fltVal val="0"/>
                                          </p:val>
                                        </p:tav>
                                        <p:tav tm="100000">
                                          <p:val>
                                            <p:strVal val="#ppt_h"/>
                                          </p:val>
                                        </p:tav>
                                      </p:tavLst>
                                    </p:anim>
                                    <p:animEffect transition="in" filter="fade">
                                      <p:cBhvr>
                                        <p:cTn id="34" dur="600"/>
                                        <p:tgtEl>
                                          <p:spTgt spid="11"/>
                                        </p:tgtEl>
                                      </p:cBhvr>
                                    </p:animEffect>
                                  </p:childTnLst>
                                </p:cTn>
                              </p:par>
                              <p:par>
                                <p:cTn id="35" presetID="42" presetClass="entr" presetSubtype="0" fill="hold" grpId="0" nodeType="withEffect">
                                  <p:stCondLst>
                                    <p:cond delay="48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anim calcmode="lin" valueType="num">
                                      <p:cBhvr>
                                        <p:cTn id="38" dur="500" fill="hold"/>
                                        <p:tgtEl>
                                          <p:spTgt spid="12"/>
                                        </p:tgtEl>
                                        <p:attrNameLst>
                                          <p:attrName>ppt_x</p:attrName>
                                        </p:attrNameLst>
                                      </p:cBhvr>
                                      <p:tavLst>
                                        <p:tav tm="0">
                                          <p:val>
                                            <p:strVal val="#ppt_x"/>
                                          </p:val>
                                        </p:tav>
                                        <p:tav tm="100000">
                                          <p:val>
                                            <p:strVal val="#ppt_x"/>
                                          </p:val>
                                        </p:tav>
                                      </p:tavLst>
                                    </p:anim>
                                    <p:anim calcmode="lin" valueType="num">
                                      <p:cBhvr>
                                        <p:cTn id="39" dur="500" fill="hold"/>
                                        <p:tgtEl>
                                          <p:spTgt spid="12"/>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60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anim calcmode="lin" valueType="num">
                                      <p:cBhvr>
                                        <p:cTn id="43" dur="500" fill="hold"/>
                                        <p:tgtEl>
                                          <p:spTgt spid="13"/>
                                        </p:tgtEl>
                                        <p:attrNameLst>
                                          <p:attrName>ppt_x</p:attrName>
                                        </p:attrNameLst>
                                      </p:cBhvr>
                                      <p:tavLst>
                                        <p:tav tm="0">
                                          <p:val>
                                            <p:strVal val="#ppt_x"/>
                                          </p:val>
                                        </p:tav>
                                        <p:tav tm="100000">
                                          <p:val>
                                            <p:strVal val="#ppt_x"/>
                                          </p:val>
                                        </p:tav>
                                      </p:tavLst>
                                    </p:anim>
                                    <p:anim calcmode="lin" valueType="num">
                                      <p:cBhvr>
                                        <p:cTn id="44" dur="5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2" grpId="0" animBg="1"/>
      <p:bldP spid="1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8F4"/>
        </a:solidFill>
        <a:effectLst/>
      </p:bgPr>
    </p:bg>
    <p:spTree>
      <p:nvGrpSpPr>
        <p:cNvPr id="1" name=""/>
        <p:cNvGrpSpPr/>
        <p:nvPr/>
      </p:nvGrpSpPr>
      <p:grpSpPr>
        <a:xfrm>
          <a:off x="0" y="0"/>
          <a:ext cx="0" cy="0"/>
          <a:chOff x="0" y="0"/>
          <a:chExt cx="0" cy="0"/>
        </a:xfrm>
      </p:grpSpPr>
      <p:sp>
        <p:nvSpPr>
          <p:cNvPr id="2" name="!!TopBar"/>
          <p:cNvSpPr/>
          <p:nvPr/>
        </p:nvSpPr>
        <p:spPr>
          <a:xfrm>
            <a:off x="0" y="0"/>
            <a:ext cx="12191695" cy="91440"/>
          </a:xfrm>
          <a:prstGeom prst="rect">
            <a:avLst/>
          </a:prstGeom>
          <a:solidFill>
            <a:srgbClr val="12201B"/>
          </a:solidFill>
          <a:ln/>
        </p:spPr>
      </p:sp>
      <p:sp>
        <p:nvSpPr>
          <p:cNvPr id="3" name="!!LogoBg"/>
          <p:cNvSpPr/>
          <p:nvPr/>
        </p:nvSpPr>
        <p:spPr>
          <a:xfrm>
            <a:off x="11256264" y="274320"/>
            <a:ext cx="402336" cy="402336"/>
          </a:xfrm>
          <a:prstGeom prst="ellipse">
            <a:avLst/>
          </a:prstGeom>
          <a:solidFill>
            <a:srgbClr val="FFFFFF"/>
          </a:solidFill>
          <a:ln/>
        </p:spPr>
      </p:sp>
      <p:pic>
        <p:nvPicPr>
          <p:cNvPr id="4" name="!!Logo" descr="Logo Trường Đại học Trà Vinh"/>
          <p:cNvPicPr>
            <a:picLocks noChangeAspect="1"/>
          </p:cNvPicPr>
          <p:nvPr/>
        </p:nvPicPr>
        <p:blipFill>
          <a:blip r:embed="rId3"/>
          <a:stretch>
            <a:fillRect/>
          </a:stretch>
        </p:blipFill>
        <p:spPr>
          <a:xfrm>
            <a:off x="11269980" y="288036"/>
            <a:ext cx="374904" cy="374904"/>
          </a:xfrm>
          <a:prstGeom prst="rect">
            <a:avLst/>
          </a:prstGeom>
        </p:spPr>
      </p:pic>
      <p:sp>
        <p:nvSpPr>
          <p:cNvPr id="5" name="!!Label"/>
          <p:cNvSpPr txBox="1"/>
          <p:nvPr/>
        </p:nvSpPr>
        <p:spPr>
          <a:xfrm>
            <a:off x="8138160" y="365760"/>
            <a:ext cx="2971800" cy="274320"/>
          </a:xfrm>
          <a:prstGeom prst="rect">
            <a:avLst/>
          </a:prstGeom>
          <a:noFill/>
          <a:ln/>
        </p:spPr>
        <p:txBody>
          <a:bodyPr wrap="square" lIns="0" tIns="0" rIns="0" bIns="0" rtlCol="0" anchor="t"/>
          <a:lstStyle/>
          <a:p>
            <a:pPr marL="0" indent="0" algn="r">
              <a:buNone/>
            </a:pPr>
            <a:r>
              <a:rPr lang="en-US" sz="1000" b="1" kern="0" spc="150" dirty="0">
                <a:solidFill>
                  <a:srgbClr val="43705F"/>
                </a:solidFill>
                <a:latin typeface="Segoe UI" pitchFamily="34" charset="0"/>
                <a:ea typeface="Segoe UI" pitchFamily="34" charset="-122"/>
                <a:cs typeface="Segoe UI" pitchFamily="34" charset="-120"/>
              </a:rPr>
              <a:t>NỘI DUNG</a:t>
            </a:r>
            <a:endParaRPr lang="en-US" sz="1000" dirty="0"/>
          </a:p>
        </p:txBody>
      </p:sp>
      <p:sp>
        <p:nvSpPr>
          <p:cNvPr id="6" name="!!Title"/>
          <p:cNvSpPr txBox="1"/>
          <p:nvPr/>
        </p:nvSpPr>
        <p:spPr>
          <a:xfrm>
            <a:off x="548640" y="329184"/>
            <a:ext cx="8138160" cy="548640"/>
          </a:xfrm>
          <a:prstGeom prst="rect">
            <a:avLst/>
          </a:prstGeom>
          <a:noFill/>
          <a:ln/>
        </p:spPr>
        <p:txBody>
          <a:bodyPr wrap="square" lIns="0" tIns="0" rIns="0" bIns="0" rtlCol="0" anchor="t"/>
          <a:lstStyle/>
          <a:p>
            <a:pPr marL="0" indent="0">
              <a:buNone/>
            </a:pPr>
            <a:r>
              <a:rPr lang="en-US" sz="2800" b="1" dirty="0">
                <a:solidFill>
                  <a:srgbClr val="1C2B25"/>
                </a:solidFill>
                <a:latin typeface="Cambria" pitchFamily="34" charset="0"/>
                <a:ea typeface="Cambria" pitchFamily="34" charset="-122"/>
                <a:cs typeface="Cambria" pitchFamily="34" charset="-120"/>
              </a:rPr>
              <a:t>Cấu trúc bài thuyết trình</a:t>
            </a:r>
            <a:endParaRPr lang="en-US" sz="2800" dirty="0"/>
          </a:p>
        </p:txBody>
      </p:sp>
      <p:sp>
        <p:nvSpPr>
          <p:cNvPr id="7" name="!!Subtitle"/>
          <p:cNvSpPr txBox="1"/>
          <p:nvPr/>
        </p:nvSpPr>
        <p:spPr>
          <a:xfrm>
            <a:off x="548640" y="914400"/>
            <a:ext cx="10241280" cy="274320"/>
          </a:xfrm>
          <a:prstGeom prst="rect">
            <a:avLst/>
          </a:prstGeom>
          <a:noFill/>
          <a:ln/>
        </p:spPr>
        <p:txBody>
          <a:bodyPr wrap="square" lIns="0" tIns="0" rIns="0" bIns="0" rtlCol="0" anchor="t"/>
          <a:lstStyle/>
          <a:p>
            <a:pPr marL="0" indent="0">
              <a:buNone/>
            </a:pPr>
            <a:r>
              <a:rPr lang="en-US" sz="1250" dirty="0">
                <a:solidFill>
                  <a:srgbClr val="4E5B54"/>
                </a:solidFill>
                <a:latin typeface="Segoe UI" pitchFamily="34" charset="0"/>
                <a:ea typeface="Segoe UI" pitchFamily="34" charset="-122"/>
                <a:cs typeface="Segoe UI" pitchFamily="34" charset="-120"/>
              </a:rPr>
              <a:t>Năm phần, đi theo trình tự các chương của quyển báo cáo</a:t>
            </a:r>
            <a:endParaRPr lang="en-US" sz="1250" dirty="0"/>
          </a:p>
        </p:txBody>
      </p:sp>
      <p:sp>
        <p:nvSpPr>
          <p:cNvPr id="8" name="!!Accent"/>
          <p:cNvSpPr/>
          <p:nvPr/>
        </p:nvSpPr>
        <p:spPr>
          <a:xfrm>
            <a:off x="548640" y="1280160"/>
            <a:ext cx="1005840" cy="45720"/>
          </a:xfrm>
          <a:prstGeom prst="rect">
            <a:avLst/>
          </a:prstGeom>
          <a:solidFill>
            <a:srgbClr val="43705F"/>
          </a:solidFill>
          <a:ln/>
        </p:spPr>
      </p:sp>
      <p:sp>
        <p:nvSpPr>
          <p:cNvPr id="9" name="!!Footer"/>
          <p:cNvSpPr txBox="1"/>
          <p:nvPr/>
        </p:nvSpPr>
        <p:spPr>
          <a:xfrm>
            <a:off x="548640" y="6455664"/>
            <a:ext cx="7315200" cy="219456"/>
          </a:xfrm>
          <a:prstGeom prst="rect">
            <a:avLst/>
          </a:prstGeom>
          <a:noFill/>
          <a:ln/>
        </p:spPr>
        <p:txBody>
          <a:bodyPr wrap="square" lIns="0" tIns="0" rIns="0" bIns="0" rtlCol="0" anchor="t"/>
          <a:lstStyle/>
          <a:p>
            <a:pPr marL="0" indent="0">
              <a:buNone/>
            </a:pPr>
            <a:r>
              <a:rPr lang="en-US" sz="900" dirty="0">
                <a:solidFill>
                  <a:srgbClr val="4E5B54"/>
                </a:solidFill>
                <a:latin typeface="Segoe UI" pitchFamily="34" charset="0"/>
                <a:ea typeface="Segoe UI" pitchFamily="34" charset="-122"/>
                <a:cs typeface="Segoe UI" pitchFamily="34" charset="-120"/>
              </a:rPr>
              <a:t>Đồ án thực tập cơ sở ngành · Website di tích Việt Nam</a:t>
            </a:r>
            <a:endParaRPr lang="en-US" sz="900" dirty="0"/>
          </a:p>
        </p:txBody>
      </p:sp>
      <p:sp>
        <p:nvSpPr>
          <p:cNvPr id="10" name="!!PageNum"/>
          <p:cNvSpPr txBox="1"/>
          <p:nvPr/>
        </p:nvSpPr>
        <p:spPr>
          <a:xfrm>
            <a:off x="11091672" y="6455664"/>
            <a:ext cx="548640" cy="219456"/>
          </a:xfrm>
          <a:prstGeom prst="rect">
            <a:avLst/>
          </a:prstGeom>
          <a:noFill/>
          <a:ln/>
        </p:spPr>
        <p:txBody>
          <a:bodyPr wrap="square" lIns="0" tIns="0" rIns="0" bIns="0" rtlCol="0" anchor="t"/>
          <a:lstStyle/>
          <a:p>
            <a:pPr marL="0" indent="0" algn="r">
              <a:buNone/>
            </a:pPr>
            <a:r>
              <a:rPr lang="en-US" sz="900" dirty="0">
                <a:solidFill>
                  <a:srgbClr val="4E5B54"/>
                </a:solidFill>
                <a:latin typeface="Segoe UI" pitchFamily="34" charset="0"/>
                <a:ea typeface="Segoe UI" pitchFamily="34" charset="-122"/>
                <a:cs typeface="Segoe UI" pitchFamily="34" charset="-120"/>
              </a:rPr>
              <a:t>02</a:t>
            </a:r>
            <a:endParaRPr lang="en-US" sz="900" dirty="0"/>
          </a:p>
        </p:txBody>
      </p:sp>
      <p:sp>
        <p:nvSpPr>
          <p:cNvPr id="11" name="S02 Oval 11"/>
          <p:cNvSpPr/>
          <p:nvPr/>
        </p:nvSpPr>
        <p:spPr>
          <a:xfrm>
            <a:off x="548640" y="1691640"/>
            <a:ext cx="512064" cy="512064"/>
          </a:xfrm>
          <a:prstGeom prst="ellipse">
            <a:avLst/>
          </a:prstGeom>
          <a:solidFill>
            <a:srgbClr val="43705F"/>
          </a:solidFill>
          <a:ln/>
        </p:spPr>
        <p:txBody>
          <a:bodyPr wrap="square" lIns="0" tIns="0" rIns="0" bIns="0" rtlCol="0" anchor="ctr"/>
          <a:lstStyle/>
          <a:p>
            <a:pPr marL="0" indent="0" algn="ctr">
              <a:buNone/>
            </a:pPr>
            <a:r>
              <a:rPr lang="en-US" sz="1400" b="1" dirty="0">
                <a:solidFill>
                  <a:srgbClr val="F8F8F4"/>
                </a:solidFill>
                <a:latin typeface="Cambria" pitchFamily="34" charset="0"/>
                <a:ea typeface="Cambria" pitchFamily="34" charset="-122"/>
                <a:cs typeface="Cambria" pitchFamily="34" charset="-120"/>
              </a:rPr>
              <a:t>01</a:t>
            </a:r>
            <a:endParaRPr lang="en-US" sz="1400" dirty="0"/>
          </a:p>
        </p:txBody>
      </p:sp>
      <p:sp>
        <p:nvSpPr>
          <p:cNvPr id="12" name="S02 TextBox 12"/>
          <p:cNvSpPr txBox="1"/>
          <p:nvPr/>
        </p:nvSpPr>
        <p:spPr>
          <a:xfrm>
            <a:off x="1280160" y="1664208"/>
            <a:ext cx="5120640" cy="329184"/>
          </a:xfrm>
          <a:prstGeom prst="rect">
            <a:avLst/>
          </a:prstGeom>
          <a:noFill/>
          <a:ln/>
        </p:spPr>
        <p:txBody>
          <a:bodyPr wrap="square" lIns="0" tIns="0" rIns="0" bIns="0" rtlCol="0" anchor="t"/>
          <a:lstStyle/>
          <a:p>
            <a:pPr marL="0" indent="0">
              <a:buNone/>
            </a:pPr>
            <a:r>
              <a:rPr lang="en-US" sz="1650" b="1" dirty="0">
                <a:solidFill>
                  <a:srgbClr val="1C2B25"/>
                </a:solidFill>
                <a:latin typeface="Segoe UI" pitchFamily="34" charset="0"/>
                <a:ea typeface="Segoe UI" pitchFamily="34" charset="-122"/>
                <a:cs typeface="Segoe UI" pitchFamily="34" charset="-120"/>
              </a:rPr>
              <a:t>Bối cảnh và bài toán</a:t>
            </a:r>
            <a:endParaRPr lang="en-US" sz="1650" dirty="0"/>
          </a:p>
        </p:txBody>
      </p:sp>
      <p:sp>
        <p:nvSpPr>
          <p:cNvPr id="13" name="S02 TextBox 13"/>
          <p:cNvSpPr txBox="1"/>
          <p:nvPr/>
        </p:nvSpPr>
        <p:spPr>
          <a:xfrm>
            <a:off x="1280160" y="2011680"/>
            <a:ext cx="5120640" cy="274320"/>
          </a:xfrm>
          <a:prstGeom prst="rect">
            <a:avLst/>
          </a:prstGeom>
          <a:noFill/>
          <a:ln/>
        </p:spPr>
        <p:txBody>
          <a:bodyPr wrap="square" lIns="0" tIns="0" rIns="0" bIns="0" rtlCol="0" anchor="t"/>
          <a:lstStyle/>
          <a:p>
            <a:pPr marL="0" indent="0">
              <a:buNone/>
            </a:pPr>
            <a:r>
              <a:rPr lang="en-US" sz="1200" dirty="0">
                <a:solidFill>
                  <a:srgbClr val="4E5B54"/>
                </a:solidFill>
                <a:latin typeface="Segoe UI" pitchFamily="34" charset="0"/>
                <a:ea typeface="Segoe UI" pitchFamily="34" charset="-122"/>
                <a:cs typeface="Segoe UI" pitchFamily="34" charset="-120"/>
              </a:rPr>
              <a:t>Thông tin di tích nằm rải rác, cần một nơi tra cứu gộp</a:t>
            </a:r>
            <a:endParaRPr lang="en-US" sz="1200" dirty="0"/>
          </a:p>
        </p:txBody>
      </p:sp>
      <p:sp>
        <p:nvSpPr>
          <p:cNvPr id="14" name="S02 Oval 14"/>
          <p:cNvSpPr/>
          <p:nvPr/>
        </p:nvSpPr>
        <p:spPr>
          <a:xfrm>
            <a:off x="548640" y="2587752"/>
            <a:ext cx="512064" cy="512064"/>
          </a:xfrm>
          <a:prstGeom prst="ellipse">
            <a:avLst/>
          </a:prstGeom>
          <a:solidFill>
            <a:srgbClr val="43705F"/>
          </a:solidFill>
          <a:ln/>
        </p:spPr>
        <p:txBody>
          <a:bodyPr wrap="square" lIns="0" tIns="0" rIns="0" bIns="0" rtlCol="0" anchor="ctr"/>
          <a:lstStyle/>
          <a:p>
            <a:pPr marL="0" indent="0" algn="ctr">
              <a:buNone/>
            </a:pPr>
            <a:r>
              <a:rPr lang="en-US" sz="1400" b="1" dirty="0">
                <a:solidFill>
                  <a:srgbClr val="F8F8F4"/>
                </a:solidFill>
                <a:latin typeface="Cambria" pitchFamily="34" charset="0"/>
                <a:ea typeface="Cambria" pitchFamily="34" charset="-122"/>
                <a:cs typeface="Cambria" pitchFamily="34" charset="-120"/>
              </a:rPr>
              <a:t>02</a:t>
            </a:r>
            <a:endParaRPr lang="en-US" sz="1400" dirty="0"/>
          </a:p>
        </p:txBody>
      </p:sp>
      <p:sp>
        <p:nvSpPr>
          <p:cNvPr id="15" name="S02 TextBox 15"/>
          <p:cNvSpPr txBox="1"/>
          <p:nvPr/>
        </p:nvSpPr>
        <p:spPr>
          <a:xfrm>
            <a:off x="1280160" y="2560320"/>
            <a:ext cx="5120640" cy="329184"/>
          </a:xfrm>
          <a:prstGeom prst="rect">
            <a:avLst/>
          </a:prstGeom>
          <a:noFill/>
          <a:ln/>
        </p:spPr>
        <p:txBody>
          <a:bodyPr wrap="square" lIns="0" tIns="0" rIns="0" bIns="0" rtlCol="0" anchor="t"/>
          <a:lstStyle/>
          <a:p>
            <a:pPr marL="0" indent="0">
              <a:buNone/>
            </a:pPr>
            <a:r>
              <a:rPr lang="en-US" sz="1650" b="1" dirty="0">
                <a:solidFill>
                  <a:srgbClr val="1C2B25"/>
                </a:solidFill>
                <a:latin typeface="Segoe UI" pitchFamily="34" charset="0"/>
                <a:ea typeface="Segoe UI" pitchFamily="34" charset="-122"/>
                <a:cs typeface="Segoe UI" pitchFamily="34" charset="-120"/>
              </a:rPr>
              <a:t>Mục tiêu và phạm vi</a:t>
            </a:r>
            <a:endParaRPr lang="en-US" sz="1650" dirty="0"/>
          </a:p>
        </p:txBody>
      </p:sp>
      <p:sp>
        <p:nvSpPr>
          <p:cNvPr id="16" name="S02 TextBox 16"/>
          <p:cNvSpPr txBox="1"/>
          <p:nvPr/>
        </p:nvSpPr>
        <p:spPr>
          <a:xfrm>
            <a:off x="1280160" y="2907792"/>
            <a:ext cx="5120640" cy="274320"/>
          </a:xfrm>
          <a:prstGeom prst="rect">
            <a:avLst/>
          </a:prstGeom>
          <a:noFill/>
          <a:ln/>
        </p:spPr>
        <p:txBody>
          <a:bodyPr wrap="square" lIns="0" tIns="0" rIns="0" bIns="0" rtlCol="0" anchor="t"/>
          <a:lstStyle/>
          <a:p>
            <a:pPr marL="0" indent="0">
              <a:buNone/>
            </a:pPr>
            <a:r>
              <a:rPr lang="en-US" sz="1200" dirty="0">
                <a:solidFill>
                  <a:srgbClr val="4E5B54"/>
                </a:solidFill>
                <a:latin typeface="Segoe UI" pitchFamily="34" charset="0"/>
                <a:ea typeface="Segoe UI" pitchFamily="34" charset="-122"/>
                <a:cs typeface="Segoe UI" pitchFamily="34" charset="-120"/>
              </a:rPr>
              <a:t>Sáu mục tiêu, phần đã làm và phần chưa triển khai</a:t>
            </a:r>
            <a:endParaRPr lang="en-US" sz="1200" dirty="0"/>
          </a:p>
        </p:txBody>
      </p:sp>
      <p:sp>
        <p:nvSpPr>
          <p:cNvPr id="17" name="S02 Oval 17"/>
          <p:cNvSpPr/>
          <p:nvPr/>
        </p:nvSpPr>
        <p:spPr>
          <a:xfrm>
            <a:off x="548640" y="3483864"/>
            <a:ext cx="512064" cy="512064"/>
          </a:xfrm>
          <a:prstGeom prst="ellipse">
            <a:avLst/>
          </a:prstGeom>
          <a:solidFill>
            <a:srgbClr val="43705F"/>
          </a:solidFill>
          <a:ln/>
        </p:spPr>
        <p:txBody>
          <a:bodyPr wrap="square" lIns="0" tIns="0" rIns="0" bIns="0" rtlCol="0" anchor="ctr"/>
          <a:lstStyle/>
          <a:p>
            <a:pPr marL="0" indent="0" algn="ctr">
              <a:buNone/>
            </a:pPr>
            <a:r>
              <a:rPr lang="en-US" sz="1400" b="1" dirty="0">
                <a:solidFill>
                  <a:srgbClr val="F8F8F4"/>
                </a:solidFill>
                <a:latin typeface="Cambria" pitchFamily="34" charset="0"/>
                <a:ea typeface="Cambria" pitchFamily="34" charset="-122"/>
                <a:cs typeface="Cambria" pitchFamily="34" charset="-120"/>
              </a:rPr>
              <a:t>03</a:t>
            </a:r>
            <a:endParaRPr lang="en-US" sz="1400" dirty="0"/>
          </a:p>
        </p:txBody>
      </p:sp>
      <p:sp>
        <p:nvSpPr>
          <p:cNvPr id="18" name="S02 TextBox 18"/>
          <p:cNvSpPr txBox="1"/>
          <p:nvPr/>
        </p:nvSpPr>
        <p:spPr>
          <a:xfrm>
            <a:off x="1280160" y="3456432"/>
            <a:ext cx="5120640" cy="329184"/>
          </a:xfrm>
          <a:prstGeom prst="rect">
            <a:avLst/>
          </a:prstGeom>
          <a:noFill/>
          <a:ln/>
        </p:spPr>
        <p:txBody>
          <a:bodyPr wrap="square" lIns="0" tIns="0" rIns="0" bIns="0" rtlCol="0" anchor="t"/>
          <a:lstStyle/>
          <a:p>
            <a:pPr marL="0" indent="0">
              <a:buNone/>
            </a:pPr>
            <a:r>
              <a:rPr lang="en-US" sz="1650" b="1" dirty="0">
                <a:solidFill>
                  <a:srgbClr val="1C2B25"/>
                </a:solidFill>
                <a:latin typeface="Segoe UI" pitchFamily="34" charset="0"/>
                <a:ea typeface="Segoe UI" pitchFamily="34" charset="-122"/>
                <a:cs typeface="Segoe UI" pitchFamily="34" charset="-120"/>
              </a:rPr>
              <a:t>Công nghệ và thiết kế</a:t>
            </a:r>
            <a:endParaRPr lang="en-US" sz="1650" dirty="0"/>
          </a:p>
        </p:txBody>
      </p:sp>
      <p:sp>
        <p:nvSpPr>
          <p:cNvPr id="19" name="S02 TextBox 19"/>
          <p:cNvSpPr txBox="1"/>
          <p:nvPr/>
        </p:nvSpPr>
        <p:spPr>
          <a:xfrm>
            <a:off x="1280160" y="3803904"/>
            <a:ext cx="5120640" cy="274320"/>
          </a:xfrm>
          <a:prstGeom prst="rect">
            <a:avLst/>
          </a:prstGeom>
          <a:noFill/>
          <a:ln/>
        </p:spPr>
        <p:txBody>
          <a:bodyPr wrap="square" lIns="0" tIns="0" rIns="0" bIns="0" rtlCol="0" anchor="t"/>
          <a:lstStyle/>
          <a:p>
            <a:pPr marL="0" indent="0">
              <a:buNone/>
            </a:pPr>
            <a:r>
              <a:rPr lang="en-US" sz="1200" dirty="0">
                <a:solidFill>
                  <a:srgbClr val="4E5B54"/>
                </a:solidFill>
                <a:latin typeface="Segoe UI" pitchFamily="34" charset="0"/>
                <a:ea typeface="Segoe UI" pitchFamily="34" charset="-122"/>
                <a:cs typeface="Segoe UI" pitchFamily="34" charset="-120"/>
              </a:rPr>
              <a:t>ASP.NET Core MVC, kiến trúc phân lớp, cơ sở dữ liệu</a:t>
            </a:r>
            <a:endParaRPr lang="en-US" sz="1200" dirty="0"/>
          </a:p>
        </p:txBody>
      </p:sp>
      <p:sp>
        <p:nvSpPr>
          <p:cNvPr id="20" name="S02 Oval 20"/>
          <p:cNvSpPr/>
          <p:nvPr/>
        </p:nvSpPr>
        <p:spPr>
          <a:xfrm>
            <a:off x="548640" y="4379976"/>
            <a:ext cx="512064" cy="512064"/>
          </a:xfrm>
          <a:prstGeom prst="ellipse">
            <a:avLst/>
          </a:prstGeom>
          <a:solidFill>
            <a:srgbClr val="9E2B25"/>
          </a:solidFill>
          <a:ln/>
        </p:spPr>
        <p:txBody>
          <a:bodyPr wrap="square" lIns="0" tIns="0" rIns="0" bIns="0" rtlCol="0" anchor="ctr"/>
          <a:lstStyle/>
          <a:p>
            <a:pPr marL="0" indent="0" algn="ctr">
              <a:buNone/>
            </a:pPr>
            <a:r>
              <a:rPr lang="en-US" sz="1400" b="1" dirty="0">
                <a:solidFill>
                  <a:srgbClr val="F8F8F4"/>
                </a:solidFill>
                <a:latin typeface="Cambria" pitchFamily="34" charset="0"/>
                <a:ea typeface="Cambria" pitchFamily="34" charset="-122"/>
                <a:cs typeface="Cambria" pitchFamily="34" charset="-120"/>
              </a:rPr>
              <a:t>04</a:t>
            </a:r>
            <a:endParaRPr lang="en-US" sz="1400" dirty="0"/>
          </a:p>
        </p:txBody>
      </p:sp>
      <p:sp>
        <p:nvSpPr>
          <p:cNvPr id="21" name="S02 TextBox 21"/>
          <p:cNvSpPr txBox="1"/>
          <p:nvPr/>
        </p:nvSpPr>
        <p:spPr>
          <a:xfrm>
            <a:off x="1280160" y="4352544"/>
            <a:ext cx="5120640" cy="329184"/>
          </a:xfrm>
          <a:prstGeom prst="rect">
            <a:avLst/>
          </a:prstGeom>
          <a:noFill/>
          <a:ln/>
        </p:spPr>
        <p:txBody>
          <a:bodyPr wrap="square" lIns="0" tIns="0" rIns="0" bIns="0" rtlCol="0" anchor="t"/>
          <a:lstStyle/>
          <a:p>
            <a:pPr marL="0" indent="0">
              <a:buNone/>
            </a:pPr>
            <a:r>
              <a:rPr lang="en-US" sz="1650" b="1" dirty="0">
                <a:solidFill>
                  <a:srgbClr val="1C2B25"/>
                </a:solidFill>
                <a:latin typeface="Segoe UI" pitchFamily="34" charset="0"/>
                <a:ea typeface="Segoe UI" pitchFamily="34" charset="-122"/>
                <a:cs typeface="Segoe UI" pitchFamily="34" charset="-120"/>
              </a:rPr>
              <a:t>Hiện thực và kết quả</a:t>
            </a:r>
            <a:endParaRPr lang="en-US" sz="1650" dirty="0"/>
          </a:p>
        </p:txBody>
      </p:sp>
      <p:sp>
        <p:nvSpPr>
          <p:cNvPr id="22" name="S02 TextBox 22"/>
          <p:cNvSpPr txBox="1"/>
          <p:nvPr/>
        </p:nvSpPr>
        <p:spPr>
          <a:xfrm>
            <a:off x="1280160" y="4700016"/>
            <a:ext cx="5120640" cy="274320"/>
          </a:xfrm>
          <a:prstGeom prst="rect">
            <a:avLst/>
          </a:prstGeom>
          <a:noFill/>
          <a:ln/>
        </p:spPr>
        <p:txBody>
          <a:bodyPr wrap="square" lIns="0" tIns="0" rIns="0" bIns="0" rtlCol="0" anchor="t"/>
          <a:lstStyle/>
          <a:p>
            <a:pPr marL="0" indent="0">
              <a:buNone/>
            </a:pPr>
            <a:r>
              <a:rPr lang="en-US" sz="1200" dirty="0">
                <a:solidFill>
                  <a:srgbClr val="4E5B54"/>
                </a:solidFill>
                <a:latin typeface="Segoe UI" pitchFamily="34" charset="0"/>
                <a:ea typeface="Segoe UI" pitchFamily="34" charset="-122"/>
                <a:cs typeface="Segoe UI" pitchFamily="34" charset="-120"/>
              </a:rPr>
              <a:t>Giao diện, khu quản trị, dữ liệu, kiểm thử, triển khai</a:t>
            </a:r>
            <a:endParaRPr lang="en-US" sz="1200" dirty="0"/>
          </a:p>
        </p:txBody>
      </p:sp>
      <p:sp>
        <p:nvSpPr>
          <p:cNvPr id="23" name="S02 Oval 23"/>
          <p:cNvSpPr/>
          <p:nvPr/>
        </p:nvSpPr>
        <p:spPr>
          <a:xfrm>
            <a:off x="548640" y="5276088"/>
            <a:ext cx="512064" cy="512064"/>
          </a:xfrm>
          <a:prstGeom prst="ellipse">
            <a:avLst/>
          </a:prstGeom>
          <a:solidFill>
            <a:srgbClr val="43705F"/>
          </a:solidFill>
          <a:ln/>
        </p:spPr>
        <p:txBody>
          <a:bodyPr wrap="square" lIns="0" tIns="0" rIns="0" bIns="0" rtlCol="0" anchor="ctr"/>
          <a:lstStyle/>
          <a:p>
            <a:pPr marL="0" indent="0" algn="ctr">
              <a:buNone/>
            </a:pPr>
            <a:r>
              <a:rPr lang="en-US" sz="1400" b="1" dirty="0">
                <a:solidFill>
                  <a:srgbClr val="F8F8F4"/>
                </a:solidFill>
                <a:latin typeface="Cambria" pitchFamily="34" charset="0"/>
                <a:ea typeface="Cambria" pitchFamily="34" charset="-122"/>
                <a:cs typeface="Cambria" pitchFamily="34" charset="-120"/>
              </a:rPr>
              <a:t>05</a:t>
            </a:r>
            <a:endParaRPr lang="en-US" sz="1400" dirty="0"/>
          </a:p>
        </p:txBody>
      </p:sp>
      <p:sp>
        <p:nvSpPr>
          <p:cNvPr id="24" name="S02 TextBox 24"/>
          <p:cNvSpPr txBox="1"/>
          <p:nvPr/>
        </p:nvSpPr>
        <p:spPr>
          <a:xfrm>
            <a:off x="1280160" y="5248656"/>
            <a:ext cx="5120640" cy="329184"/>
          </a:xfrm>
          <a:prstGeom prst="rect">
            <a:avLst/>
          </a:prstGeom>
          <a:noFill/>
          <a:ln/>
        </p:spPr>
        <p:txBody>
          <a:bodyPr wrap="square" lIns="0" tIns="0" rIns="0" bIns="0" rtlCol="0" anchor="t"/>
          <a:lstStyle/>
          <a:p>
            <a:pPr marL="0" indent="0">
              <a:buNone/>
            </a:pPr>
            <a:r>
              <a:rPr lang="en-US" sz="1650" b="1" dirty="0">
                <a:solidFill>
                  <a:srgbClr val="1C2B25"/>
                </a:solidFill>
                <a:latin typeface="Segoe UI" pitchFamily="34" charset="0"/>
                <a:ea typeface="Segoe UI" pitchFamily="34" charset="-122"/>
                <a:cs typeface="Segoe UI" pitchFamily="34" charset="-120"/>
              </a:rPr>
              <a:t>Đánh giá và hướng phát triển</a:t>
            </a:r>
            <a:endParaRPr lang="en-US" sz="1650" dirty="0"/>
          </a:p>
        </p:txBody>
      </p:sp>
      <p:sp>
        <p:nvSpPr>
          <p:cNvPr id="25" name="S02 TextBox 25"/>
          <p:cNvSpPr txBox="1"/>
          <p:nvPr/>
        </p:nvSpPr>
        <p:spPr>
          <a:xfrm>
            <a:off x="1280160" y="5596128"/>
            <a:ext cx="5120640" cy="274320"/>
          </a:xfrm>
          <a:prstGeom prst="rect">
            <a:avLst/>
          </a:prstGeom>
          <a:noFill/>
          <a:ln/>
        </p:spPr>
        <p:txBody>
          <a:bodyPr wrap="square" lIns="0" tIns="0" rIns="0" bIns="0" rtlCol="0" anchor="t"/>
          <a:lstStyle/>
          <a:p>
            <a:pPr marL="0" indent="0">
              <a:buNone/>
            </a:pPr>
            <a:r>
              <a:rPr lang="en-US" sz="1200" dirty="0">
                <a:solidFill>
                  <a:srgbClr val="4E5B54"/>
                </a:solidFill>
                <a:latin typeface="Segoe UI" pitchFamily="34" charset="0"/>
                <a:ea typeface="Segoe UI" pitchFamily="34" charset="-122"/>
                <a:cs typeface="Segoe UI" pitchFamily="34" charset="-120"/>
              </a:rPr>
              <a:t>Ưu điểm, hạn chế, việc làm tiếp và kết luận</a:t>
            </a:r>
            <a:endParaRPr lang="en-US" sz="1200" dirty="0"/>
          </a:p>
        </p:txBody>
      </p:sp>
      <p:sp>
        <p:nvSpPr>
          <p:cNvPr id="26" name="S02 Rounded Rectangle 26"/>
          <p:cNvSpPr/>
          <p:nvPr/>
        </p:nvSpPr>
        <p:spPr>
          <a:xfrm>
            <a:off x="6812280" y="1645920"/>
            <a:ext cx="4828032" cy="4526280"/>
          </a:xfrm>
          <a:prstGeom prst="roundRect">
            <a:avLst>
              <a:gd name="adj" fmla="val 4040"/>
            </a:avLst>
          </a:prstGeom>
          <a:solidFill>
            <a:srgbClr val="FFFFFF"/>
          </a:solidFill>
          <a:ln w="9525">
            <a:solidFill>
              <a:srgbClr val="C9CDC2"/>
            </a:solidFill>
            <a:prstDash val="solid"/>
          </a:ln>
          <a:effectLst>
            <a:outerShdw blurRad="127000" dist="25400" dir="5400000" algn="bl" rotWithShape="0">
              <a:srgbClr val="000000">
                <a:alpha val="12000"/>
              </a:srgbClr>
            </a:outerShdw>
          </a:effectLst>
        </p:spPr>
      </p:sp>
      <p:sp>
        <p:nvSpPr>
          <p:cNvPr id="27" name="S02 TextBox 27"/>
          <p:cNvSpPr txBox="1"/>
          <p:nvPr/>
        </p:nvSpPr>
        <p:spPr>
          <a:xfrm>
            <a:off x="6812280" y="1874520"/>
            <a:ext cx="4828032" cy="411480"/>
          </a:xfrm>
          <a:prstGeom prst="rect">
            <a:avLst/>
          </a:prstGeom>
          <a:noFill/>
          <a:ln/>
        </p:spPr>
        <p:txBody>
          <a:bodyPr wrap="square" lIns="0" tIns="0" rIns="0" bIns="0" rtlCol="0" anchor="t"/>
          <a:lstStyle/>
          <a:p>
            <a:pPr marL="0" indent="0" algn="ctr">
              <a:buNone/>
            </a:pPr>
            <a:r>
              <a:rPr lang="en-US" sz="2000" b="1" dirty="0">
                <a:solidFill>
                  <a:srgbClr val="1C2B25"/>
                </a:solidFill>
                <a:latin typeface="Cambria" pitchFamily="34" charset="0"/>
                <a:ea typeface="Cambria" pitchFamily="34" charset="-122"/>
                <a:cs typeface="Cambria" pitchFamily="34" charset="-120"/>
              </a:rPr>
              <a:t>Sản phẩm cuối cùng</a:t>
            </a:r>
            <a:endParaRPr lang="en-US" sz="2000" dirty="0"/>
          </a:p>
        </p:txBody>
      </p:sp>
      <p:sp>
        <p:nvSpPr>
          <p:cNvPr id="28" name="S02 Rounded Rectangle 28"/>
          <p:cNvSpPr/>
          <p:nvPr/>
        </p:nvSpPr>
        <p:spPr>
          <a:xfrm>
            <a:off x="7178040" y="2514600"/>
            <a:ext cx="4096512" cy="694944"/>
          </a:xfrm>
          <a:prstGeom prst="roundRect">
            <a:avLst>
              <a:gd name="adj" fmla="val 10526"/>
            </a:avLst>
          </a:prstGeom>
          <a:solidFill>
            <a:srgbClr val="E2EAE4"/>
          </a:solidFill>
          <a:ln/>
        </p:spPr>
        <p:txBody>
          <a:bodyPr wrap="square" lIns="0" tIns="0" rIns="0" bIns="0" rtlCol="0" anchor="ctr"/>
          <a:lstStyle/>
          <a:p>
            <a:pPr marL="0" indent="0" algn="ctr">
              <a:buNone/>
            </a:pPr>
            <a:r>
              <a:rPr lang="en-US" sz="1300" b="1" dirty="0">
                <a:solidFill>
                  <a:srgbClr val="43705F"/>
                </a:solidFill>
                <a:latin typeface="Segoe UI" pitchFamily="34" charset="0"/>
                <a:ea typeface="Segoe UI" pitchFamily="34" charset="-122"/>
                <a:cs typeface="Segoe UI" pitchFamily="34" charset="-120"/>
              </a:rPr>
              <a:t>Website chạy bằng Visual Studio và Docker</a:t>
            </a:r>
            <a:endParaRPr lang="en-US" sz="1300" dirty="0"/>
          </a:p>
        </p:txBody>
      </p:sp>
      <p:sp>
        <p:nvSpPr>
          <p:cNvPr id="29" name="S02 Rounded Rectangle 29"/>
          <p:cNvSpPr/>
          <p:nvPr/>
        </p:nvSpPr>
        <p:spPr>
          <a:xfrm>
            <a:off x="7178040" y="3383280"/>
            <a:ext cx="4096512" cy="694944"/>
          </a:xfrm>
          <a:prstGeom prst="roundRect">
            <a:avLst>
              <a:gd name="adj" fmla="val 10526"/>
            </a:avLst>
          </a:prstGeom>
          <a:solidFill>
            <a:srgbClr val="E6E8E1"/>
          </a:solidFill>
          <a:ln/>
        </p:spPr>
        <p:txBody>
          <a:bodyPr wrap="square" lIns="0" tIns="0" rIns="0" bIns="0" rtlCol="0" anchor="ctr"/>
          <a:lstStyle/>
          <a:p>
            <a:pPr marL="0" indent="0" algn="ctr">
              <a:buNone/>
            </a:pPr>
            <a:r>
              <a:rPr lang="en-US" sz="1300" b="1" dirty="0">
                <a:solidFill>
                  <a:srgbClr val="1C2B25"/>
                </a:solidFill>
                <a:latin typeface="Segoe UI" pitchFamily="34" charset="0"/>
                <a:ea typeface="Segoe UI" pitchFamily="34" charset="-122"/>
                <a:cs typeface="Segoe UI" pitchFamily="34" charset="-120"/>
              </a:rPr>
              <a:t>Bộ dữ liệu 209 bản ghi có nguồn</a:t>
            </a:r>
            <a:endParaRPr lang="en-US" sz="1300" dirty="0"/>
          </a:p>
        </p:txBody>
      </p:sp>
      <p:sp>
        <p:nvSpPr>
          <p:cNvPr id="30" name="S02 Rounded Rectangle 30"/>
          <p:cNvSpPr/>
          <p:nvPr/>
        </p:nvSpPr>
        <p:spPr>
          <a:xfrm>
            <a:off x="7178040" y="4251960"/>
            <a:ext cx="4096512" cy="694944"/>
          </a:xfrm>
          <a:prstGeom prst="roundRect">
            <a:avLst>
              <a:gd name="adj" fmla="val 10526"/>
            </a:avLst>
          </a:prstGeom>
          <a:solidFill>
            <a:srgbClr val="FFFFFF"/>
          </a:solidFill>
          <a:ln w="12700">
            <a:solidFill>
              <a:srgbClr val="7A5C10"/>
            </a:solidFill>
          </a:ln>
        </p:spPr>
        <p:txBody>
          <a:bodyPr wrap="square" lIns="0" tIns="0" rIns="0" bIns="0" rtlCol="0" anchor="ctr"/>
          <a:lstStyle/>
          <a:p>
            <a:pPr marL="0" indent="0" algn="ctr">
              <a:buNone/>
            </a:pPr>
            <a:r>
              <a:rPr lang="en-US" sz="1300" b="1" dirty="0">
                <a:solidFill>
                  <a:srgbClr val="7A5C10"/>
                </a:solidFill>
                <a:latin typeface="Segoe UI" pitchFamily="34" charset="0"/>
                <a:ea typeface="Segoe UI" pitchFamily="34" charset="-122"/>
                <a:cs typeface="Segoe UI" pitchFamily="34" charset="-120"/>
              </a:rPr>
              <a:t>Quyển báo cáo theo mẫu của trường</a:t>
            </a:r>
            <a:endParaRPr lang="en-US" sz="1300" dirty="0"/>
          </a:p>
        </p:txBody>
      </p:sp>
      <p:sp>
        <p:nvSpPr>
          <p:cNvPr id="31" name="S02 Rounded Rectangle 31"/>
          <p:cNvSpPr/>
          <p:nvPr/>
        </p:nvSpPr>
        <p:spPr>
          <a:xfrm>
            <a:off x="7178040" y="5120640"/>
            <a:ext cx="4096512" cy="694944"/>
          </a:xfrm>
          <a:prstGeom prst="roundRect">
            <a:avLst>
              <a:gd name="adj" fmla="val 10526"/>
            </a:avLst>
          </a:prstGeom>
          <a:solidFill>
            <a:srgbClr val="FFFFFF"/>
          </a:solidFill>
          <a:ln w="12700">
            <a:solidFill>
              <a:srgbClr val="9E2B25"/>
            </a:solidFill>
          </a:ln>
        </p:spPr>
        <p:txBody>
          <a:bodyPr wrap="square" lIns="0" tIns="0" rIns="0" bIns="0" rtlCol="0" anchor="ctr"/>
          <a:lstStyle/>
          <a:p>
            <a:pPr marL="0" indent="0" algn="ctr">
              <a:buNone/>
            </a:pPr>
            <a:r>
              <a:rPr lang="en-US" sz="1300" b="1" dirty="0">
                <a:solidFill>
                  <a:srgbClr val="9E2B25"/>
                </a:solidFill>
                <a:latin typeface="Segoe UI" pitchFamily="34" charset="0"/>
                <a:ea typeface="Segoe UI" pitchFamily="34" charset="-122"/>
                <a:cs typeface="Segoe UI" pitchFamily="34" charset="-120"/>
              </a:rPr>
              <a:t>Bộ 50 test case, đạt 50/50</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anim calcmode="lin" valueType="num">
                                      <p:cBhvr>
                                        <p:cTn id="8" dur="500" fill="hold"/>
                                        <p:tgtEl>
                                          <p:spTgt spid="11"/>
                                        </p:tgtEl>
                                        <p:attrNameLst>
                                          <p:attrName>ppt_x</p:attrName>
                                        </p:attrNameLst>
                                      </p:cBhvr>
                                      <p:tavLst>
                                        <p:tav tm="0">
                                          <p:val>
                                            <p:strVal val="#ppt_x"/>
                                          </p:val>
                                        </p:tav>
                                        <p:tav tm="100000">
                                          <p:val>
                                            <p:strVal val="#ppt_x"/>
                                          </p:val>
                                        </p:tav>
                                      </p:tavLst>
                                    </p:anim>
                                    <p:anim calcmode="lin" valueType="num">
                                      <p:cBhvr>
                                        <p:cTn id="9" dur="5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anim calcmode="lin" valueType="num">
                                      <p:cBhvr>
                                        <p:cTn id="13" dur="500" fill="hold"/>
                                        <p:tgtEl>
                                          <p:spTgt spid="12"/>
                                        </p:tgtEl>
                                        <p:attrNameLst>
                                          <p:attrName>ppt_x</p:attrName>
                                        </p:attrNameLst>
                                      </p:cBhvr>
                                      <p:tavLst>
                                        <p:tav tm="0">
                                          <p:val>
                                            <p:strVal val="#ppt_x"/>
                                          </p:val>
                                        </p:tav>
                                        <p:tav tm="100000">
                                          <p:val>
                                            <p:strVal val="#ppt_x"/>
                                          </p:val>
                                        </p:tav>
                                      </p:tavLst>
                                    </p:anim>
                                    <p:anim calcmode="lin" valueType="num">
                                      <p:cBhvr>
                                        <p:cTn id="14" dur="5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anim calcmode="lin" valueType="num">
                                      <p:cBhvr>
                                        <p:cTn id="18" dur="500" fill="hold"/>
                                        <p:tgtEl>
                                          <p:spTgt spid="13"/>
                                        </p:tgtEl>
                                        <p:attrNameLst>
                                          <p:attrName>ppt_x</p:attrName>
                                        </p:attrNameLst>
                                      </p:cBhvr>
                                      <p:tavLst>
                                        <p:tav tm="0">
                                          <p:val>
                                            <p:strVal val="#ppt_x"/>
                                          </p:val>
                                        </p:tav>
                                        <p:tav tm="100000">
                                          <p:val>
                                            <p:strVal val="#ppt_x"/>
                                          </p:val>
                                        </p:tav>
                                      </p:tavLst>
                                    </p:anim>
                                    <p:anim calcmode="lin" valueType="num">
                                      <p:cBhvr>
                                        <p:cTn id="19" dur="500" fill="hold"/>
                                        <p:tgtEl>
                                          <p:spTgt spid="1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12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anim calcmode="lin" valueType="num">
                                      <p:cBhvr>
                                        <p:cTn id="23" dur="500" fill="hold"/>
                                        <p:tgtEl>
                                          <p:spTgt spid="14"/>
                                        </p:tgtEl>
                                        <p:attrNameLst>
                                          <p:attrName>ppt_x</p:attrName>
                                        </p:attrNameLst>
                                      </p:cBhvr>
                                      <p:tavLst>
                                        <p:tav tm="0">
                                          <p:val>
                                            <p:strVal val="#ppt_x"/>
                                          </p:val>
                                        </p:tav>
                                        <p:tav tm="100000">
                                          <p:val>
                                            <p:strVal val="#ppt_x"/>
                                          </p:val>
                                        </p:tav>
                                      </p:tavLst>
                                    </p:anim>
                                    <p:anim calcmode="lin" valueType="num">
                                      <p:cBhvr>
                                        <p:cTn id="24" dur="500" fill="hold"/>
                                        <p:tgtEl>
                                          <p:spTgt spid="1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12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anim calcmode="lin" valueType="num">
                                      <p:cBhvr>
                                        <p:cTn id="28" dur="500" fill="hold"/>
                                        <p:tgtEl>
                                          <p:spTgt spid="15"/>
                                        </p:tgtEl>
                                        <p:attrNameLst>
                                          <p:attrName>ppt_x</p:attrName>
                                        </p:attrNameLst>
                                      </p:cBhvr>
                                      <p:tavLst>
                                        <p:tav tm="0">
                                          <p:val>
                                            <p:strVal val="#ppt_x"/>
                                          </p:val>
                                        </p:tav>
                                        <p:tav tm="100000">
                                          <p:val>
                                            <p:strVal val="#ppt_x"/>
                                          </p:val>
                                        </p:tav>
                                      </p:tavLst>
                                    </p:anim>
                                    <p:anim calcmode="lin" valueType="num">
                                      <p:cBhvr>
                                        <p:cTn id="29" dur="500" fill="hold"/>
                                        <p:tgtEl>
                                          <p:spTgt spid="15"/>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12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anim calcmode="lin" valueType="num">
                                      <p:cBhvr>
                                        <p:cTn id="33" dur="500" fill="hold"/>
                                        <p:tgtEl>
                                          <p:spTgt spid="16"/>
                                        </p:tgtEl>
                                        <p:attrNameLst>
                                          <p:attrName>ppt_x</p:attrName>
                                        </p:attrNameLst>
                                      </p:cBhvr>
                                      <p:tavLst>
                                        <p:tav tm="0">
                                          <p:val>
                                            <p:strVal val="#ppt_x"/>
                                          </p:val>
                                        </p:tav>
                                        <p:tav tm="100000">
                                          <p:val>
                                            <p:strVal val="#ppt_x"/>
                                          </p:val>
                                        </p:tav>
                                      </p:tavLst>
                                    </p:anim>
                                    <p:anim calcmode="lin" valueType="num">
                                      <p:cBhvr>
                                        <p:cTn id="34" dur="500" fill="hold"/>
                                        <p:tgtEl>
                                          <p:spTgt spid="16"/>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24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anim calcmode="lin" valueType="num">
                                      <p:cBhvr>
                                        <p:cTn id="38" dur="500" fill="hold"/>
                                        <p:tgtEl>
                                          <p:spTgt spid="17"/>
                                        </p:tgtEl>
                                        <p:attrNameLst>
                                          <p:attrName>ppt_x</p:attrName>
                                        </p:attrNameLst>
                                      </p:cBhvr>
                                      <p:tavLst>
                                        <p:tav tm="0">
                                          <p:val>
                                            <p:strVal val="#ppt_x"/>
                                          </p:val>
                                        </p:tav>
                                        <p:tav tm="100000">
                                          <p:val>
                                            <p:strVal val="#ppt_x"/>
                                          </p:val>
                                        </p:tav>
                                      </p:tavLst>
                                    </p:anim>
                                    <p:anim calcmode="lin" valueType="num">
                                      <p:cBhvr>
                                        <p:cTn id="39" dur="500" fill="hold"/>
                                        <p:tgtEl>
                                          <p:spTgt spid="17"/>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24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anim calcmode="lin" valueType="num">
                                      <p:cBhvr>
                                        <p:cTn id="43" dur="500" fill="hold"/>
                                        <p:tgtEl>
                                          <p:spTgt spid="18"/>
                                        </p:tgtEl>
                                        <p:attrNameLst>
                                          <p:attrName>ppt_x</p:attrName>
                                        </p:attrNameLst>
                                      </p:cBhvr>
                                      <p:tavLst>
                                        <p:tav tm="0">
                                          <p:val>
                                            <p:strVal val="#ppt_x"/>
                                          </p:val>
                                        </p:tav>
                                        <p:tav tm="100000">
                                          <p:val>
                                            <p:strVal val="#ppt_x"/>
                                          </p:val>
                                        </p:tav>
                                      </p:tavLst>
                                    </p:anim>
                                    <p:anim calcmode="lin" valueType="num">
                                      <p:cBhvr>
                                        <p:cTn id="44" dur="500" fill="hold"/>
                                        <p:tgtEl>
                                          <p:spTgt spid="18"/>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24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anim calcmode="lin" valueType="num">
                                      <p:cBhvr>
                                        <p:cTn id="48" dur="500" fill="hold"/>
                                        <p:tgtEl>
                                          <p:spTgt spid="19"/>
                                        </p:tgtEl>
                                        <p:attrNameLst>
                                          <p:attrName>ppt_x</p:attrName>
                                        </p:attrNameLst>
                                      </p:cBhvr>
                                      <p:tavLst>
                                        <p:tav tm="0">
                                          <p:val>
                                            <p:strVal val="#ppt_x"/>
                                          </p:val>
                                        </p:tav>
                                        <p:tav tm="100000">
                                          <p:val>
                                            <p:strVal val="#ppt_x"/>
                                          </p:val>
                                        </p:tav>
                                      </p:tavLst>
                                    </p:anim>
                                    <p:anim calcmode="lin" valueType="num">
                                      <p:cBhvr>
                                        <p:cTn id="49" dur="500" fill="hold"/>
                                        <p:tgtEl>
                                          <p:spTgt spid="19"/>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36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anim calcmode="lin" valueType="num">
                                      <p:cBhvr>
                                        <p:cTn id="53" dur="500" fill="hold"/>
                                        <p:tgtEl>
                                          <p:spTgt spid="20"/>
                                        </p:tgtEl>
                                        <p:attrNameLst>
                                          <p:attrName>ppt_x</p:attrName>
                                        </p:attrNameLst>
                                      </p:cBhvr>
                                      <p:tavLst>
                                        <p:tav tm="0">
                                          <p:val>
                                            <p:strVal val="#ppt_x"/>
                                          </p:val>
                                        </p:tav>
                                        <p:tav tm="100000">
                                          <p:val>
                                            <p:strVal val="#ppt_x"/>
                                          </p:val>
                                        </p:tav>
                                      </p:tavLst>
                                    </p:anim>
                                    <p:anim calcmode="lin" valueType="num">
                                      <p:cBhvr>
                                        <p:cTn id="54" dur="500" fill="hold"/>
                                        <p:tgtEl>
                                          <p:spTgt spid="20"/>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36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anim calcmode="lin" valueType="num">
                                      <p:cBhvr>
                                        <p:cTn id="58" dur="500" fill="hold"/>
                                        <p:tgtEl>
                                          <p:spTgt spid="21"/>
                                        </p:tgtEl>
                                        <p:attrNameLst>
                                          <p:attrName>ppt_x</p:attrName>
                                        </p:attrNameLst>
                                      </p:cBhvr>
                                      <p:tavLst>
                                        <p:tav tm="0">
                                          <p:val>
                                            <p:strVal val="#ppt_x"/>
                                          </p:val>
                                        </p:tav>
                                        <p:tav tm="100000">
                                          <p:val>
                                            <p:strVal val="#ppt_x"/>
                                          </p:val>
                                        </p:tav>
                                      </p:tavLst>
                                    </p:anim>
                                    <p:anim calcmode="lin" valueType="num">
                                      <p:cBhvr>
                                        <p:cTn id="59" dur="500" fill="hold"/>
                                        <p:tgtEl>
                                          <p:spTgt spid="21"/>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36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anim calcmode="lin" valueType="num">
                                      <p:cBhvr>
                                        <p:cTn id="63" dur="500" fill="hold"/>
                                        <p:tgtEl>
                                          <p:spTgt spid="22"/>
                                        </p:tgtEl>
                                        <p:attrNameLst>
                                          <p:attrName>ppt_x</p:attrName>
                                        </p:attrNameLst>
                                      </p:cBhvr>
                                      <p:tavLst>
                                        <p:tav tm="0">
                                          <p:val>
                                            <p:strVal val="#ppt_x"/>
                                          </p:val>
                                        </p:tav>
                                        <p:tav tm="100000">
                                          <p:val>
                                            <p:strVal val="#ppt_x"/>
                                          </p:val>
                                        </p:tav>
                                      </p:tavLst>
                                    </p:anim>
                                    <p:anim calcmode="lin" valueType="num">
                                      <p:cBhvr>
                                        <p:cTn id="64" dur="500" fill="hold"/>
                                        <p:tgtEl>
                                          <p:spTgt spid="22"/>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48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anim calcmode="lin" valueType="num">
                                      <p:cBhvr>
                                        <p:cTn id="68" dur="500" fill="hold"/>
                                        <p:tgtEl>
                                          <p:spTgt spid="23"/>
                                        </p:tgtEl>
                                        <p:attrNameLst>
                                          <p:attrName>ppt_x</p:attrName>
                                        </p:attrNameLst>
                                      </p:cBhvr>
                                      <p:tavLst>
                                        <p:tav tm="0">
                                          <p:val>
                                            <p:strVal val="#ppt_x"/>
                                          </p:val>
                                        </p:tav>
                                        <p:tav tm="100000">
                                          <p:val>
                                            <p:strVal val="#ppt_x"/>
                                          </p:val>
                                        </p:tav>
                                      </p:tavLst>
                                    </p:anim>
                                    <p:anim calcmode="lin" valueType="num">
                                      <p:cBhvr>
                                        <p:cTn id="69" dur="500" fill="hold"/>
                                        <p:tgtEl>
                                          <p:spTgt spid="23"/>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48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anim calcmode="lin" valueType="num">
                                      <p:cBhvr>
                                        <p:cTn id="73" dur="500" fill="hold"/>
                                        <p:tgtEl>
                                          <p:spTgt spid="24"/>
                                        </p:tgtEl>
                                        <p:attrNameLst>
                                          <p:attrName>ppt_x</p:attrName>
                                        </p:attrNameLst>
                                      </p:cBhvr>
                                      <p:tavLst>
                                        <p:tav tm="0">
                                          <p:val>
                                            <p:strVal val="#ppt_x"/>
                                          </p:val>
                                        </p:tav>
                                        <p:tav tm="100000">
                                          <p:val>
                                            <p:strVal val="#ppt_x"/>
                                          </p:val>
                                        </p:tav>
                                      </p:tavLst>
                                    </p:anim>
                                    <p:anim calcmode="lin" valueType="num">
                                      <p:cBhvr>
                                        <p:cTn id="74" dur="500" fill="hold"/>
                                        <p:tgtEl>
                                          <p:spTgt spid="24"/>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48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anim calcmode="lin" valueType="num">
                                      <p:cBhvr>
                                        <p:cTn id="78" dur="500" fill="hold"/>
                                        <p:tgtEl>
                                          <p:spTgt spid="25"/>
                                        </p:tgtEl>
                                        <p:attrNameLst>
                                          <p:attrName>ppt_x</p:attrName>
                                        </p:attrNameLst>
                                      </p:cBhvr>
                                      <p:tavLst>
                                        <p:tav tm="0">
                                          <p:val>
                                            <p:strVal val="#ppt_x"/>
                                          </p:val>
                                        </p:tav>
                                        <p:tav tm="100000">
                                          <p:val>
                                            <p:strVal val="#ppt_x"/>
                                          </p:val>
                                        </p:tav>
                                      </p:tavLst>
                                    </p:anim>
                                    <p:anim calcmode="lin" valueType="num">
                                      <p:cBhvr>
                                        <p:cTn id="79" dur="5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500"/>
                                        <p:tgtEl>
                                          <p:spTgt spid="2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fade">
                                      <p:cBhvr>
                                        <p:cTn id="87" dur="500"/>
                                        <p:tgtEl>
                                          <p:spTgt spid="27"/>
                                        </p:tgtEl>
                                      </p:cBhvr>
                                    </p:animEffect>
                                  </p:childTnLst>
                                </p:cTn>
                              </p:par>
                              <p:par>
                                <p:cTn id="88" presetID="42" presetClass="entr" presetSubtype="0" fill="hold" grpId="0" nodeType="withEffect">
                                  <p:stCondLst>
                                    <p:cond delay="120"/>
                                  </p:stCondLst>
                                  <p:childTnLst>
                                    <p:set>
                                      <p:cBhvr>
                                        <p:cTn id="89" dur="1" fill="hold">
                                          <p:stCondLst>
                                            <p:cond delay="0"/>
                                          </p:stCondLst>
                                        </p:cTn>
                                        <p:tgtEl>
                                          <p:spTgt spid="28"/>
                                        </p:tgtEl>
                                        <p:attrNameLst>
                                          <p:attrName>style.visibility</p:attrName>
                                        </p:attrNameLst>
                                      </p:cBhvr>
                                      <p:to>
                                        <p:strVal val="visible"/>
                                      </p:to>
                                    </p:set>
                                    <p:animEffect transition="in" filter="fade">
                                      <p:cBhvr>
                                        <p:cTn id="90" dur="500"/>
                                        <p:tgtEl>
                                          <p:spTgt spid="28"/>
                                        </p:tgtEl>
                                      </p:cBhvr>
                                    </p:animEffect>
                                    <p:anim calcmode="lin" valueType="num">
                                      <p:cBhvr>
                                        <p:cTn id="91" dur="500" fill="hold"/>
                                        <p:tgtEl>
                                          <p:spTgt spid="28"/>
                                        </p:tgtEl>
                                        <p:attrNameLst>
                                          <p:attrName>ppt_x</p:attrName>
                                        </p:attrNameLst>
                                      </p:cBhvr>
                                      <p:tavLst>
                                        <p:tav tm="0">
                                          <p:val>
                                            <p:strVal val="#ppt_x"/>
                                          </p:val>
                                        </p:tav>
                                        <p:tav tm="100000">
                                          <p:val>
                                            <p:strVal val="#ppt_x"/>
                                          </p:val>
                                        </p:tav>
                                      </p:tavLst>
                                    </p:anim>
                                    <p:anim calcmode="lin" valueType="num">
                                      <p:cBhvr>
                                        <p:cTn id="92" dur="500" fill="hold"/>
                                        <p:tgtEl>
                                          <p:spTgt spid="28"/>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240"/>
                                  </p:stCondLst>
                                  <p:childTnLst>
                                    <p:set>
                                      <p:cBhvr>
                                        <p:cTn id="94" dur="1" fill="hold">
                                          <p:stCondLst>
                                            <p:cond delay="0"/>
                                          </p:stCondLst>
                                        </p:cTn>
                                        <p:tgtEl>
                                          <p:spTgt spid="29"/>
                                        </p:tgtEl>
                                        <p:attrNameLst>
                                          <p:attrName>style.visibility</p:attrName>
                                        </p:attrNameLst>
                                      </p:cBhvr>
                                      <p:to>
                                        <p:strVal val="visible"/>
                                      </p:to>
                                    </p:set>
                                    <p:animEffect transition="in" filter="fade">
                                      <p:cBhvr>
                                        <p:cTn id="95" dur="500"/>
                                        <p:tgtEl>
                                          <p:spTgt spid="29"/>
                                        </p:tgtEl>
                                      </p:cBhvr>
                                    </p:animEffect>
                                    <p:anim calcmode="lin" valueType="num">
                                      <p:cBhvr>
                                        <p:cTn id="96" dur="500" fill="hold"/>
                                        <p:tgtEl>
                                          <p:spTgt spid="29"/>
                                        </p:tgtEl>
                                        <p:attrNameLst>
                                          <p:attrName>ppt_x</p:attrName>
                                        </p:attrNameLst>
                                      </p:cBhvr>
                                      <p:tavLst>
                                        <p:tav tm="0">
                                          <p:val>
                                            <p:strVal val="#ppt_x"/>
                                          </p:val>
                                        </p:tav>
                                        <p:tav tm="100000">
                                          <p:val>
                                            <p:strVal val="#ppt_x"/>
                                          </p:val>
                                        </p:tav>
                                      </p:tavLst>
                                    </p:anim>
                                    <p:anim calcmode="lin" valueType="num">
                                      <p:cBhvr>
                                        <p:cTn id="97" dur="500" fill="hold"/>
                                        <p:tgtEl>
                                          <p:spTgt spid="29"/>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360"/>
                                  </p:stCondLst>
                                  <p:childTnLst>
                                    <p:set>
                                      <p:cBhvr>
                                        <p:cTn id="99" dur="1" fill="hold">
                                          <p:stCondLst>
                                            <p:cond delay="0"/>
                                          </p:stCondLst>
                                        </p:cTn>
                                        <p:tgtEl>
                                          <p:spTgt spid="30"/>
                                        </p:tgtEl>
                                        <p:attrNameLst>
                                          <p:attrName>style.visibility</p:attrName>
                                        </p:attrNameLst>
                                      </p:cBhvr>
                                      <p:to>
                                        <p:strVal val="visible"/>
                                      </p:to>
                                    </p:set>
                                    <p:animEffect transition="in" filter="fade">
                                      <p:cBhvr>
                                        <p:cTn id="100" dur="500"/>
                                        <p:tgtEl>
                                          <p:spTgt spid="30"/>
                                        </p:tgtEl>
                                      </p:cBhvr>
                                    </p:animEffect>
                                    <p:anim calcmode="lin" valueType="num">
                                      <p:cBhvr>
                                        <p:cTn id="101" dur="500" fill="hold"/>
                                        <p:tgtEl>
                                          <p:spTgt spid="30"/>
                                        </p:tgtEl>
                                        <p:attrNameLst>
                                          <p:attrName>ppt_x</p:attrName>
                                        </p:attrNameLst>
                                      </p:cBhvr>
                                      <p:tavLst>
                                        <p:tav tm="0">
                                          <p:val>
                                            <p:strVal val="#ppt_x"/>
                                          </p:val>
                                        </p:tav>
                                        <p:tav tm="100000">
                                          <p:val>
                                            <p:strVal val="#ppt_x"/>
                                          </p:val>
                                        </p:tav>
                                      </p:tavLst>
                                    </p:anim>
                                    <p:anim calcmode="lin" valueType="num">
                                      <p:cBhvr>
                                        <p:cTn id="102" dur="500" fill="hold"/>
                                        <p:tgtEl>
                                          <p:spTgt spid="30"/>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480"/>
                                  </p:stCondLst>
                                  <p:childTnLst>
                                    <p:set>
                                      <p:cBhvr>
                                        <p:cTn id="104" dur="1" fill="hold">
                                          <p:stCondLst>
                                            <p:cond delay="0"/>
                                          </p:stCondLst>
                                        </p:cTn>
                                        <p:tgtEl>
                                          <p:spTgt spid="31"/>
                                        </p:tgtEl>
                                        <p:attrNameLst>
                                          <p:attrName>style.visibility</p:attrName>
                                        </p:attrNameLst>
                                      </p:cBhvr>
                                      <p:to>
                                        <p:strVal val="visible"/>
                                      </p:to>
                                    </p:set>
                                    <p:animEffect transition="in" filter="fade">
                                      <p:cBhvr>
                                        <p:cTn id="105" dur="500"/>
                                        <p:tgtEl>
                                          <p:spTgt spid="31"/>
                                        </p:tgtEl>
                                      </p:cBhvr>
                                    </p:animEffect>
                                    <p:anim calcmode="lin" valueType="num">
                                      <p:cBhvr>
                                        <p:cTn id="106" dur="500" fill="hold"/>
                                        <p:tgtEl>
                                          <p:spTgt spid="31"/>
                                        </p:tgtEl>
                                        <p:attrNameLst>
                                          <p:attrName>ppt_x</p:attrName>
                                        </p:attrNameLst>
                                      </p:cBhvr>
                                      <p:tavLst>
                                        <p:tav tm="0">
                                          <p:val>
                                            <p:strVal val="#ppt_x"/>
                                          </p:val>
                                        </p:tav>
                                        <p:tav tm="100000">
                                          <p:val>
                                            <p:strVal val="#ppt_x"/>
                                          </p:val>
                                        </p:tav>
                                      </p:tavLst>
                                    </p:anim>
                                    <p:anim calcmode="lin" valueType="num">
                                      <p:cBhvr>
                                        <p:cTn id="107" dur="5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7" grpId="0" animBg="1"/>
      <p:bldP spid="28" grpId="0" animBg="1"/>
      <p:bldP spid="29" grpId="0" animBg="1"/>
      <p:bldP spid="30" grpId="0" animBg="1"/>
      <p:bldP spid="3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8F4"/>
        </a:solidFill>
        <a:effectLst/>
      </p:bgPr>
    </p:bg>
    <p:spTree>
      <p:nvGrpSpPr>
        <p:cNvPr id="1" name=""/>
        <p:cNvGrpSpPr/>
        <p:nvPr/>
      </p:nvGrpSpPr>
      <p:grpSpPr>
        <a:xfrm>
          <a:off x="0" y="0"/>
          <a:ext cx="0" cy="0"/>
          <a:chOff x="0" y="0"/>
          <a:chExt cx="0" cy="0"/>
        </a:xfrm>
      </p:grpSpPr>
      <p:sp>
        <p:nvSpPr>
          <p:cNvPr id="2" name="!!TopBar"/>
          <p:cNvSpPr/>
          <p:nvPr/>
        </p:nvSpPr>
        <p:spPr>
          <a:xfrm>
            <a:off x="0" y="0"/>
            <a:ext cx="12191695" cy="91440"/>
          </a:xfrm>
          <a:prstGeom prst="rect">
            <a:avLst/>
          </a:prstGeom>
          <a:solidFill>
            <a:srgbClr val="12201B"/>
          </a:solidFill>
          <a:ln/>
        </p:spPr>
      </p:sp>
      <p:sp>
        <p:nvSpPr>
          <p:cNvPr id="3" name="!!LogoBg"/>
          <p:cNvSpPr/>
          <p:nvPr/>
        </p:nvSpPr>
        <p:spPr>
          <a:xfrm>
            <a:off x="11256264" y="274320"/>
            <a:ext cx="402336" cy="402336"/>
          </a:xfrm>
          <a:prstGeom prst="ellipse">
            <a:avLst/>
          </a:prstGeom>
          <a:solidFill>
            <a:srgbClr val="FFFFFF"/>
          </a:solidFill>
          <a:ln/>
        </p:spPr>
      </p:sp>
      <p:pic>
        <p:nvPicPr>
          <p:cNvPr id="4" name="!!Logo" descr="Logo Trường Đại học Trà Vinh"/>
          <p:cNvPicPr>
            <a:picLocks noChangeAspect="1"/>
          </p:cNvPicPr>
          <p:nvPr/>
        </p:nvPicPr>
        <p:blipFill>
          <a:blip r:embed="rId3"/>
          <a:stretch>
            <a:fillRect/>
          </a:stretch>
        </p:blipFill>
        <p:spPr>
          <a:xfrm>
            <a:off x="11269980" y="288036"/>
            <a:ext cx="374904" cy="374904"/>
          </a:xfrm>
          <a:prstGeom prst="rect">
            <a:avLst/>
          </a:prstGeom>
        </p:spPr>
      </p:pic>
      <p:sp>
        <p:nvSpPr>
          <p:cNvPr id="5" name="!!Label"/>
          <p:cNvSpPr txBox="1"/>
          <p:nvPr/>
        </p:nvSpPr>
        <p:spPr>
          <a:xfrm>
            <a:off x="8138160" y="365760"/>
            <a:ext cx="2971800" cy="274320"/>
          </a:xfrm>
          <a:prstGeom prst="rect">
            <a:avLst/>
          </a:prstGeom>
          <a:noFill/>
          <a:ln/>
        </p:spPr>
        <p:txBody>
          <a:bodyPr wrap="square" lIns="0" tIns="0" rIns="0" bIns="0" rtlCol="0" anchor="t"/>
          <a:lstStyle/>
          <a:p>
            <a:pPr marL="0" indent="0" algn="r">
              <a:buNone/>
            </a:pPr>
            <a:r>
              <a:rPr lang="en-US" sz="1000" b="1" kern="0" spc="150" dirty="0">
                <a:solidFill>
                  <a:srgbClr val="43705F"/>
                </a:solidFill>
                <a:latin typeface="Segoe UI" pitchFamily="34" charset="0"/>
                <a:ea typeface="Segoe UI" pitchFamily="34" charset="-122"/>
                <a:cs typeface="Segoe UI" pitchFamily="34" charset="-120"/>
              </a:rPr>
              <a:t>BỐI CẢNH</a:t>
            </a:r>
            <a:endParaRPr lang="en-US" sz="1000" dirty="0"/>
          </a:p>
        </p:txBody>
      </p:sp>
      <p:sp>
        <p:nvSpPr>
          <p:cNvPr id="6" name="!!Title"/>
          <p:cNvSpPr txBox="1"/>
          <p:nvPr/>
        </p:nvSpPr>
        <p:spPr>
          <a:xfrm>
            <a:off x="548640" y="329184"/>
            <a:ext cx="8138160" cy="548640"/>
          </a:xfrm>
          <a:prstGeom prst="rect">
            <a:avLst/>
          </a:prstGeom>
          <a:noFill/>
          <a:ln/>
        </p:spPr>
        <p:txBody>
          <a:bodyPr wrap="square" lIns="0" tIns="0" rIns="0" bIns="0" rtlCol="0" anchor="t"/>
          <a:lstStyle/>
          <a:p>
            <a:pPr marL="0" indent="0">
              <a:buNone/>
            </a:pPr>
            <a:r>
              <a:rPr lang="en-US" sz="2800" b="1" dirty="0">
                <a:solidFill>
                  <a:srgbClr val="1C2B25"/>
                </a:solidFill>
                <a:latin typeface="Cambria" pitchFamily="34" charset="0"/>
                <a:ea typeface="Cambria" pitchFamily="34" charset="-122"/>
                <a:cs typeface="Cambria" pitchFamily="34" charset="-120"/>
              </a:rPr>
              <a:t>Bài toán đặt ra</a:t>
            </a:r>
            <a:endParaRPr lang="en-US" sz="2800" dirty="0"/>
          </a:p>
        </p:txBody>
      </p:sp>
      <p:sp>
        <p:nvSpPr>
          <p:cNvPr id="7" name="!!Subtitle"/>
          <p:cNvSpPr txBox="1"/>
          <p:nvPr/>
        </p:nvSpPr>
        <p:spPr>
          <a:xfrm>
            <a:off x="548640" y="914400"/>
            <a:ext cx="10241280" cy="274320"/>
          </a:xfrm>
          <a:prstGeom prst="rect">
            <a:avLst/>
          </a:prstGeom>
          <a:noFill/>
          <a:ln/>
        </p:spPr>
        <p:txBody>
          <a:bodyPr wrap="square" lIns="0" tIns="0" rIns="0" bIns="0" rtlCol="0" anchor="t"/>
          <a:lstStyle/>
          <a:p>
            <a:pPr marL="0" indent="0">
              <a:buNone/>
            </a:pPr>
            <a:r>
              <a:rPr lang="en-US" sz="1250" dirty="0">
                <a:solidFill>
                  <a:srgbClr val="4E5B54"/>
                </a:solidFill>
                <a:latin typeface="Segoe UI" pitchFamily="34" charset="0"/>
                <a:ea typeface="Segoe UI" pitchFamily="34" charset="-122"/>
                <a:cs typeface="Segoe UI" pitchFamily="34" charset="-120"/>
              </a:rPr>
              <a:t>Thông tin di tích có nhiều nơi giữ, nhưng chưa nơi nào cho tra cứu gộp và ghi đủ nguồn</a:t>
            </a:r>
            <a:endParaRPr lang="en-US" sz="1250" dirty="0"/>
          </a:p>
        </p:txBody>
      </p:sp>
      <p:sp>
        <p:nvSpPr>
          <p:cNvPr id="8" name="!!Accent"/>
          <p:cNvSpPr/>
          <p:nvPr/>
        </p:nvSpPr>
        <p:spPr>
          <a:xfrm>
            <a:off x="548640" y="1280160"/>
            <a:ext cx="1005840" cy="45720"/>
          </a:xfrm>
          <a:prstGeom prst="rect">
            <a:avLst/>
          </a:prstGeom>
          <a:solidFill>
            <a:srgbClr val="43705F"/>
          </a:solidFill>
          <a:ln/>
        </p:spPr>
      </p:sp>
      <p:sp>
        <p:nvSpPr>
          <p:cNvPr id="9" name="!!Footer"/>
          <p:cNvSpPr txBox="1"/>
          <p:nvPr/>
        </p:nvSpPr>
        <p:spPr>
          <a:xfrm>
            <a:off x="548640" y="6455664"/>
            <a:ext cx="7315200" cy="219456"/>
          </a:xfrm>
          <a:prstGeom prst="rect">
            <a:avLst/>
          </a:prstGeom>
          <a:noFill/>
          <a:ln/>
        </p:spPr>
        <p:txBody>
          <a:bodyPr wrap="square" lIns="0" tIns="0" rIns="0" bIns="0" rtlCol="0" anchor="t"/>
          <a:lstStyle/>
          <a:p>
            <a:pPr marL="0" indent="0">
              <a:buNone/>
            </a:pPr>
            <a:r>
              <a:rPr lang="en-US" sz="900" dirty="0">
                <a:solidFill>
                  <a:srgbClr val="4E5B54"/>
                </a:solidFill>
                <a:latin typeface="Segoe UI" pitchFamily="34" charset="0"/>
                <a:ea typeface="Segoe UI" pitchFamily="34" charset="-122"/>
                <a:cs typeface="Segoe UI" pitchFamily="34" charset="-120"/>
              </a:rPr>
              <a:t>Đồ án thực tập cơ sở ngành · Website di tích Việt Nam</a:t>
            </a:r>
            <a:endParaRPr lang="en-US" sz="900" dirty="0"/>
          </a:p>
        </p:txBody>
      </p:sp>
      <p:sp>
        <p:nvSpPr>
          <p:cNvPr id="10" name="!!PageNum"/>
          <p:cNvSpPr txBox="1"/>
          <p:nvPr/>
        </p:nvSpPr>
        <p:spPr>
          <a:xfrm>
            <a:off x="11091672" y="6455664"/>
            <a:ext cx="548640" cy="219456"/>
          </a:xfrm>
          <a:prstGeom prst="rect">
            <a:avLst/>
          </a:prstGeom>
          <a:noFill/>
          <a:ln/>
        </p:spPr>
        <p:txBody>
          <a:bodyPr wrap="square" lIns="0" tIns="0" rIns="0" bIns="0" rtlCol="0" anchor="t"/>
          <a:lstStyle/>
          <a:p>
            <a:pPr marL="0" indent="0" algn="r">
              <a:buNone/>
            </a:pPr>
            <a:r>
              <a:rPr lang="en-US" sz="900" dirty="0">
                <a:solidFill>
                  <a:srgbClr val="4E5B54"/>
                </a:solidFill>
                <a:latin typeface="Segoe UI" pitchFamily="34" charset="0"/>
                <a:ea typeface="Segoe UI" pitchFamily="34" charset="-122"/>
                <a:cs typeface="Segoe UI" pitchFamily="34" charset="-120"/>
              </a:rPr>
              <a:t>03</a:t>
            </a:r>
            <a:endParaRPr lang="en-US" sz="900" dirty="0"/>
          </a:p>
        </p:txBody>
      </p:sp>
      <p:sp>
        <p:nvSpPr>
          <p:cNvPr id="11" name="S03 Rectangle 11"/>
          <p:cNvSpPr/>
          <p:nvPr/>
        </p:nvSpPr>
        <p:spPr>
          <a:xfrm>
            <a:off x="548640" y="1554480"/>
            <a:ext cx="11091672" cy="1051560"/>
          </a:xfrm>
          <a:prstGeom prst="rect">
            <a:avLst/>
          </a:prstGeom>
          <a:solidFill>
            <a:srgbClr val="E6E8E1"/>
          </a:solidFill>
          <a:ln/>
        </p:spPr>
      </p:sp>
      <p:sp>
        <p:nvSpPr>
          <p:cNvPr id="12" name="S03 TextBox 12"/>
          <p:cNvSpPr txBox="1"/>
          <p:nvPr/>
        </p:nvSpPr>
        <p:spPr>
          <a:xfrm>
            <a:off x="777240" y="1554480"/>
            <a:ext cx="1600200" cy="1051560"/>
          </a:xfrm>
          <a:prstGeom prst="rect">
            <a:avLst/>
          </a:prstGeom>
          <a:noFill/>
          <a:ln/>
        </p:spPr>
        <p:txBody>
          <a:bodyPr wrap="square" lIns="0" tIns="0" rIns="0" bIns="0" rtlCol="0" anchor="ctr"/>
          <a:lstStyle/>
          <a:p>
            <a:pPr marL="0" indent="0">
              <a:buNone/>
            </a:pPr>
            <a:r>
              <a:rPr lang="en-US" sz="5000" b="1" dirty="0">
                <a:solidFill>
                  <a:srgbClr val="9E2B25"/>
                </a:solidFill>
                <a:latin typeface="Cambria" pitchFamily="34" charset="0"/>
                <a:ea typeface="Cambria" pitchFamily="34" charset="-122"/>
                <a:cs typeface="Cambria" pitchFamily="34" charset="-120"/>
              </a:rPr>
              <a:t>153</a:t>
            </a:r>
            <a:endParaRPr lang="en-US" sz="5000" dirty="0"/>
          </a:p>
        </p:txBody>
      </p:sp>
      <p:sp>
        <p:nvSpPr>
          <p:cNvPr id="13" name="S03 TextBox 13"/>
          <p:cNvSpPr txBox="1"/>
          <p:nvPr/>
        </p:nvSpPr>
        <p:spPr>
          <a:xfrm>
            <a:off x="2468880" y="1554480"/>
            <a:ext cx="3383280" cy="1051560"/>
          </a:xfrm>
          <a:prstGeom prst="rect">
            <a:avLst/>
          </a:prstGeom>
          <a:noFill/>
          <a:ln/>
        </p:spPr>
        <p:txBody>
          <a:bodyPr wrap="square" lIns="0" tIns="0" rIns="0" bIns="0" rtlCol="0" anchor="ctr"/>
          <a:lstStyle/>
          <a:p>
            <a:pPr marL="0" indent="0">
              <a:buNone/>
            </a:pPr>
            <a:r>
              <a:rPr lang="en-US" sz="1350" dirty="0">
                <a:solidFill>
                  <a:srgbClr val="1C2B25"/>
                </a:solidFill>
                <a:latin typeface="Segoe UI" pitchFamily="34" charset="0"/>
                <a:ea typeface="Segoe UI" pitchFamily="34" charset="-122"/>
                <a:cs typeface="Segoe UI" pitchFamily="34" charset="-120"/>
              </a:rPr>
              <a:t>di tích quốc gia đặc biệt qua 19 đợt xếp hạng, tính đến 11/02/2026</a:t>
            </a:r>
            <a:endParaRPr lang="en-US" sz="1350" dirty="0"/>
          </a:p>
        </p:txBody>
      </p:sp>
      <p:sp>
        <p:nvSpPr>
          <p:cNvPr id="14" name="S03 TextBox 14"/>
          <p:cNvSpPr txBox="1"/>
          <p:nvPr/>
        </p:nvSpPr>
        <p:spPr>
          <a:xfrm>
            <a:off x="6172200" y="1554480"/>
            <a:ext cx="1097280" cy="1051560"/>
          </a:xfrm>
          <a:prstGeom prst="rect">
            <a:avLst/>
          </a:prstGeom>
          <a:noFill/>
          <a:ln/>
        </p:spPr>
        <p:txBody>
          <a:bodyPr wrap="square" lIns="0" tIns="0" rIns="0" bIns="0" rtlCol="0" anchor="ctr"/>
          <a:lstStyle/>
          <a:p>
            <a:pPr marL="0" indent="0">
              <a:buNone/>
            </a:pPr>
            <a:r>
              <a:rPr lang="en-US" sz="5000" b="1" dirty="0">
                <a:solidFill>
                  <a:srgbClr val="43705F"/>
                </a:solidFill>
                <a:latin typeface="Cambria" pitchFamily="34" charset="0"/>
                <a:ea typeface="Cambria" pitchFamily="34" charset="-122"/>
                <a:cs typeface="Cambria" pitchFamily="34" charset="-120"/>
              </a:rPr>
              <a:t>17</a:t>
            </a:r>
            <a:endParaRPr lang="en-US" sz="5000" dirty="0"/>
          </a:p>
        </p:txBody>
      </p:sp>
      <p:sp>
        <p:nvSpPr>
          <p:cNvPr id="15" name="S03 TextBox 15"/>
          <p:cNvSpPr txBox="1"/>
          <p:nvPr/>
        </p:nvSpPr>
        <p:spPr>
          <a:xfrm>
            <a:off x="7360920" y="1554480"/>
            <a:ext cx="4114800" cy="1051560"/>
          </a:xfrm>
          <a:prstGeom prst="rect">
            <a:avLst/>
          </a:prstGeom>
          <a:noFill/>
          <a:ln/>
        </p:spPr>
        <p:txBody>
          <a:bodyPr wrap="square" lIns="0" tIns="0" rIns="0" bIns="0" rtlCol="0" anchor="ctr"/>
          <a:lstStyle/>
          <a:p>
            <a:pPr marL="0" indent="0">
              <a:buNone/>
            </a:pPr>
            <a:r>
              <a:rPr lang="en-US" sz="1350" dirty="0">
                <a:solidFill>
                  <a:srgbClr val="1C2B25"/>
                </a:solidFill>
                <a:latin typeface="Segoe UI" pitchFamily="34" charset="0"/>
                <a:ea typeface="Segoe UI" pitchFamily="34" charset="-122"/>
                <a:cs typeface="Segoe UI" pitchFamily="34" charset="-120"/>
              </a:rPr>
              <a:t>di sản văn hóa phi vật thể được UNESCO ghi danh</a:t>
            </a:r>
            <a:endParaRPr lang="en-US" sz="1350" dirty="0"/>
          </a:p>
        </p:txBody>
      </p:sp>
      <p:sp>
        <p:nvSpPr>
          <p:cNvPr id="16" name="S03 Rectangle 16"/>
          <p:cNvSpPr/>
          <p:nvPr/>
        </p:nvSpPr>
        <p:spPr>
          <a:xfrm>
            <a:off x="548640" y="2834640"/>
            <a:ext cx="5074920" cy="3383280"/>
          </a:xfrm>
          <a:prstGeom prst="rect">
            <a:avLst/>
          </a:prstGeom>
          <a:solidFill>
            <a:srgbClr val="12201B"/>
          </a:solidFill>
          <a:ln/>
        </p:spPr>
      </p:sp>
      <p:sp>
        <p:nvSpPr>
          <p:cNvPr id="17" name="S03 TextBox 17"/>
          <p:cNvSpPr txBox="1"/>
          <p:nvPr/>
        </p:nvSpPr>
        <p:spPr>
          <a:xfrm>
            <a:off x="822960" y="3035808"/>
            <a:ext cx="4572000" cy="411480"/>
          </a:xfrm>
          <a:prstGeom prst="rect">
            <a:avLst/>
          </a:prstGeom>
          <a:noFill/>
          <a:ln/>
        </p:spPr>
        <p:txBody>
          <a:bodyPr wrap="square" lIns="0" tIns="0" rIns="0" bIns="0" rtlCol="0" anchor="t"/>
          <a:lstStyle/>
          <a:p>
            <a:pPr marL="0" indent="0">
              <a:buNone/>
            </a:pPr>
            <a:r>
              <a:rPr lang="en-US" sz="2100" b="1" dirty="0">
                <a:solidFill>
                  <a:srgbClr val="F8F8F4"/>
                </a:solidFill>
                <a:latin typeface="Cambria" pitchFamily="34" charset="0"/>
                <a:ea typeface="Cambria" pitchFamily="34" charset="-122"/>
                <a:cs typeface="Cambria" pitchFamily="34" charset="-120"/>
              </a:rPr>
              <a:t>Trước khi có website</a:t>
            </a:r>
            <a:endParaRPr lang="en-US" sz="2100" dirty="0"/>
          </a:p>
        </p:txBody>
      </p:sp>
      <p:sp>
        <p:nvSpPr>
          <p:cNvPr id="18" name="S03 TextBox 18"/>
          <p:cNvSpPr txBox="1"/>
          <p:nvPr/>
        </p:nvSpPr>
        <p:spPr>
          <a:xfrm>
            <a:off x="822960" y="3657600"/>
            <a:ext cx="4572000" cy="2423160"/>
          </a:xfrm>
          <a:prstGeom prst="rect">
            <a:avLst/>
          </a:prstGeom>
          <a:noFill/>
          <a:ln/>
        </p:spPr>
        <p:txBody>
          <a:bodyPr wrap="square" lIns="0" tIns="0" rIns="0" bIns="0" rtlCol="0" anchor="t"/>
          <a:lstStyle/>
          <a:p>
            <a:pPr marL="190500" indent="-190500">
              <a:spcAft>
                <a:spcPts val="2000"/>
              </a:spcAft>
              <a:buClr>
                <a:srgbClr val="C8CFC9"/>
              </a:buClr>
              <a:buSzPct val="100000"/>
              <a:buChar char="•"/>
            </a:pPr>
            <a:r>
              <a:rPr lang="en-US" sz="1600" b="1" dirty="0">
                <a:solidFill>
                  <a:srgbClr val="F8F8F4"/>
                </a:solidFill>
                <a:latin typeface="Segoe UI" pitchFamily="34" charset="0"/>
                <a:ea typeface="Segoe UI" pitchFamily="34" charset="-122"/>
                <a:cs typeface="Segoe UI" pitchFamily="34" charset="-120"/>
              </a:rPr>
              <a:t>Rải rác</a:t>
            </a:r>
            <a:r>
              <a:rPr lang="en-US" sz="1600" dirty="0">
                <a:solidFill>
                  <a:srgbClr val="C8CFC9"/>
                </a:solidFill>
                <a:latin typeface="Segoe UI" pitchFamily="34" charset="0"/>
                <a:ea typeface="Segoe UI" pitchFamily="34" charset="-122"/>
                <a:cs typeface="Segoe UI" pitchFamily="34" charset="-120"/>
              </a:rPr>
              <a:t>: cổng nhà nước có cấp xếp hạng, cổng tỉnh có bài chi tiết, trang du lịch có giờ mở cửa</a:t>
            </a:r>
            <a:endParaRPr lang="en-US" sz="1600" dirty="0"/>
          </a:p>
          <a:p>
            <a:pPr marL="190500" indent="-190500">
              <a:spcAft>
                <a:spcPts val="2000"/>
              </a:spcAft>
              <a:buClr>
                <a:srgbClr val="C8CFC9"/>
              </a:buClr>
              <a:buSzPct val="100000"/>
              <a:buChar char="•"/>
            </a:pPr>
            <a:r>
              <a:rPr lang="en-US" sz="1600" b="1" dirty="0">
                <a:solidFill>
                  <a:srgbClr val="F8F8F4"/>
                </a:solidFill>
                <a:latin typeface="Segoe UI" pitchFamily="34" charset="0"/>
                <a:ea typeface="Segoe UI" pitchFamily="34" charset="-122"/>
                <a:cs typeface="Segoe UI" pitchFamily="34" charset="-120"/>
              </a:rPr>
              <a:t>Không lọc gộp</a:t>
            </a:r>
            <a:r>
              <a:rPr lang="en-US" sz="1600" dirty="0">
                <a:solidFill>
                  <a:srgbClr val="C8CFC9"/>
                </a:solidFill>
                <a:latin typeface="Segoe UI" pitchFamily="34" charset="0"/>
                <a:ea typeface="Segoe UI" pitchFamily="34" charset="-122"/>
                <a:cs typeface="Segoe UI" pitchFamily="34" charset="-120"/>
              </a:rPr>
              <a:t> được theo tỉnh, loại, cấp</a:t>
            </a:r>
            <a:endParaRPr lang="en-US" sz="1600" dirty="0"/>
          </a:p>
          <a:p>
            <a:pPr marL="190500" indent="-190500">
              <a:spcAft>
                <a:spcPts val="2000"/>
              </a:spcAft>
              <a:buClr>
                <a:srgbClr val="C8CFC9"/>
              </a:buClr>
              <a:buSzPct val="100000"/>
              <a:buChar char="•"/>
            </a:pPr>
            <a:r>
              <a:rPr lang="en-US" sz="1600" dirty="0">
                <a:solidFill>
                  <a:srgbClr val="C8CFC9"/>
                </a:solidFill>
                <a:latin typeface="Segoe UI" pitchFamily="34" charset="0"/>
                <a:ea typeface="Segoe UI" pitchFamily="34" charset="-122"/>
                <a:cs typeface="Segoe UI" pitchFamily="34" charset="-120"/>
              </a:rPr>
              <a:t>Nhiều bài </a:t>
            </a:r>
            <a:r>
              <a:rPr lang="en-US" sz="1600" b="1" dirty="0">
                <a:solidFill>
                  <a:srgbClr val="F8F8F4"/>
                </a:solidFill>
                <a:latin typeface="Segoe UI" pitchFamily="34" charset="0"/>
                <a:ea typeface="Segoe UI" pitchFamily="34" charset="-122"/>
                <a:cs typeface="Segoe UI" pitchFamily="34" charset="-120"/>
              </a:rPr>
              <a:t>thiếu nguồn</a:t>
            </a:r>
            <a:r>
              <a:rPr lang="en-US" sz="1600" dirty="0">
                <a:solidFill>
                  <a:srgbClr val="C8CFC9"/>
                </a:solidFill>
                <a:latin typeface="Segoe UI" pitchFamily="34" charset="0"/>
                <a:ea typeface="Segoe UI" pitchFamily="34" charset="-122"/>
                <a:cs typeface="Segoe UI" pitchFamily="34" charset="-120"/>
              </a:rPr>
              <a:t>, không ghi loại và cấp</a:t>
            </a:r>
            <a:endParaRPr lang="en-US" sz="1600" dirty="0"/>
          </a:p>
          <a:p>
            <a:pPr marL="190500" indent="-190500">
              <a:spcAft>
                <a:spcPts val="2000"/>
              </a:spcAft>
              <a:buClr>
                <a:srgbClr val="C8CFC9"/>
              </a:buClr>
              <a:buSzPct val="100000"/>
              <a:buChar char="•"/>
            </a:pPr>
            <a:r>
              <a:rPr lang="en-US" sz="1600" dirty="0">
                <a:solidFill>
                  <a:srgbClr val="C8CFC9"/>
                </a:solidFill>
                <a:latin typeface="Segoe UI" pitchFamily="34" charset="0"/>
                <a:ea typeface="Segoe UI" pitchFamily="34" charset="-122"/>
                <a:cs typeface="Segoe UI" pitchFamily="34" charset="-120"/>
              </a:rPr>
              <a:t>Gõ </a:t>
            </a:r>
            <a:r>
              <a:rPr lang="en-US" sz="1600" b="1" dirty="0">
                <a:solidFill>
                  <a:srgbClr val="F8F8F4"/>
                </a:solidFill>
                <a:latin typeface="Segoe UI" pitchFamily="34" charset="0"/>
                <a:ea typeface="Segoe UI" pitchFamily="34" charset="-122"/>
                <a:cs typeface="Segoe UI" pitchFamily="34" charset="-120"/>
              </a:rPr>
              <a:t>không dấu</a:t>
            </a:r>
            <a:r>
              <a:rPr lang="en-US" sz="1600" dirty="0">
                <a:solidFill>
                  <a:srgbClr val="C8CFC9"/>
                </a:solidFill>
                <a:latin typeface="Segoe UI" pitchFamily="34" charset="0"/>
                <a:ea typeface="Segoe UI" pitchFamily="34" charset="-122"/>
                <a:cs typeface="Segoe UI" pitchFamily="34" charset="-120"/>
              </a:rPr>
              <a:t> thường không ra tên có dấu</a:t>
            </a:r>
            <a:endParaRPr lang="en-US" sz="1600" dirty="0"/>
          </a:p>
        </p:txBody>
      </p:sp>
      <p:sp>
        <p:nvSpPr>
          <p:cNvPr id="19" name="S03 Right Arrow 19"/>
          <p:cNvSpPr/>
          <p:nvPr/>
        </p:nvSpPr>
        <p:spPr>
          <a:xfrm>
            <a:off x="5760720" y="4224528"/>
            <a:ext cx="566928" cy="603504"/>
          </a:xfrm>
          <a:prstGeom prst="rightArrow">
            <a:avLst/>
          </a:prstGeom>
          <a:solidFill>
            <a:srgbClr val="9E2B25"/>
          </a:solidFill>
          <a:ln/>
        </p:spPr>
      </p:sp>
      <p:sp>
        <p:nvSpPr>
          <p:cNvPr id="20" name="S03 Rectangle 20"/>
          <p:cNvSpPr/>
          <p:nvPr/>
        </p:nvSpPr>
        <p:spPr>
          <a:xfrm>
            <a:off x="6473952" y="2834640"/>
            <a:ext cx="5166360" cy="3383280"/>
          </a:xfrm>
          <a:prstGeom prst="rect">
            <a:avLst/>
          </a:prstGeom>
          <a:solidFill>
            <a:srgbClr val="FFFFFF"/>
          </a:solidFill>
          <a:ln w="9525">
            <a:solidFill>
              <a:srgbClr val="C9CDC2"/>
            </a:solidFill>
            <a:prstDash val="solid"/>
          </a:ln>
          <a:effectLst>
            <a:outerShdw blurRad="127000" dist="25400" dir="5400000" algn="bl" rotWithShape="0">
              <a:srgbClr val="000000">
                <a:alpha val="12000"/>
              </a:srgbClr>
            </a:outerShdw>
          </a:effectLst>
        </p:spPr>
      </p:sp>
      <p:sp>
        <p:nvSpPr>
          <p:cNvPr id="21" name="S03 TextBox 21"/>
          <p:cNvSpPr txBox="1"/>
          <p:nvPr/>
        </p:nvSpPr>
        <p:spPr>
          <a:xfrm>
            <a:off x="6748272" y="3035808"/>
            <a:ext cx="4663440" cy="411480"/>
          </a:xfrm>
          <a:prstGeom prst="rect">
            <a:avLst/>
          </a:prstGeom>
          <a:noFill/>
          <a:ln/>
        </p:spPr>
        <p:txBody>
          <a:bodyPr wrap="square" lIns="0" tIns="0" rIns="0" bIns="0" rtlCol="0" anchor="t"/>
          <a:lstStyle/>
          <a:p>
            <a:pPr marL="0" indent="0">
              <a:buNone/>
            </a:pPr>
            <a:r>
              <a:rPr lang="en-US" sz="2100" b="1" dirty="0">
                <a:solidFill>
                  <a:srgbClr val="43705F"/>
                </a:solidFill>
                <a:latin typeface="Cambria" pitchFamily="34" charset="0"/>
                <a:ea typeface="Cambria" pitchFamily="34" charset="-122"/>
                <a:cs typeface="Cambria" pitchFamily="34" charset="-120"/>
              </a:rPr>
              <a:t>Giải pháp đề xuất</a:t>
            </a:r>
            <a:endParaRPr lang="en-US" sz="2100" dirty="0"/>
          </a:p>
        </p:txBody>
      </p:sp>
      <p:sp>
        <p:nvSpPr>
          <p:cNvPr id="22" name="S03 TextBox 22"/>
          <p:cNvSpPr txBox="1"/>
          <p:nvPr/>
        </p:nvSpPr>
        <p:spPr>
          <a:xfrm>
            <a:off x="6748272" y="3657600"/>
            <a:ext cx="4663440" cy="2423160"/>
          </a:xfrm>
          <a:prstGeom prst="rect">
            <a:avLst/>
          </a:prstGeom>
          <a:noFill/>
          <a:ln/>
        </p:spPr>
        <p:txBody>
          <a:bodyPr wrap="square" lIns="0" tIns="0" rIns="0" bIns="0" rtlCol="0" anchor="t"/>
          <a:lstStyle/>
          <a:p>
            <a:pPr marL="190500" indent="-190500">
              <a:spcAft>
                <a:spcPts val="2000"/>
              </a:spcAft>
              <a:buClr>
                <a:srgbClr val="1C2B25"/>
              </a:buClr>
              <a:buSzPct val="100000"/>
              <a:buChar char="•"/>
            </a:pPr>
            <a:r>
              <a:rPr lang="en-US" sz="1600" b="1" dirty="0">
                <a:solidFill>
                  <a:srgbClr val="9E2B25"/>
                </a:solidFill>
                <a:latin typeface="Segoe UI" pitchFamily="34" charset="0"/>
                <a:ea typeface="Segoe UI" pitchFamily="34" charset="-122"/>
                <a:cs typeface="Segoe UI" pitchFamily="34" charset="-120"/>
              </a:rPr>
              <a:t>Một bộ dữ liệu</a:t>
            </a:r>
            <a:r>
              <a:rPr lang="en-US" sz="1600" dirty="0">
                <a:solidFill>
                  <a:srgbClr val="1C2B25"/>
                </a:solidFill>
                <a:latin typeface="Segoe UI" pitchFamily="34" charset="0"/>
                <a:ea typeface="Segoe UI" pitchFamily="34" charset="-122"/>
                <a:cs typeface="Segoe UI" pitchFamily="34" charset="-120"/>
              </a:rPr>
              <a:t> thống nhất, bản ghi nào cũng có nguồn</a:t>
            </a:r>
            <a:endParaRPr lang="en-US" sz="1600" dirty="0"/>
          </a:p>
          <a:p>
            <a:pPr marL="190500" indent="-190500">
              <a:spcAft>
                <a:spcPts val="2000"/>
              </a:spcAft>
              <a:buClr>
                <a:srgbClr val="1C2B25"/>
              </a:buClr>
              <a:buSzPct val="100000"/>
              <a:buChar char="•"/>
            </a:pPr>
            <a:r>
              <a:rPr lang="en-US" sz="1600" dirty="0">
                <a:solidFill>
                  <a:srgbClr val="1C2B25"/>
                </a:solidFill>
                <a:latin typeface="Segoe UI" pitchFamily="34" charset="0"/>
                <a:ea typeface="Segoe UI" pitchFamily="34" charset="-122"/>
                <a:cs typeface="Segoe UI" pitchFamily="34" charset="-120"/>
              </a:rPr>
              <a:t>Tra cứu theo </a:t>
            </a:r>
            <a:r>
              <a:rPr lang="en-US" sz="1600" b="1" dirty="0">
                <a:solidFill>
                  <a:srgbClr val="9E2B25"/>
                </a:solidFill>
                <a:latin typeface="Segoe UI" pitchFamily="34" charset="0"/>
                <a:ea typeface="Segoe UI" pitchFamily="34" charset="-122"/>
                <a:cs typeface="Segoe UI" pitchFamily="34" charset="-120"/>
              </a:rPr>
              <a:t>tỉnh, loại, cấp</a:t>
            </a:r>
            <a:r>
              <a:rPr lang="en-US" sz="1600" dirty="0">
                <a:solidFill>
                  <a:srgbClr val="1C2B25"/>
                </a:solidFill>
                <a:latin typeface="Segoe UI" pitchFamily="34" charset="0"/>
                <a:ea typeface="Segoe UI" pitchFamily="34" charset="-122"/>
                <a:cs typeface="Segoe UI" pitchFamily="34" charset="-120"/>
              </a:rPr>
              <a:t> và từ khóa không dấu</a:t>
            </a:r>
            <a:endParaRPr lang="en-US" sz="1600" dirty="0"/>
          </a:p>
          <a:p>
            <a:pPr marL="190500" indent="-190500">
              <a:spcAft>
                <a:spcPts val="2000"/>
              </a:spcAft>
              <a:buClr>
                <a:srgbClr val="1C2B25"/>
              </a:buClr>
              <a:buSzPct val="100000"/>
              <a:buChar char="•"/>
            </a:pPr>
            <a:r>
              <a:rPr lang="en-US" sz="1600" b="1" dirty="0">
                <a:solidFill>
                  <a:srgbClr val="9E2B25"/>
                </a:solidFill>
                <a:latin typeface="Segoe UI" pitchFamily="34" charset="0"/>
                <a:ea typeface="Segoe UI" pitchFamily="34" charset="-122"/>
                <a:cs typeface="Segoe UI" pitchFamily="34" charset="-120"/>
              </a:rPr>
              <a:t>Khu quản trị</a:t>
            </a:r>
            <a:r>
              <a:rPr lang="en-US" sz="1600" dirty="0">
                <a:solidFill>
                  <a:srgbClr val="1C2B25"/>
                </a:solidFill>
                <a:latin typeface="Segoe UI" pitchFamily="34" charset="0"/>
                <a:ea typeface="Segoe UI" pitchFamily="34" charset="-122"/>
                <a:cs typeface="Segoe UI" pitchFamily="34" charset="-120"/>
              </a:rPr>
              <a:t> tách riêng để cập nhật dữ liệu</a:t>
            </a:r>
            <a:endParaRPr lang="en-US" sz="1600" dirty="0"/>
          </a:p>
          <a:p>
            <a:pPr marL="190500" indent="-190500">
              <a:spcAft>
                <a:spcPts val="2000"/>
              </a:spcAft>
              <a:buClr>
                <a:srgbClr val="1C2B25"/>
              </a:buClr>
              <a:buSzPct val="100000"/>
              <a:buChar char="•"/>
            </a:pPr>
            <a:r>
              <a:rPr lang="en-US" sz="1600" b="1" dirty="0">
                <a:solidFill>
                  <a:srgbClr val="9E2B25"/>
                </a:solidFill>
                <a:latin typeface="Segoe UI" pitchFamily="34" charset="0"/>
                <a:ea typeface="Segoe UI" pitchFamily="34" charset="-122"/>
                <a:cs typeface="Segoe UI" pitchFamily="34" charset="-120"/>
              </a:rPr>
              <a:t>Kiểm thử</a:t>
            </a:r>
            <a:r>
              <a:rPr lang="en-US" sz="1600" dirty="0">
                <a:solidFill>
                  <a:srgbClr val="1C2B25"/>
                </a:solidFill>
                <a:latin typeface="Segoe UI" pitchFamily="34" charset="0"/>
                <a:ea typeface="Segoe UI" pitchFamily="34" charset="-122"/>
                <a:cs typeface="Segoe UI" pitchFamily="34" charset="-120"/>
              </a:rPr>
              <a:t> theo test case, kể cả dữ liệu sai</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12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12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childTnLst>
                          </p:cTn>
                        </p:par>
                        <p:par>
                          <p:cTn id="20" fill="hold">
                            <p:stCondLst>
                              <p:cond delay="620"/>
                            </p:stCondLst>
                            <p:childTnLst>
                              <p:par>
                                <p:cTn id="21" presetID="6" presetClass="emph" presetSubtype="0" autoRev="1" fill="hold" grpId="1" nodeType="afterEffect">
                                  <p:stCondLst>
                                    <p:cond delay="50"/>
                                  </p:stCondLst>
                                  <p:childTnLst>
                                    <p:animScale>
                                      <p:cBhvr>
                                        <p:cTn id="22" dur="450" fill="hold"/>
                                        <p:tgtEl>
                                          <p:spTgt spid="12"/>
                                        </p:tgtEl>
                                      </p:cBhvr>
                                      <p:by x="150000" y="150000"/>
                                      <p:to x="108000" y="108000"/>
                                    </p:animScale>
                                  </p:childTnLst>
                                </p:cTn>
                              </p:par>
                              <p:par>
                                <p:cTn id="23" presetID="6" presetClass="emph" presetSubtype="0" autoRev="1" fill="hold" grpId="1" nodeType="withEffect">
                                  <p:stCondLst>
                                    <p:cond delay="50"/>
                                  </p:stCondLst>
                                  <p:childTnLst>
                                    <p:animScale>
                                      <p:cBhvr>
                                        <p:cTn id="24" dur="450" fill="hold"/>
                                        <p:tgtEl>
                                          <p:spTgt spid="14"/>
                                        </p:tgtEl>
                                      </p:cBhvr>
                                      <p:by x="150000" y="150000"/>
                                      <p:to x="108000" y="108000"/>
                                    </p:animScale>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par>
                                <p:cTn id="33" presetID="42" presetClass="entr" presetSubtype="0" fill="hold" grpId="0" nodeType="withEffect">
                                  <p:stCondLst>
                                    <p:cond delay="12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anim calcmode="lin" valueType="num">
                                      <p:cBhvr>
                                        <p:cTn id="36" dur="500" fill="hold"/>
                                        <p:tgtEl>
                                          <p:spTgt spid="18"/>
                                        </p:tgtEl>
                                        <p:attrNameLst>
                                          <p:attrName>ppt_x</p:attrName>
                                        </p:attrNameLst>
                                      </p:cBhvr>
                                      <p:tavLst>
                                        <p:tav tm="0">
                                          <p:val>
                                            <p:strVal val="#ppt_x"/>
                                          </p:val>
                                        </p:tav>
                                        <p:tav tm="100000">
                                          <p:val>
                                            <p:strVal val="#ppt_x"/>
                                          </p:val>
                                        </p:tav>
                                      </p:tavLst>
                                    </p:anim>
                                    <p:anim calcmode="lin" valueType="num">
                                      <p:cBhvr>
                                        <p:cTn id="37"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nodeType="withEffect">
                                  <p:stCondLst>
                                    <p:cond delay="12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par>
                                <p:cTn id="46" presetID="10" presetClass="entr" presetSubtype="0" fill="hold" grpId="0" nodeType="withEffect">
                                  <p:stCondLst>
                                    <p:cond delay="12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par>
                                <p:cTn id="49" presetID="42" presetClass="entr" presetSubtype="0" fill="hold" grpId="0" nodeType="withEffect">
                                  <p:stCondLst>
                                    <p:cond delay="24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anim calcmode="lin" valueType="num">
                                      <p:cBhvr>
                                        <p:cTn id="52" dur="500" fill="hold"/>
                                        <p:tgtEl>
                                          <p:spTgt spid="22"/>
                                        </p:tgtEl>
                                        <p:attrNameLst>
                                          <p:attrName>ppt_x</p:attrName>
                                        </p:attrNameLst>
                                      </p:cBhvr>
                                      <p:tavLst>
                                        <p:tav tm="0">
                                          <p:val>
                                            <p:strVal val="#ppt_x"/>
                                          </p:val>
                                        </p:tav>
                                        <p:tav tm="100000">
                                          <p:val>
                                            <p:strVal val="#ppt_x"/>
                                          </p:val>
                                        </p:tav>
                                      </p:tavLst>
                                    </p:anim>
                                    <p:anim calcmode="lin" valueType="num">
                                      <p:cBhvr>
                                        <p:cTn id="53" dur="5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3" grpId="0" animBg="1"/>
      <p:bldP spid="14" grpId="0" animBg="1"/>
      <p:bldP spid="14" grpId="1" animBg="1"/>
      <p:bldP spid="15" grpId="0" animBg="1"/>
      <p:bldP spid="17" grpId="0" animBg="1"/>
      <p:bldP spid="18" grpId="0" animBg="1"/>
      <p:bldP spid="21" grpId="0" animBg="1"/>
      <p:bldP spid="2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8F4"/>
        </a:solidFill>
        <a:effectLst/>
      </p:bgPr>
    </p:bg>
    <p:spTree>
      <p:nvGrpSpPr>
        <p:cNvPr id="1" name=""/>
        <p:cNvGrpSpPr/>
        <p:nvPr/>
      </p:nvGrpSpPr>
      <p:grpSpPr>
        <a:xfrm>
          <a:off x="0" y="0"/>
          <a:ext cx="0" cy="0"/>
          <a:chOff x="0" y="0"/>
          <a:chExt cx="0" cy="0"/>
        </a:xfrm>
      </p:grpSpPr>
      <p:sp>
        <p:nvSpPr>
          <p:cNvPr id="2" name="!!TopBar"/>
          <p:cNvSpPr/>
          <p:nvPr/>
        </p:nvSpPr>
        <p:spPr>
          <a:xfrm>
            <a:off x="0" y="0"/>
            <a:ext cx="12191695" cy="91440"/>
          </a:xfrm>
          <a:prstGeom prst="rect">
            <a:avLst/>
          </a:prstGeom>
          <a:solidFill>
            <a:srgbClr val="12201B"/>
          </a:solidFill>
          <a:ln/>
        </p:spPr>
      </p:sp>
      <p:sp>
        <p:nvSpPr>
          <p:cNvPr id="3" name="!!LogoBg"/>
          <p:cNvSpPr/>
          <p:nvPr/>
        </p:nvSpPr>
        <p:spPr>
          <a:xfrm>
            <a:off x="11256264" y="274320"/>
            <a:ext cx="402336" cy="402336"/>
          </a:xfrm>
          <a:prstGeom prst="ellipse">
            <a:avLst/>
          </a:prstGeom>
          <a:solidFill>
            <a:srgbClr val="FFFFFF"/>
          </a:solidFill>
          <a:ln/>
        </p:spPr>
      </p:sp>
      <p:pic>
        <p:nvPicPr>
          <p:cNvPr id="4" name="!!Logo" descr="Logo Trường Đại học Trà Vinh"/>
          <p:cNvPicPr>
            <a:picLocks noChangeAspect="1"/>
          </p:cNvPicPr>
          <p:nvPr/>
        </p:nvPicPr>
        <p:blipFill>
          <a:blip r:embed="rId3"/>
          <a:stretch>
            <a:fillRect/>
          </a:stretch>
        </p:blipFill>
        <p:spPr>
          <a:xfrm>
            <a:off x="11269980" y="288036"/>
            <a:ext cx="374904" cy="374904"/>
          </a:xfrm>
          <a:prstGeom prst="rect">
            <a:avLst/>
          </a:prstGeom>
        </p:spPr>
      </p:pic>
      <p:sp>
        <p:nvSpPr>
          <p:cNvPr id="5" name="!!Label"/>
          <p:cNvSpPr txBox="1"/>
          <p:nvPr/>
        </p:nvSpPr>
        <p:spPr>
          <a:xfrm>
            <a:off x="8138160" y="365760"/>
            <a:ext cx="2971800" cy="274320"/>
          </a:xfrm>
          <a:prstGeom prst="rect">
            <a:avLst/>
          </a:prstGeom>
          <a:noFill/>
          <a:ln/>
        </p:spPr>
        <p:txBody>
          <a:bodyPr wrap="square" lIns="0" tIns="0" rIns="0" bIns="0" rtlCol="0" anchor="t"/>
          <a:lstStyle/>
          <a:p>
            <a:pPr marL="0" indent="0" algn="r">
              <a:buNone/>
            </a:pPr>
            <a:r>
              <a:rPr lang="en-US" sz="1000" b="1" kern="0" spc="150" dirty="0">
                <a:solidFill>
                  <a:srgbClr val="43705F"/>
                </a:solidFill>
                <a:latin typeface="Segoe UI" pitchFamily="34" charset="0"/>
                <a:ea typeface="Segoe UI" pitchFamily="34" charset="-122"/>
                <a:cs typeface="Segoe UI" pitchFamily="34" charset="-120"/>
              </a:rPr>
              <a:t>MỤC TIÊU</a:t>
            </a:r>
            <a:endParaRPr lang="en-US" sz="1000" dirty="0"/>
          </a:p>
        </p:txBody>
      </p:sp>
      <p:sp>
        <p:nvSpPr>
          <p:cNvPr id="6" name="!!Title"/>
          <p:cNvSpPr txBox="1"/>
          <p:nvPr/>
        </p:nvSpPr>
        <p:spPr>
          <a:xfrm>
            <a:off x="548640" y="329184"/>
            <a:ext cx="8138160" cy="548640"/>
          </a:xfrm>
          <a:prstGeom prst="rect">
            <a:avLst/>
          </a:prstGeom>
          <a:noFill/>
          <a:ln/>
        </p:spPr>
        <p:txBody>
          <a:bodyPr wrap="square" lIns="0" tIns="0" rIns="0" bIns="0" rtlCol="0" anchor="t"/>
          <a:lstStyle/>
          <a:p>
            <a:pPr marL="0" indent="0">
              <a:buNone/>
            </a:pPr>
            <a:r>
              <a:rPr lang="en-US" sz="2800" b="1" dirty="0">
                <a:solidFill>
                  <a:srgbClr val="1C2B25"/>
                </a:solidFill>
                <a:latin typeface="Cambria" pitchFamily="34" charset="0"/>
                <a:ea typeface="Cambria" pitchFamily="34" charset="-122"/>
                <a:cs typeface="Cambria" pitchFamily="34" charset="-120"/>
              </a:rPr>
              <a:t>Mục tiêu và phạm vi</a:t>
            </a:r>
            <a:endParaRPr lang="en-US" sz="2800" dirty="0"/>
          </a:p>
        </p:txBody>
      </p:sp>
      <p:sp>
        <p:nvSpPr>
          <p:cNvPr id="7" name="!!Subtitle"/>
          <p:cNvSpPr txBox="1"/>
          <p:nvPr/>
        </p:nvSpPr>
        <p:spPr>
          <a:xfrm>
            <a:off x="548640" y="914400"/>
            <a:ext cx="10241280" cy="274320"/>
          </a:xfrm>
          <a:prstGeom prst="rect">
            <a:avLst/>
          </a:prstGeom>
          <a:noFill/>
          <a:ln/>
        </p:spPr>
        <p:txBody>
          <a:bodyPr wrap="square" lIns="0" tIns="0" rIns="0" bIns="0" rtlCol="0" anchor="t"/>
          <a:lstStyle/>
          <a:p>
            <a:pPr marL="0" indent="0">
              <a:buNone/>
            </a:pPr>
            <a:r>
              <a:rPr lang="en-US" sz="1250" dirty="0">
                <a:solidFill>
                  <a:srgbClr val="4E5B54"/>
                </a:solidFill>
                <a:latin typeface="Segoe UI" pitchFamily="34" charset="0"/>
                <a:ea typeface="Segoe UI" pitchFamily="34" charset="-122"/>
                <a:cs typeface="Segoe UI" pitchFamily="34" charset="-120"/>
              </a:rPr>
              <a:t>Những gì đồ án đặt ra, phần đã làm và phần chưa triển khai</a:t>
            </a:r>
            <a:endParaRPr lang="en-US" sz="1250" dirty="0"/>
          </a:p>
        </p:txBody>
      </p:sp>
      <p:sp>
        <p:nvSpPr>
          <p:cNvPr id="8" name="!!Accent"/>
          <p:cNvSpPr/>
          <p:nvPr/>
        </p:nvSpPr>
        <p:spPr>
          <a:xfrm>
            <a:off x="548640" y="1280160"/>
            <a:ext cx="1005840" cy="45720"/>
          </a:xfrm>
          <a:prstGeom prst="rect">
            <a:avLst/>
          </a:prstGeom>
          <a:solidFill>
            <a:srgbClr val="43705F"/>
          </a:solidFill>
          <a:ln/>
        </p:spPr>
      </p:sp>
      <p:sp>
        <p:nvSpPr>
          <p:cNvPr id="9" name="!!Footer"/>
          <p:cNvSpPr txBox="1"/>
          <p:nvPr/>
        </p:nvSpPr>
        <p:spPr>
          <a:xfrm>
            <a:off x="548640" y="6455664"/>
            <a:ext cx="7315200" cy="219456"/>
          </a:xfrm>
          <a:prstGeom prst="rect">
            <a:avLst/>
          </a:prstGeom>
          <a:noFill/>
          <a:ln/>
        </p:spPr>
        <p:txBody>
          <a:bodyPr wrap="square" lIns="0" tIns="0" rIns="0" bIns="0" rtlCol="0" anchor="t"/>
          <a:lstStyle/>
          <a:p>
            <a:pPr marL="0" indent="0">
              <a:buNone/>
            </a:pPr>
            <a:r>
              <a:rPr lang="en-US" sz="900" dirty="0">
                <a:solidFill>
                  <a:srgbClr val="4E5B54"/>
                </a:solidFill>
                <a:latin typeface="Segoe UI" pitchFamily="34" charset="0"/>
                <a:ea typeface="Segoe UI" pitchFamily="34" charset="-122"/>
                <a:cs typeface="Segoe UI" pitchFamily="34" charset="-120"/>
              </a:rPr>
              <a:t>Đồ án thực tập cơ sở ngành · Website di tích Việt Nam</a:t>
            </a:r>
            <a:endParaRPr lang="en-US" sz="900" dirty="0"/>
          </a:p>
        </p:txBody>
      </p:sp>
      <p:sp>
        <p:nvSpPr>
          <p:cNvPr id="10" name="!!PageNum"/>
          <p:cNvSpPr txBox="1"/>
          <p:nvPr/>
        </p:nvSpPr>
        <p:spPr>
          <a:xfrm>
            <a:off x="11091672" y="6455664"/>
            <a:ext cx="548640" cy="219456"/>
          </a:xfrm>
          <a:prstGeom prst="rect">
            <a:avLst/>
          </a:prstGeom>
          <a:noFill/>
          <a:ln/>
        </p:spPr>
        <p:txBody>
          <a:bodyPr wrap="square" lIns="0" tIns="0" rIns="0" bIns="0" rtlCol="0" anchor="t"/>
          <a:lstStyle/>
          <a:p>
            <a:pPr marL="0" indent="0" algn="r">
              <a:buNone/>
            </a:pPr>
            <a:r>
              <a:rPr lang="en-US" sz="900" dirty="0">
                <a:solidFill>
                  <a:srgbClr val="4E5B54"/>
                </a:solidFill>
                <a:latin typeface="Segoe UI" pitchFamily="34" charset="0"/>
                <a:ea typeface="Segoe UI" pitchFamily="34" charset="-122"/>
                <a:cs typeface="Segoe UI" pitchFamily="34" charset="-120"/>
              </a:rPr>
              <a:t>04</a:t>
            </a:r>
            <a:endParaRPr lang="en-US" sz="900" dirty="0"/>
          </a:p>
        </p:txBody>
      </p:sp>
      <p:sp>
        <p:nvSpPr>
          <p:cNvPr id="11" name="S04 TextBox 11"/>
          <p:cNvSpPr txBox="1"/>
          <p:nvPr/>
        </p:nvSpPr>
        <p:spPr>
          <a:xfrm>
            <a:off x="548640" y="1572768"/>
            <a:ext cx="3703320" cy="384048"/>
          </a:xfrm>
          <a:prstGeom prst="rect">
            <a:avLst/>
          </a:prstGeom>
          <a:noFill/>
          <a:ln/>
        </p:spPr>
        <p:txBody>
          <a:bodyPr wrap="square" lIns="0" tIns="0" rIns="0" bIns="0" rtlCol="0" anchor="t"/>
          <a:lstStyle/>
          <a:p>
            <a:pPr marL="0" indent="0">
              <a:buNone/>
            </a:pPr>
            <a:r>
              <a:rPr lang="en-US" sz="1800" b="1" dirty="0">
                <a:solidFill>
                  <a:srgbClr val="1C2B25"/>
                </a:solidFill>
                <a:latin typeface="Cambria" pitchFamily="34" charset="0"/>
                <a:ea typeface="Cambria" pitchFamily="34" charset="-122"/>
                <a:cs typeface="Cambria" pitchFamily="34" charset="-120"/>
              </a:rPr>
              <a:t>Mục tiêu chính</a:t>
            </a:r>
            <a:endParaRPr lang="en-US" sz="1800" dirty="0"/>
          </a:p>
        </p:txBody>
      </p:sp>
      <p:sp>
        <p:nvSpPr>
          <p:cNvPr id="12" name="S04 TextBox 12"/>
          <p:cNvSpPr txBox="1"/>
          <p:nvPr/>
        </p:nvSpPr>
        <p:spPr>
          <a:xfrm>
            <a:off x="548640" y="2103120"/>
            <a:ext cx="3703320" cy="4069080"/>
          </a:xfrm>
          <a:prstGeom prst="rect">
            <a:avLst/>
          </a:prstGeom>
          <a:noFill/>
          <a:ln/>
        </p:spPr>
        <p:txBody>
          <a:bodyPr wrap="square" lIns="0" tIns="0" rIns="0" bIns="0" rtlCol="0" anchor="t"/>
          <a:lstStyle/>
          <a:p>
            <a:pPr marL="190500" indent="-190500">
              <a:spcAft>
                <a:spcPts val="1300"/>
              </a:spcAft>
              <a:buClr>
                <a:srgbClr val="1C2B25"/>
              </a:buClr>
              <a:buSzPct val="100000"/>
              <a:buChar char="•"/>
            </a:pPr>
            <a:r>
              <a:rPr lang="en-US" sz="1400" dirty="0">
                <a:solidFill>
                  <a:srgbClr val="1C2B25"/>
                </a:solidFill>
                <a:latin typeface="Segoe UI" pitchFamily="34" charset="0"/>
                <a:ea typeface="Segoe UI" pitchFamily="34" charset="-122"/>
                <a:cs typeface="Segoe UI" pitchFamily="34" charset="-120"/>
              </a:rPr>
              <a:t>Dữ liệu </a:t>
            </a:r>
            <a:r>
              <a:rPr lang="en-US" sz="1400" b="1" dirty="0">
                <a:solidFill>
                  <a:srgbClr val="9E2B25"/>
                </a:solidFill>
                <a:latin typeface="Segoe UI" pitchFamily="34" charset="0"/>
                <a:ea typeface="Segoe UI" pitchFamily="34" charset="-122"/>
                <a:cs typeface="Segoe UI" pitchFamily="34" charset="-120"/>
              </a:rPr>
              <a:t>có nguồn</a:t>
            </a:r>
            <a:r>
              <a:rPr lang="en-US" sz="1400" dirty="0">
                <a:solidFill>
                  <a:srgbClr val="1C2B25"/>
                </a:solidFill>
                <a:latin typeface="Segoe UI" pitchFamily="34" charset="0"/>
                <a:ea typeface="Segoe UI" pitchFamily="34" charset="-122"/>
                <a:cs typeface="Segoe UI" pitchFamily="34" charset="-120"/>
              </a:rPr>
              <a:t>, phủ trọn di tích quốc gia đặc biệt đến đợt 19</a:t>
            </a:r>
            <a:endParaRPr lang="en-US" sz="1400" dirty="0"/>
          </a:p>
          <a:p>
            <a:pPr marL="190500" indent="-190500">
              <a:spcAft>
                <a:spcPts val="1300"/>
              </a:spcAft>
              <a:buClr>
                <a:srgbClr val="1C2B25"/>
              </a:buClr>
              <a:buSzPct val="100000"/>
              <a:buChar char="•"/>
            </a:pPr>
            <a:r>
              <a:rPr lang="en-US" sz="1400" dirty="0">
                <a:solidFill>
                  <a:srgbClr val="1C2B25"/>
                </a:solidFill>
                <a:latin typeface="Segoe UI" pitchFamily="34" charset="0"/>
                <a:ea typeface="Segoe UI" pitchFamily="34" charset="-122"/>
                <a:cs typeface="Segoe UI" pitchFamily="34" charset="-120"/>
              </a:rPr>
              <a:t>Cơ sở dữ liệu theo khung </a:t>
            </a:r>
            <a:r>
              <a:rPr lang="en-US" sz="1400" b="1" dirty="0">
                <a:solidFill>
                  <a:srgbClr val="9E2B25"/>
                </a:solidFill>
                <a:latin typeface="Segoe UI" pitchFamily="34" charset="0"/>
                <a:ea typeface="Segoe UI" pitchFamily="34" charset="-122"/>
                <a:cs typeface="Segoe UI" pitchFamily="34" charset="-120"/>
              </a:rPr>
              <a:t>Luật Di sản văn hóa</a:t>
            </a:r>
            <a:endParaRPr lang="en-US" sz="1400" dirty="0"/>
          </a:p>
          <a:p>
            <a:pPr marL="190500" indent="-190500">
              <a:spcAft>
                <a:spcPts val="1300"/>
              </a:spcAft>
              <a:buClr>
                <a:srgbClr val="1C2B25"/>
              </a:buClr>
              <a:buSzPct val="100000"/>
              <a:buChar char="•"/>
            </a:pPr>
            <a:r>
              <a:rPr lang="en-US" sz="1400" dirty="0">
                <a:solidFill>
                  <a:srgbClr val="1C2B25"/>
                </a:solidFill>
                <a:latin typeface="Segoe UI" pitchFamily="34" charset="0"/>
                <a:ea typeface="Segoe UI" pitchFamily="34" charset="-122"/>
                <a:cs typeface="Segoe UI" pitchFamily="34" charset="-120"/>
              </a:rPr>
              <a:t>Đủ </a:t>
            </a:r>
            <a:r>
              <a:rPr lang="en-US" sz="1400" b="1" dirty="0">
                <a:solidFill>
                  <a:srgbClr val="9E2B25"/>
                </a:solidFill>
                <a:latin typeface="Segoe UI" pitchFamily="34" charset="0"/>
                <a:ea typeface="Segoe UI" pitchFamily="34" charset="-122"/>
                <a:cs typeface="Segoe UI" pitchFamily="34" charset="-120"/>
              </a:rPr>
              <a:t>14 chức năng</a:t>
            </a:r>
            <a:r>
              <a:rPr lang="en-US" sz="1400" dirty="0">
                <a:solidFill>
                  <a:srgbClr val="1C2B25"/>
                </a:solidFill>
                <a:latin typeface="Segoe UI" pitchFamily="34" charset="0"/>
                <a:ea typeface="Segoe UI" pitchFamily="34" charset="-122"/>
                <a:cs typeface="Segoe UI" pitchFamily="34" charset="-120"/>
              </a:rPr>
              <a:t> đã đăng ký</a:t>
            </a:r>
            <a:endParaRPr lang="en-US" sz="1400" dirty="0"/>
          </a:p>
          <a:p>
            <a:pPr marL="190500" indent="-190500">
              <a:spcAft>
                <a:spcPts val="1300"/>
              </a:spcAft>
              <a:buClr>
                <a:srgbClr val="1C2B25"/>
              </a:buClr>
              <a:buSzPct val="100000"/>
              <a:buChar char="•"/>
            </a:pPr>
            <a:r>
              <a:rPr lang="en-US" sz="1400" dirty="0">
                <a:solidFill>
                  <a:srgbClr val="1C2B25"/>
                </a:solidFill>
                <a:latin typeface="Segoe UI" pitchFamily="34" charset="0"/>
                <a:ea typeface="Segoe UI" pitchFamily="34" charset="-122"/>
                <a:cs typeface="Segoe UI" pitchFamily="34" charset="-120"/>
              </a:rPr>
              <a:t>Khu quản trị </a:t>
            </a:r>
            <a:r>
              <a:rPr lang="en-US" sz="1400" b="1" dirty="0">
                <a:solidFill>
                  <a:srgbClr val="9E2B25"/>
                </a:solidFill>
                <a:latin typeface="Segoe UI" pitchFamily="34" charset="0"/>
                <a:ea typeface="Segoe UI" pitchFamily="34" charset="-122"/>
                <a:cs typeface="Segoe UI" pitchFamily="34" charset="-120"/>
              </a:rPr>
              <a:t>tách cổng</a:t>
            </a:r>
            <a:r>
              <a:rPr lang="en-US" sz="1400" dirty="0">
                <a:solidFill>
                  <a:srgbClr val="1C2B25"/>
                </a:solidFill>
                <a:latin typeface="Segoe UI" pitchFamily="34" charset="0"/>
                <a:ea typeface="Segoe UI" pitchFamily="34" charset="-122"/>
                <a:cs typeface="Segoe UI" pitchFamily="34" charset="-120"/>
              </a:rPr>
              <a:t> riêng</a:t>
            </a:r>
            <a:endParaRPr lang="en-US" sz="1400" dirty="0"/>
          </a:p>
          <a:p>
            <a:pPr marL="190500" indent="-190500">
              <a:spcAft>
                <a:spcPts val="1300"/>
              </a:spcAft>
              <a:buClr>
                <a:srgbClr val="1C2B25"/>
              </a:buClr>
              <a:buSzPct val="100000"/>
              <a:buChar char="•"/>
            </a:pPr>
            <a:r>
              <a:rPr lang="en-US" sz="1400" dirty="0">
                <a:solidFill>
                  <a:srgbClr val="1C2B25"/>
                </a:solidFill>
                <a:latin typeface="Segoe UI" pitchFamily="34" charset="0"/>
                <a:ea typeface="Segoe UI" pitchFamily="34" charset="-122"/>
                <a:cs typeface="Segoe UI" pitchFamily="34" charset="-120"/>
              </a:rPr>
              <a:t>Dùng được trên </a:t>
            </a:r>
            <a:r>
              <a:rPr lang="en-US" sz="1400" b="1" dirty="0">
                <a:solidFill>
                  <a:srgbClr val="9E2B25"/>
                </a:solidFill>
                <a:latin typeface="Segoe UI" pitchFamily="34" charset="0"/>
                <a:ea typeface="Segoe UI" pitchFamily="34" charset="-122"/>
                <a:cs typeface="Segoe UI" pitchFamily="34" charset="-120"/>
              </a:rPr>
              <a:t>điện thoại</a:t>
            </a:r>
            <a:r>
              <a:rPr lang="en-US" sz="1400" dirty="0">
                <a:solidFill>
                  <a:srgbClr val="1C2B25"/>
                </a:solidFill>
                <a:latin typeface="Segoe UI" pitchFamily="34" charset="0"/>
                <a:ea typeface="Segoe UI" pitchFamily="34" charset="-122"/>
                <a:cs typeface="Segoe UI" pitchFamily="34" charset="-120"/>
              </a:rPr>
              <a:t> và bằng bàn phím</a:t>
            </a:r>
            <a:endParaRPr lang="en-US" sz="1400" dirty="0"/>
          </a:p>
          <a:p>
            <a:pPr marL="190500" indent="-190500">
              <a:spcAft>
                <a:spcPts val="1300"/>
              </a:spcAft>
              <a:buClr>
                <a:srgbClr val="1C2B25"/>
              </a:buClr>
              <a:buSzPct val="100000"/>
              <a:buChar char="•"/>
            </a:pPr>
            <a:r>
              <a:rPr lang="en-US" sz="1400" dirty="0">
                <a:solidFill>
                  <a:srgbClr val="1C2B25"/>
                </a:solidFill>
                <a:latin typeface="Segoe UI" pitchFamily="34" charset="0"/>
                <a:ea typeface="Segoe UI" pitchFamily="34" charset="-122"/>
                <a:cs typeface="Segoe UI" pitchFamily="34" charset="-120"/>
              </a:rPr>
              <a:t>Chức năng nào cũng có </a:t>
            </a:r>
            <a:r>
              <a:rPr lang="en-US" sz="1400" b="1" dirty="0">
                <a:solidFill>
                  <a:srgbClr val="9E2B25"/>
                </a:solidFill>
                <a:latin typeface="Segoe UI" pitchFamily="34" charset="0"/>
                <a:ea typeface="Segoe UI" pitchFamily="34" charset="-122"/>
                <a:cs typeface="Segoe UI" pitchFamily="34" charset="-120"/>
              </a:rPr>
              <a:t>test case</a:t>
            </a:r>
            <a:endParaRPr lang="en-US" sz="1400" dirty="0"/>
          </a:p>
        </p:txBody>
      </p:sp>
      <p:sp>
        <p:nvSpPr>
          <p:cNvPr id="13" name="S04 TextBox 13"/>
          <p:cNvSpPr txBox="1"/>
          <p:nvPr/>
        </p:nvSpPr>
        <p:spPr>
          <a:xfrm>
            <a:off x="4526280" y="1572768"/>
            <a:ext cx="3611880" cy="384048"/>
          </a:xfrm>
          <a:prstGeom prst="rect">
            <a:avLst/>
          </a:prstGeom>
          <a:noFill/>
          <a:ln/>
        </p:spPr>
        <p:txBody>
          <a:bodyPr wrap="square" lIns="0" tIns="0" rIns="0" bIns="0" rtlCol="0" anchor="t"/>
          <a:lstStyle/>
          <a:p>
            <a:pPr marL="0" indent="0">
              <a:buNone/>
            </a:pPr>
            <a:r>
              <a:rPr lang="en-US" sz="1800" b="1" dirty="0">
                <a:solidFill>
                  <a:srgbClr val="43705F"/>
                </a:solidFill>
                <a:latin typeface="Cambria" pitchFamily="34" charset="0"/>
                <a:ea typeface="Cambria" pitchFamily="34" charset="-122"/>
                <a:cs typeface="Cambria" pitchFamily="34" charset="-120"/>
              </a:rPr>
              <a:t>Có trong phạm vi</a:t>
            </a:r>
            <a:endParaRPr lang="en-US" sz="1800" dirty="0"/>
          </a:p>
        </p:txBody>
      </p:sp>
      <p:sp>
        <p:nvSpPr>
          <p:cNvPr id="14" name="S04 Rounded Rectangle 14"/>
          <p:cNvSpPr/>
          <p:nvPr/>
        </p:nvSpPr>
        <p:spPr>
          <a:xfrm>
            <a:off x="4526280" y="2103120"/>
            <a:ext cx="3611880" cy="566928"/>
          </a:xfrm>
          <a:prstGeom prst="roundRect">
            <a:avLst>
              <a:gd name="adj" fmla="val 9677"/>
            </a:avLst>
          </a:prstGeom>
          <a:solidFill>
            <a:srgbClr val="E2EAE4"/>
          </a:solidFill>
          <a:ln/>
        </p:spPr>
        <p:txBody>
          <a:bodyPr wrap="square" lIns="0" tIns="0" rIns="0" bIns="0" rtlCol="0" anchor="ctr"/>
          <a:lstStyle/>
          <a:p>
            <a:pPr marL="0" indent="0" algn="ctr">
              <a:buNone/>
            </a:pPr>
            <a:r>
              <a:rPr lang="en-US" sz="1250" b="1" dirty="0">
                <a:solidFill>
                  <a:srgbClr val="1C2B25"/>
                </a:solidFill>
                <a:latin typeface="Segoe UI" pitchFamily="34" charset="0"/>
                <a:ea typeface="Segoe UI" pitchFamily="34" charset="-122"/>
                <a:cs typeface="Segoe UI" pitchFamily="34" charset="-120"/>
              </a:rPr>
              <a:t>209 bản ghi</a:t>
            </a:r>
            <a:r>
              <a:rPr lang="en-US" sz="1250" dirty="0">
                <a:solidFill>
                  <a:srgbClr val="1C2B25"/>
                </a:solidFill>
                <a:latin typeface="Segoe UI" pitchFamily="34" charset="0"/>
                <a:ea typeface="Segoe UI" pitchFamily="34" charset="-122"/>
                <a:cs typeface="Segoe UI" pitchFamily="34" charset="-120"/>
              </a:rPr>
              <a:t> trên 33/34 tỉnh thành</a:t>
            </a:r>
            <a:endParaRPr lang="en-US" sz="1250" dirty="0"/>
          </a:p>
        </p:txBody>
      </p:sp>
      <p:sp>
        <p:nvSpPr>
          <p:cNvPr id="15" name="S04 Rounded Rectangle 15"/>
          <p:cNvSpPr/>
          <p:nvPr/>
        </p:nvSpPr>
        <p:spPr>
          <a:xfrm>
            <a:off x="4526280" y="2798064"/>
            <a:ext cx="3611880" cy="566928"/>
          </a:xfrm>
          <a:prstGeom prst="roundRect">
            <a:avLst>
              <a:gd name="adj" fmla="val 9677"/>
            </a:avLst>
          </a:prstGeom>
          <a:solidFill>
            <a:srgbClr val="E2EAE4"/>
          </a:solidFill>
          <a:ln/>
        </p:spPr>
        <p:txBody>
          <a:bodyPr wrap="square" lIns="0" tIns="0" rIns="0" bIns="0" rtlCol="0" anchor="ctr"/>
          <a:lstStyle/>
          <a:p>
            <a:pPr marL="0" indent="0" algn="ctr">
              <a:buNone/>
            </a:pPr>
            <a:r>
              <a:rPr lang="en-US" sz="1250" b="1" dirty="0">
                <a:solidFill>
                  <a:srgbClr val="1C2B25"/>
                </a:solidFill>
                <a:latin typeface="Segoe UI" pitchFamily="34" charset="0"/>
                <a:ea typeface="Segoe UI" pitchFamily="34" charset="-122"/>
                <a:cs typeface="Segoe UI" pitchFamily="34" charset="-120"/>
              </a:rPr>
              <a:t>36 di sản</a:t>
            </a:r>
            <a:r>
              <a:rPr lang="en-US" sz="1250" dirty="0">
                <a:solidFill>
                  <a:srgbClr val="1C2B25"/>
                </a:solidFill>
                <a:latin typeface="Segoe UI" pitchFamily="34" charset="0"/>
                <a:ea typeface="Segoe UI" pitchFamily="34" charset="-122"/>
                <a:cs typeface="Segoe UI" pitchFamily="34" charset="-120"/>
              </a:rPr>
              <a:t> văn hóa phi vật thể</a:t>
            </a:r>
            <a:endParaRPr lang="en-US" sz="1250" dirty="0"/>
          </a:p>
        </p:txBody>
      </p:sp>
      <p:sp>
        <p:nvSpPr>
          <p:cNvPr id="16" name="S04 Rounded Rectangle 16"/>
          <p:cNvSpPr/>
          <p:nvPr/>
        </p:nvSpPr>
        <p:spPr>
          <a:xfrm>
            <a:off x="4526280" y="3493008"/>
            <a:ext cx="3611880" cy="566928"/>
          </a:xfrm>
          <a:prstGeom prst="roundRect">
            <a:avLst>
              <a:gd name="adj" fmla="val 9677"/>
            </a:avLst>
          </a:prstGeom>
          <a:solidFill>
            <a:srgbClr val="E2EAE4"/>
          </a:solidFill>
          <a:ln/>
        </p:spPr>
        <p:txBody>
          <a:bodyPr wrap="square" lIns="0" tIns="0" rIns="0" bIns="0" rtlCol="0" anchor="ctr"/>
          <a:lstStyle/>
          <a:p>
            <a:pPr marL="0" indent="0" algn="ctr">
              <a:buNone/>
            </a:pPr>
            <a:r>
              <a:rPr lang="en-US" sz="1250" b="1" dirty="0">
                <a:solidFill>
                  <a:srgbClr val="1C2B25"/>
                </a:solidFill>
                <a:latin typeface="Segoe UI" pitchFamily="34" charset="0"/>
                <a:ea typeface="Segoe UI" pitchFamily="34" charset="-122"/>
                <a:cs typeface="Segoe UI" pitchFamily="34" charset="-120"/>
              </a:rPr>
              <a:t>8 chức năng tra cứu</a:t>
            </a:r>
            <a:r>
              <a:rPr lang="en-US" sz="1250" dirty="0">
                <a:solidFill>
                  <a:srgbClr val="1C2B25"/>
                </a:solidFill>
                <a:latin typeface="Segoe UI" pitchFamily="34" charset="0"/>
                <a:ea typeface="Segoe UI" pitchFamily="34" charset="-122"/>
                <a:cs typeface="Segoe UI" pitchFamily="34" charset="-120"/>
              </a:rPr>
              <a:t>, U01 đến U08</a:t>
            </a:r>
            <a:endParaRPr lang="en-US" sz="1250" dirty="0"/>
          </a:p>
        </p:txBody>
      </p:sp>
      <p:sp>
        <p:nvSpPr>
          <p:cNvPr id="17" name="S04 Rounded Rectangle 17"/>
          <p:cNvSpPr/>
          <p:nvPr/>
        </p:nvSpPr>
        <p:spPr>
          <a:xfrm>
            <a:off x="4526280" y="4187952"/>
            <a:ext cx="3611880" cy="566928"/>
          </a:xfrm>
          <a:prstGeom prst="roundRect">
            <a:avLst>
              <a:gd name="adj" fmla="val 9677"/>
            </a:avLst>
          </a:prstGeom>
          <a:solidFill>
            <a:srgbClr val="E2EAE4"/>
          </a:solidFill>
          <a:ln/>
        </p:spPr>
        <p:txBody>
          <a:bodyPr wrap="square" lIns="0" tIns="0" rIns="0" bIns="0" rtlCol="0" anchor="ctr"/>
          <a:lstStyle/>
          <a:p>
            <a:pPr marL="0" indent="0" algn="ctr">
              <a:buNone/>
            </a:pPr>
            <a:r>
              <a:rPr lang="en-US" sz="1250" b="1" dirty="0">
                <a:solidFill>
                  <a:srgbClr val="1C2B25"/>
                </a:solidFill>
                <a:latin typeface="Segoe UI" pitchFamily="34" charset="0"/>
                <a:ea typeface="Segoe UI" pitchFamily="34" charset="-122"/>
                <a:cs typeface="Segoe UI" pitchFamily="34" charset="-120"/>
              </a:rPr>
              <a:t>7 chức năng quản trị</a:t>
            </a:r>
            <a:r>
              <a:rPr lang="en-US" sz="1250" dirty="0">
                <a:solidFill>
                  <a:srgbClr val="1C2B25"/>
                </a:solidFill>
                <a:latin typeface="Segoe UI" pitchFamily="34" charset="0"/>
                <a:ea typeface="Segoe UI" pitchFamily="34" charset="-122"/>
                <a:cs typeface="Segoe UI" pitchFamily="34" charset="-120"/>
              </a:rPr>
              <a:t>, A01 đến A07</a:t>
            </a:r>
            <a:endParaRPr lang="en-US" sz="1250" dirty="0"/>
          </a:p>
        </p:txBody>
      </p:sp>
      <p:sp>
        <p:nvSpPr>
          <p:cNvPr id="18" name="S04 Rounded Rectangle 18"/>
          <p:cNvSpPr/>
          <p:nvPr/>
        </p:nvSpPr>
        <p:spPr>
          <a:xfrm>
            <a:off x="4526280" y="4882896"/>
            <a:ext cx="3611880" cy="566928"/>
          </a:xfrm>
          <a:prstGeom prst="roundRect">
            <a:avLst>
              <a:gd name="adj" fmla="val 9677"/>
            </a:avLst>
          </a:prstGeom>
          <a:solidFill>
            <a:srgbClr val="E2EAE4"/>
          </a:solidFill>
          <a:ln/>
        </p:spPr>
        <p:txBody>
          <a:bodyPr wrap="square" lIns="0" tIns="0" rIns="0" bIns="0" rtlCol="0" anchor="ctr"/>
          <a:lstStyle/>
          <a:p>
            <a:pPr marL="0" indent="0" algn="ctr">
              <a:buNone/>
            </a:pPr>
            <a:r>
              <a:rPr lang="en-US" sz="1250" b="1" dirty="0">
                <a:solidFill>
                  <a:srgbClr val="1C2B25"/>
                </a:solidFill>
                <a:latin typeface="Segoe UI" pitchFamily="34" charset="0"/>
                <a:ea typeface="Segoe UI" pitchFamily="34" charset="-122"/>
                <a:cs typeface="Segoe UI" pitchFamily="34" charset="-120"/>
              </a:rPr>
              <a:t>Khu quản trị</a:t>
            </a:r>
            <a:r>
              <a:rPr lang="en-US" sz="1250" dirty="0">
                <a:solidFill>
                  <a:srgbClr val="1C2B25"/>
                </a:solidFill>
                <a:latin typeface="Segoe UI" pitchFamily="34" charset="0"/>
                <a:ea typeface="Segoe UI" pitchFamily="34" charset="-122"/>
                <a:cs typeface="Segoe UI" pitchFamily="34" charset="-120"/>
              </a:rPr>
              <a:t> trên cổng riêng</a:t>
            </a:r>
            <a:endParaRPr lang="en-US" sz="1250" dirty="0"/>
          </a:p>
        </p:txBody>
      </p:sp>
      <p:sp>
        <p:nvSpPr>
          <p:cNvPr id="19" name="S04 Rounded Rectangle 19"/>
          <p:cNvSpPr/>
          <p:nvPr/>
        </p:nvSpPr>
        <p:spPr>
          <a:xfrm>
            <a:off x="4526280" y="5577840"/>
            <a:ext cx="3611880" cy="566928"/>
          </a:xfrm>
          <a:prstGeom prst="roundRect">
            <a:avLst>
              <a:gd name="adj" fmla="val 9677"/>
            </a:avLst>
          </a:prstGeom>
          <a:solidFill>
            <a:srgbClr val="E2EAE4"/>
          </a:solidFill>
          <a:ln/>
        </p:spPr>
        <p:txBody>
          <a:bodyPr wrap="square" lIns="0" tIns="0" rIns="0" bIns="0" rtlCol="0" anchor="ctr"/>
          <a:lstStyle/>
          <a:p>
            <a:pPr marL="0" indent="0" algn="ctr">
              <a:buNone/>
            </a:pPr>
            <a:r>
              <a:rPr lang="en-US" sz="1250" b="1" dirty="0">
                <a:solidFill>
                  <a:srgbClr val="1C2B25"/>
                </a:solidFill>
                <a:latin typeface="Segoe UI" pitchFamily="34" charset="0"/>
                <a:ea typeface="Segoe UI" pitchFamily="34" charset="-122"/>
                <a:cs typeface="Segoe UI" pitchFamily="34" charset="-120"/>
              </a:rPr>
              <a:t>Chạy trên</a:t>
            </a:r>
            <a:r>
              <a:rPr lang="en-US" sz="1250" dirty="0">
                <a:solidFill>
                  <a:srgbClr val="1C2B25"/>
                </a:solidFill>
                <a:latin typeface="Segoe UI" pitchFamily="34" charset="0"/>
                <a:ea typeface="Segoe UI" pitchFamily="34" charset="-122"/>
                <a:cs typeface="Segoe UI" pitchFamily="34" charset="-120"/>
              </a:rPr>
              <a:t> máy cá nhân</a:t>
            </a:r>
            <a:endParaRPr lang="en-US" sz="1250" dirty="0"/>
          </a:p>
        </p:txBody>
      </p:sp>
      <p:sp>
        <p:nvSpPr>
          <p:cNvPr id="20" name="S04 Rectangle 20"/>
          <p:cNvSpPr/>
          <p:nvPr/>
        </p:nvSpPr>
        <p:spPr>
          <a:xfrm>
            <a:off x="8412480" y="1554480"/>
            <a:ext cx="3227832" cy="4663440"/>
          </a:xfrm>
          <a:prstGeom prst="rect">
            <a:avLst/>
          </a:prstGeom>
          <a:solidFill>
            <a:srgbClr val="E6E8E1"/>
          </a:solidFill>
          <a:ln/>
        </p:spPr>
      </p:sp>
      <p:sp>
        <p:nvSpPr>
          <p:cNvPr id="21" name="S04 TextBox 21"/>
          <p:cNvSpPr txBox="1"/>
          <p:nvPr/>
        </p:nvSpPr>
        <p:spPr>
          <a:xfrm>
            <a:off x="8641080" y="1691640"/>
            <a:ext cx="2834640" cy="384048"/>
          </a:xfrm>
          <a:prstGeom prst="rect">
            <a:avLst/>
          </a:prstGeom>
          <a:noFill/>
          <a:ln/>
        </p:spPr>
        <p:txBody>
          <a:bodyPr wrap="square" lIns="0" tIns="0" rIns="0" bIns="0" rtlCol="0" anchor="t"/>
          <a:lstStyle/>
          <a:p>
            <a:pPr marL="0" indent="0">
              <a:buNone/>
            </a:pPr>
            <a:r>
              <a:rPr lang="en-US" sz="1800" b="1" dirty="0">
                <a:solidFill>
                  <a:srgbClr val="9E2B25"/>
                </a:solidFill>
                <a:latin typeface="Cambria" pitchFamily="34" charset="0"/>
                <a:ea typeface="Cambria" pitchFamily="34" charset="-122"/>
                <a:cs typeface="Cambria" pitchFamily="34" charset="-120"/>
              </a:rPr>
              <a:t>Không triển khai</a:t>
            </a:r>
            <a:endParaRPr lang="en-US" sz="1800" dirty="0"/>
          </a:p>
        </p:txBody>
      </p:sp>
      <p:sp>
        <p:nvSpPr>
          <p:cNvPr id="22" name="S04 TextBox 22"/>
          <p:cNvSpPr txBox="1"/>
          <p:nvPr/>
        </p:nvSpPr>
        <p:spPr>
          <a:xfrm>
            <a:off x="8641080" y="2240280"/>
            <a:ext cx="2816352" cy="3840480"/>
          </a:xfrm>
          <a:prstGeom prst="rect">
            <a:avLst/>
          </a:prstGeom>
          <a:noFill/>
          <a:ln/>
        </p:spPr>
        <p:txBody>
          <a:bodyPr wrap="square" lIns="0" tIns="0" rIns="0" bIns="0" rtlCol="0" anchor="t"/>
          <a:lstStyle/>
          <a:p>
            <a:pPr marL="190500" indent="-190500">
              <a:spcAft>
                <a:spcPts val="1400"/>
              </a:spcAft>
              <a:buClr>
                <a:srgbClr val="1C2B25"/>
              </a:buClr>
              <a:buSzPct val="100000"/>
              <a:buChar char="•"/>
            </a:pPr>
            <a:r>
              <a:rPr lang="en-US" sz="1350" dirty="0">
                <a:solidFill>
                  <a:srgbClr val="1C2B25"/>
                </a:solidFill>
                <a:latin typeface="Segoe UI" pitchFamily="34" charset="0"/>
                <a:ea typeface="Segoe UI" pitchFamily="34" charset="-122"/>
                <a:cs typeface="Segoe UI" pitchFamily="34" charset="-120"/>
              </a:rPr>
              <a:t>Bản đồ số nền vệ tinh và chỉ đường</a:t>
            </a:r>
            <a:endParaRPr lang="en-US" sz="1350" dirty="0"/>
          </a:p>
          <a:p>
            <a:pPr marL="190500" indent="-190500">
              <a:spcAft>
                <a:spcPts val="1400"/>
              </a:spcAft>
              <a:buClr>
                <a:srgbClr val="1C2B25"/>
              </a:buClr>
              <a:buSzPct val="100000"/>
              <a:buChar char="•"/>
            </a:pPr>
            <a:r>
              <a:rPr lang="en-US" sz="1350" dirty="0">
                <a:solidFill>
                  <a:srgbClr val="1C2B25"/>
                </a:solidFill>
                <a:latin typeface="Segoe UI" pitchFamily="34" charset="0"/>
                <a:ea typeface="Segoe UI" pitchFamily="34" charset="-122"/>
                <a:cs typeface="Segoe UI" pitchFamily="34" charset="-120"/>
              </a:rPr>
              <a:t>Giao diện tiếng Anh</a:t>
            </a:r>
            <a:endParaRPr lang="en-US" sz="1350" dirty="0"/>
          </a:p>
          <a:p>
            <a:pPr marL="190500" indent="-190500">
              <a:spcAft>
                <a:spcPts val="1400"/>
              </a:spcAft>
              <a:buClr>
                <a:srgbClr val="1C2B25"/>
              </a:buClr>
              <a:buSzPct val="100000"/>
              <a:buChar char="•"/>
            </a:pPr>
            <a:r>
              <a:rPr lang="en-US" sz="1350" dirty="0">
                <a:solidFill>
                  <a:srgbClr val="1C2B25"/>
                </a:solidFill>
                <a:latin typeface="Segoe UI" pitchFamily="34" charset="0"/>
                <a:ea typeface="Segoe UI" pitchFamily="34" charset="-122"/>
                <a:cs typeface="Segoe UI" pitchFamily="34" charset="-120"/>
              </a:rPr>
              <a:t>Web API cho ứng dụng di động</a:t>
            </a:r>
            <a:endParaRPr lang="en-US" sz="1350" dirty="0"/>
          </a:p>
          <a:p>
            <a:pPr marL="190500" indent="-190500">
              <a:spcAft>
                <a:spcPts val="1400"/>
              </a:spcAft>
              <a:buClr>
                <a:srgbClr val="1C2B25"/>
              </a:buClr>
              <a:buSzPct val="100000"/>
              <a:buChar char="•"/>
            </a:pPr>
            <a:r>
              <a:rPr lang="en-US" sz="1350" dirty="0">
                <a:solidFill>
                  <a:srgbClr val="1C2B25"/>
                </a:solidFill>
                <a:latin typeface="Segoe UI" pitchFamily="34" charset="0"/>
                <a:ea typeface="Segoe UI" pitchFamily="34" charset="-122"/>
                <a:cs typeface="Segoe UI" pitchFamily="34" charset="-120"/>
              </a:rPr>
              <a:t>Tài khoản người xem</a:t>
            </a:r>
            <a:endParaRPr lang="en-US" sz="1350" dirty="0"/>
          </a:p>
          <a:p>
            <a:pPr marL="190500" indent="-190500">
              <a:spcAft>
                <a:spcPts val="1400"/>
              </a:spcAft>
              <a:buClr>
                <a:srgbClr val="1C2B25"/>
              </a:buClr>
              <a:buSzPct val="100000"/>
              <a:buChar char="•"/>
            </a:pPr>
            <a:r>
              <a:rPr lang="en-US" sz="1350" dirty="0">
                <a:solidFill>
                  <a:srgbClr val="1C2B25"/>
                </a:solidFill>
                <a:latin typeface="Segoe UI" pitchFamily="34" charset="0"/>
                <a:ea typeface="Segoe UI" pitchFamily="34" charset="-122"/>
                <a:cs typeface="Segoe UI" pitchFamily="34" charset="-120"/>
              </a:rPr>
              <a:t>Di vật, cổ vật, bảo vật quốc gia và di sản tư liệu nằm ngoài bộ dữ liệu</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42" presetClass="entr" presetSubtype="0" fill="hold" grpId="0" nodeType="withEffect">
                                  <p:stCondLst>
                                    <p:cond delay="12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anim calcmode="lin" valueType="num">
                                      <p:cBhvr>
                                        <p:cTn id="11" dur="500" fill="hold"/>
                                        <p:tgtEl>
                                          <p:spTgt spid="12"/>
                                        </p:tgtEl>
                                        <p:attrNameLst>
                                          <p:attrName>ppt_x</p:attrName>
                                        </p:attrNameLst>
                                      </p:cBhvr>
                                      <p:tavLst>
                                        <p:tav tm="0">
                                          <p:val>
                                            <p:strVal val="#ppt_x"/>
                                          </p:val>
                                        </p:tav>
                                        <p:tav tm="100000">
                                          <p:val>
                                            <p:strVal val="#ppt_x"/>
                                          </p:val>
                                        </p:tav>
                                      </p:tavLst>
                                    </p:anim>
                                    <p:anim calcmode="lin" valueType="num">
                                      <p:cBhvr>
                                        <p:cTn id="12"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42" presetClass="entr" presetSubtype="0" fill="hold" grpId="0" nodeType="withEffect">
                                  <p:stCondLst>
                                    <p:cond delay="12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anim calcmode="lin" valueType="num">
                                      <p:cBhvr>
                                        <p:cTn id="21" dur="500" fill="hold"/>
                                        <p:tgtEl>
                                          <p:spTgt spid="14"/>
                                        </p:tgtEl>
                                        <p:attrNameLst>
                                          <p:attrName>ppt_x</p:attrName>
                                        </p:attrNameLst>
                                      </p:cBhvr>
                                      <p:tavLst>
                                        <p:tav tm="0">
                                          <p:val>
                                            <p:strVal val="#ppt_x"/>
                                          </p:val>
                                        </p:tav>
                                        <p:tav tm="100000">
                                          <p:val>
                                            <p:strVal val="#ppt_x"/>
                                          </p:val>
                                        </p:tav>
                                      </p:tavLst>
                                    </p:anim>
                                    <p:anim calcmode="lin" valueType="num">
                                      <p:cBhvr>
                                        <p:cTn id="22" dur="500" fill="hold"/>
                                        <p:tgtEl>
                                          <p:spTgt spid="14"/>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24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anim calcmode="lin" valueType="num">
                                      <p:cBhvr>
                                        <p:cTn id="26" dur="500" fill="hold"/>
                                        <p:tgtEl>
                                          <p:spTgt spid="15"/>
                                        </p:tgtEl>
                                        <p:attrNameLst>
                                          <p:attrName>ppt_x</p:attrName>
                                        </p:attrNameLst>
                                      </p:cBhvr>
                                      <p:tavLst>
                                        <p:tav tm="0">
                                          <p:val>
                                            <p:strVal val="#ppt_x"/>
                                          </p:val>
                                        </p:tav>
                                        <p:tav tm="100000">
                                          <p:val>
                                            <p:strVal val="#ppt_x"/>
                                          </p:val>
                                        </p:tav>
                                      </p:tavLst>
                                    </p:anim>
                                    <p:anim calcmode="lin" valueType="num">
                                      <p:cBhvr>
                                        <p:cTn id="27" dur="500" fill="hold"/>
                                        <p:tgtEl>
                                          <p:spTgt spid="15"/>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36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anim calcmode="lin" valueType="num">
                                      <p:cBhvr>
                                        <p:cTn id="31" dur="500" fill="hold"/>
                                        <p:tgtEl>
                                          <p:spTgt spid="16"/>
                                        </p:tgtEl>
                                        <p:attrNameLst>
                                          <p:attrName>ppt_x</p:attrName>
                                        </p:attrNameLst>
                                      </p:cBhvr>
                                      <p:tavLst>
                                        <p:tav tm="0">
                                          <p:val>
                                            <p:strVal val="#ppt_x"/>
                                          </p:val>
                                        </p:tav>
                                        <p:tav tm="100000">
                                          <p:val>
                                            <p:strVal val="#ppt_x"/>
                                          </p:val>
                                        </p:tav>
                                      </p:tavLst>
                                    </p:anim>
                                    <p:anim calcmode="lin" valueType="num">
                                      <p:cBhvr>
                                        <p:cTn id="32" dur="500" fill="hold"/>
                                        <p:tgtEl>
                                          <p:spTgt spid="16"/>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48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anim calcmode="lin" valueType="num">
                                      <p:cBhvr>
                                        <p:cTn id="36" dur="500" fill="hold"/>
                                        <p:tgtEl>
                                          <p:spTgt spid="17"/>
                                        </p:tgtEl>
                                        <p:attrNameLst>
                                          <p:attrName>ppt_x</p:attrName>
                                        </p:attrNameLst>
                                      </p:cBhvr>
                                      <p:tavLst>
                                        <p:tav tm="0">
                                          <p:val>
                                            <p:strVal val="#ppt_x"/>
                                          </p:val>
                                        </p:tav>
                                        <p:tav tm="100000">
                                          <p:val>
                                            <p:strVal val="#ppt_x"/>
                                          </p:val>
                                        </p:tav>
                                      </p:tavLst>
                                    </p:anim>
                                    <p:anim calcmode="lin" valueType="num">
                                      <p:cBhvr>
                                        <p:cTn id="37" dur="500" fill="hold"/>
                                        <p:tgtEl>
                                          <p:spTgt spid="17"/>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60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anim calcmode="lin" valueType="num">
                                      <p:cBhvr>
                                        <p:cTn id="41" dur="500" fill="hold"/>
                                        <p:tgtEl>
                                          <p:spTgt spid="18"/>
                                        </p:tgtEl>
                                        <p:attrNameLst>
                                          <p:attrName>ppt_x</p:attrName>
                                        </p:attrNameLst>
                                      </p:cBhvr>
                                      <p:tavLst>
                                        <p:tav tm="0">
                                          <p:val>
                                            <p:strVal val="#ppt_x"/>
                                          </p:val>
                                        </p:tav>
                                        <p:tav tm="100000">
                                          <p:val>
                                            <p:strVal val="#ppt_x"/>
                                          </p:val>
                                        </p:tav>
                                      </p:tavLst>
                                    </p:anim>
                                    <p:anim calcmode="lin" valueType="num">
                                      <p:cBhvr>
                                        <p:cTn id="42" dur="500" fill="hold"/>
                                        <p:tgtEl>
                                          <p:spTgt spid="18"/>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72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500"/>
                                        <p:tgtEl>
                                          <p:spTgt spid="19"/>
                                        </p:tgtEl>
                                      </p:cBhvr>
                                    </p:animEffect>
                                    <p:anim calcmode="lin" valueType="num">
                                      <p:cBhvr>
                                        <p:cTn id="46" dur="500" fill="hold"/>
                                        <p:tgtEl>
                                          <p:spTgt spid="19"/>
                                        </p:tgtEl>
                                        <p:attrNameLst>
                                          <p:attrName>ppt_x</p:attrName>
                                        </p:attrNameLst>
                                      </p:cBhvr>
                                      <p:tavLst>
                                        <p:tav tm="0">
                                          <p:val>
                                            <p:strVal val="#ppt_x"/>
                                          </p:val>
                                        </p:tav>
                                        <p:tav tm="100000">
                                          <p:val>
                                            <p:strVal val="#ppt_x"/>
                                          </p:val>
                                        </p:tav>
                                      </p:tavLst>
                                    </p:anim>
                                    <p:anim calcmode="lin" valueType="num">
                                      <p:cBhvr>
                                        <p:cTn id="47"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42" presetClass="entr" presetSubtype="0" fill="hold" grpId="0" nodeType="withEffect">
                                  <p:stCondLst>
                                    <p:cond delay="12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anim calcmode="lin" valueType="num">
                                      <p:cBhvr>
                                        <p:cTn id="59" dur="500" fill="hold"/>
                                        <p:tgtEl>
                                          <p:spTgt spid="22"/>
                                        </p:tgtEl>
                                        <p:attrNameLst>
                                          <p:attrName>ppt_x</p:attrName>
                                        </p:attrNameLst>
                                      </p:cBhvr>
                                      <p:tavLst>
                                        <p:tav tm="0">
                                          <p:val>
                                            <p:strVal val="#ppt_x"/>
                                          </p:val>
                                        </p:tav>
                                        <p:tav tm="100000">
                                          <p:val>
                                            <p:strVal val="#ppt_x"/>
                                          </p:val>
                                        </p:tav>
                                      </p:tavLst>
                                    </p:anim>
                                    <p:anim calcmode="lin" valueType="num">
                                      <p:cBhvr>
                                        <p:cTn id="60" dur="5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1" grpId="0" animBg="1"/>
      <p:bldP spid="2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8F4"/>
        </a:solidFill>
        <a:effectLst/>
      </p:bgPr>
    </p:bg>
    <p:spTree>
      <p:nvGrpSpPr>
        <p:cNvPr id="1" name=""/>
        <p:cNvGrpSpPr/>
        <p:nvPr/>
      </p:nvGrpSpPr>
      <p:grpSpPr>
        <a:xfrm>
          <a:off x="0" y="0"/>
          <a:ext cx="0" cy="0"/>
          <a:chOff x="0" y="0"/>
          <a:chExt cx="0" cy="0"/>
        </a:xfrm>
      </p:grpSpPr>
      <p:sp>
        <p:nvSpPr>
          <p:cNvPr id="2" name="!!TopBar"/>
          <p:cNvSpPr/>
          <p:nvPr/>
        </p:nvSpPr>
        <p:spPr>
          <a:xfrm>
            <a:off x="0" y="0"/>
            <a:ext cx="12191695" cy="91440"/>
          </a:xfrm>
          <a:prstGeom prst="rect">
            <a:avLst/>
          </a:prstGeom>
          <a:solidFill>
            <a:srgbClr val="12201B"/>
          </a:solidFill>
          <a:ln/>
        </p:spPr>
      </p:sp>
      <p:sp>
        <p:nvSpPr>
          <p:cNvPr id="3" name="!!LogoBg"/>
          <p:cNvSpPr/>
          <p:nvPr/>
        </p:nvSpPr>
        <p:spPr>
          <a:xfrm>
            <a:off x="11256264" y="274320"/>
            <a:ext cx="402336" cy="402336"/>
          </a:xfrm>
          <a:prstGeom prst="ellipse">
            <a:avLst/>
          </a:prstGeom>
          <a:solidFill>
            <a:srgbClr val="FFFFFF"/>
          </a:solidFill>
          <a:ln/>
        </p:spPr>
      </p:sp>
      <p:pic>
        <p:nvPicPr>
          <p:cNvPr id="4" name="!!Logo" descr="Logo Trường Đại học Trà Vinh"/>
          <p:cNvPicPr>
            <a:picLocks noChangeAspect="1"/>
          </p:cNvPicPr>
          <p:nvPr/>
        </p:nvPicPr>
        <p:blipFill>
          <a:blip r:embed="rId3"/>
          <a:stretch>
            <a:fillRect/>
          </a:stretch>
        </p:blipFill>
        <p:spPr>
          <a:xfrm>
            <a:off x="11269980" y="288036"/>
            <a:ext cx="374904" cy="374904"/>
          </a:xfrm>
          <a:prstGeom prst="rect">
            <a:avLst/>
          </a:prstGeom>
        </p:spPr>
      </p:pic>
      <p:sp>
        <p:nvSpPr>
          <p:cNvPr id="5" name="!!Label"/>
          <p:cNvSpPr txBox="1"/>
          <p:nvPr/>
        </p:nvSpPr>
        <p:spPr>
          <a:xfrm>
            <a:off x="8138160" y="365760"/>
            <a:ext cx="2971800" cy="274320"/>
          </a:xfrm>
          <a:prstGeom prst="rect">
            <a:avLst/>
          </a:prstGeom>
          <a:noFill/>
          <a:ln/>
        </p:spPr>
        <p:txBody>
          <a:bodyPr wrap="square" lIns="0" tIns="0" rIns="0" bIns="0" rtlCol="0" anchor="t"/>
          <a:lstStyle/>
          <a:p>
            <a:pPr marL="0" indent="0" algn="r">
              <a:buNone/>
            </a:pPr>
            <a:r>
              <a:rPr lang="en-US" sz="1000" b="1" kern="0" spc="150" dirty="0">
                <a:solidFill>
                  <a:srgbClr val="43705F"/>
                </a:solidFill>
                <a:latin typeface="Segoe UI" pitchFamily="34" charset="0"/>
                <a:ea typeface="Segoe UI" pitchFamily="34" charset="-122"/>
                <a:cs typeface="Segoe UI" pitchFamily="34" charset="-120"/>
              </a:rPr>
              <a:t>CÔNG NGHỆ</a:t>
            </a:r>
            <a:endParaRPr lang="en-US" sz="1000" dirty="0"/>
          </a:p>
        </p:txBody>
      </p:sp>
      <p:sp>
        <p:nvSpPr>
          <p:cNvPr id="6" name="!!Title"/>
          <p:cNvSpPr txBox="1"/>
          <p:nvPr/>
        </p:nvSpPr>
        <p:spPr>
          <a:xfrm>
            <a:off x="548640" y="329184"/>
            <a:ext cx="8138160" cy="548640"/>
          </a:xfrm>
          <a:prstGeom prst="rect">
            <a:avLst/>
          </a:prstGeom>
          <a:noFill/>
          <a:ln/>
        </p:spPr>
        <p:txBody>
          <a:bodyPr wrap="square" lIns="0" tIns="0" rIns="0" bIns="0" rtlCol="0" anchor="t"/>
          <a:lstStyle/>
          <a:p>
            <a:pPr marL="0" indent="0">
              <a:buNone/>
            </a:pPr>
            <a:r>
              <a:rPr lang="en-US" sz="2800" b="1" dirty="0">
                <a:solidFill>
                  <a:srgbClr val="1C2B25"/>
                </a:solidFill>
                <a:latin typeface="Cambria" pitchFamily="34" charset="0"/>
                <a:ea typeface="Cambria" pitchFamily="34" charset="-122"/>
                <a:cs typeface="Cambria" pitchFamily="34" charset="-120"/>
              </a:rPr>
              <a:t>Công nghệ sử dụng</a:t>
            </a:r>
            <a:endParaRPr lang="en-US" sz="2800" dirty="0"/>
          </a:p>
        </p:txBody>
      </p:sp>
      <p:sp>
        <p:nvSpPr>
          <p:cNvPr id="7" name="!!Subtitle"/>
          <p:cNvSpPr txBox="1"/>
          <p:nvPr/>
        </p:nvSpPr>
        <p:spPr>
          <a:xfrm>
            <a:off x="548640" y="914400"/>
            <a:ext cx="10241280" cy="274320"/>
          </a:xfrm>
          <a:prstGeom prst="rect">
            <a:avLst/>
          </a:prstGeom>
          <a:noFill/>
          <a:ln/>
        </p:spPr>
        <p:txBody>
          <a:bodyPr wrap="square" lIns="0" tIns="0" rIns="0" bIns="0" rtlCol="0" anchor="t"/>
          <a:lstStyle/>
          <a:p>
            <a:pPr marL="0" indent="0">
              <a:buNone/>
            </a:pPr>
            <a:r>
              <a:rPr lang="en-US" sz="1250" dirty="0">
                <a:solidFill>
                  <a:srgbClr val="4E5B54"/>
                </a:solidFill>
                <a:latin typeface="Segoe UI" pitchFamily="34" charset="0"/>
                <a:ea typeface="Segoe UI" pitchFamily="34" charset="-122"/>
                <a:cs typeface="Segoe UI" pitchFamily="34" charset="-120"/>
              </a:rPr>
              <a:t>Nền tảng web MVC của Microsoft, cơ sở dữ liệu nhúng và thư viện giao diện có sẵn</a:t>
            </a:r>
            <a:endParaRPr lang="en-US" sz="1250" dirty="0"/>
          </a:p>
        </p:txBody>
      </p:sp>
      <p:sp>
        <p:nvSpPr>
          <p:cNvPr id="8" name="!!Accent"/>
          <p:cNvSpPr/>
          <p:nvPr/>
        </p:nvSpPr>
        <p:spPr>
          <a:xfrm>
            <a:off x="548640" y="1280160"/>
            <a:ext cx="1005840" cy="45720"/>
          </a:xfrm>
          <a:prstGeom prst="rect">
            <a:avLst/>
          </a:prstGeom>
          <a:solidFill>
            <a:srgbClr val="43705F"/>
          </a:solidFill>
          <a:ln/>
        </p:spPr>
      </p:sp>
      <p:sp>
        <p:nvSpPr>
          <p:cNvPr id="9" name="!!Footer"/>
          <p:cNvSpPr txBox="1"/>
          <p:nvPr/>
        </p:nvSpPr>
        <p:spPr>
          <a:xfrm>
            <a:off x="548640" y="6455664"/>
            <a:ext cx="7315200" cy="219456"/>
          </a:xfrm>
          <a:prstGeom prst="rect">
            <a:avLst/>
          </a:prstGeom>
          <a:noFill/>
          <a:ln/>
        </p:spPr>
        <p:txBody>
          <a:bodyPr wrap="square" lIns="0" tIns="0" rIns="0" bIns="0" rtlCol="0" anchor="t"/>
          <a:lstStyle/>
          <a:p>
            <a:pPr marL="0" indent="0">
              <a:buNone/>
            </a:pPr>
            <a:r>
              <a:rPr lang="en-US" sz="900" dirty="0">
                <a:solidFill>
                  <a:srgbClr val="4E5B54"/>
                </a:solidFill>
                <a:latin typeface="Segoe UI" pitchFamily="34" charset="0"/>
                <a:ea typeface="Segoe UI" pitchFamily="34" charset="-122"/>
                <a:cs typeface="Segoe UI" pitchFamily="34" charset="-120"/>
              </a:rPr>
              <a:t>Đồ án thực tập cơ sở ngành · Website di tích Việt Nam</a:t>
            </a:r>
            <a:endParaRPr lang="en-US" sz="900" dirty="0"/>
          </a:p>
        </p:txBody>
      </p:sp>
      <p:sp>
        <p:nvSpPr>
          <p:cNvPr id="10" name="!!PageNum"/>
          <p:cNvSpPr txBox="1"/>
          <p:nvPr/>
        </p:nvSpPr>
        <p:spPr>
          <a:xfrm>
            <a:off x="11091672" y="6455664"/>
            <a:ext cx="548640" cy="219456"/>
          </a:xfrm>
          <a:prstGeom prst="rect">
            <a:avLst/>
          </a:prstGeom>
          <a:noFill/>
          <a:ln/>
        </p:spPr>
        <p:txBody>
          <a:bodyPr wrap="square" lIns="0" tIns="0" rIns="0" bIns="0" rtlCol="0" anchor="t"/>
          <a:lstStyle/>
          <a:p>
            <a:pPr marL="0" indent="0" algn="r">
              <a:buNone/>
            </a:pPr>
            <a:r>
              <a:rPr lang="en-US" sz="900" dirty="0">
                <a:solidFill>
                  <a:srgbClr val="4E5B54"/>
                </a:solidFill>
                <a:latin typeface="Segoe UI" pitchFamily="34" charset="0"/>
                <a:ea typeface="Segoe UI" pitchFamily="34" charset="-122"/>
                <a:cs typeface="Segoe UI" pitchFamily="34" charset="-120"/>
              </a:rPr>
              <a:t>05</a:t>
            </a:r>
            <a:endParaRPr lang="en-US" sz="900" dirty="0"/>
          </a:p>
        </p:txBody>
      </p:sp>
      <p:sp>
        <p:nvSpPr>
          <p:cNvPr id="11" name="S05 Rectangle 11"/>
          <p:cNvSpPr/>
          <p:nvPr/>
        </p:nvSpPr>
        <p:spPr>
          <a:xfrm>
            <a:off x="548640" y="1572768"/>
            <a:ext cx="3538728" cy="2212848"/>
          </a:xfrm>
          <a:prstGeom prst="rect">
            <a:avLst/>
          </a:prstGeom>
          <a:solidFill>
            <a:srgbClr val="FFFFFF"/>
          </a:solidFill>
          <a:ln w="9525">
            <a:solidFill>
              <a:srgbClr val="C9CDC2"/>
            </a:solidFill>
            <a:prstDash val="solid"/>
          </a:ln>
          <a:effectLst>
            <a:outerShdw blurRad="127000" dist="25400" dir="5400000" algn="bl" rotWithShape="0">
              <a:srgbClr val="000000">
                <a:alpha val="12000"/>
              </a:srgbClr>
            </a:outerShdw>
          </a:effectLst>
        </p:spPr>
      </p:sp>
      <p:sp>
        <p:nvSpPr>
          <p:cNvPr id="12" name="S05 Oval 12"/>
          <p:cNvSpPr/>
          <p:nvPr/>
        </p:nvSpPr>
        <p:spPr>
          <a:xfrm>
            <a:off x="822960" y="1865376"/>
            <a:ext cx="749808" cy="749808"/>
          </a:xfrm>
          <a:prstGeom prst="ellipse">
            <a:avLst/>
          </a:prstGeom>
          <a:solidFill>
            <a:srgbClr val="12201B"/>
          </a:solidFill>
          <a:ln/>
        </p:spPr>
      </p:sp>
      <p:pic>
        <p:nvPicPr>
          <p:cNvPr id="13" name="S05 Picture 13" descr="D:\02_learning\Courses\DXTTT8\.thuc-tap-co-so-nganh\_workspace\72_slide-no-keyband\assets\dotnet_F8F8F4.png"/>
          <p:cNvPicPr>
            <a:picLocks noChangeAspect="1"/>
          </p:cNvPicPr>
          <p:nvPr/>
        </p:nvPicPr>
        <p:blipFill>
          <a:blip r:embed="rId4"/>
          <a:stretch>
            <a:fillRect/>
          </a:stretch>
        </p:blipFill>
        <p:spPr>
          <a:xfrm>
            <a:off x="1002914" y="2045330"/>
            <a:ext cx="389900" cy="389900"/>
          </a:xfrm>
          <a:prstGeom prst="rect">
            <a:avLst/>
          </a:prstGeom>
        </p:spPr>
      </p:pic>
      <p:sp>
        <p:nvSpPr>
          <p:cNvPr id="14" name="S05 TextBox 14"/>
          <p:cNvSpPr txBox="1"/>
          <p:nvPr/>
        </p:nvSpPr>
        <p:spPr>
          <a:xfrm>
            <a:off x="1719072" y="1883664"/>
            <a:ext cx="2286000" cy="713232"/>
          </a:xfrm>
          <a:prstGeom prst="rect">
            <a:avLst/>
          </a:prstGeom>
          <a:noFill/>
          <a:ln/>
        </p:spPr>
        <p:txBody>
          <a:bodyPr wrap="square" lIns="0" tIns="0" rIns="0" bIns="0" rtlCol="0" anchor="ctr"/>
          <a:lstStyle/>
          <a:p>
            <a:pPr marL="0" indent="0">
              <a:buNone/>
            </a:pPr>
            <a:r>
              <a:rPr lang="en-US" sz="1700" b="1" dirty="0">
                <a:solidFill>
                  <a:srgbClr val="1C2B25"/>
                </a:solidFill>
                <a:latin typeface="Cambria" pitchFamily="34" charset="0"/>
                <a:ea typeface="Cambria" pitchFamily="34" charset="-122"/>
                <a:cs typeface="Cambria" pitchFamily="34" charset="-120"/>
              </a:rPr>
              <a:t>ASP.NET Core MVC</a:t>
            </a:r>
            <a:endParaRPr lang="en-US" sz="1700" dirty="0"/>
          </a:p>
        </p:txBody>
      </p:sp>
      <p:sp>
        <p:nvSpPr>
          <p:cNvPr id="15" name="S05 TextBox 15"/>
          <p:cNvSpPr txBox="1"/>
          <p:nvPr/>
        </p:nvSpPr>
        <p:spPr>
          <a:xfrm>
            <a:off x="822960" y="2871216"/>
            <a:ext cx="3063240" cy="822960"/>
          </a:xfrm>
          <a:prstGeom prst="rect">
            <a:avLst/>
          </a:prstGeom>
          <a:noFill/>
          <a:ln/>
        </p:spPr>
        <p:txBody>
          <a:bodyPr wrap="square" lIns="0" tIns="0" rIns="0" bIns="0" rtlCol="0" anchor="t"/>
          <a:lstStyle/>
          <a:p>
            <a:pPr marL="0" indent="0">
              <a:buNone/>
            </a:pPr>
            <a:r>
              <a:rPr lang="en-US" sz="1450" dirty="0">
                <a:solidFill>
                  <a:srgbClr val="4E5B54"/>
                </a:solidFill>
                <a:latin typeface="Segoe UI" pitchFamily="34" charset="0"/>
                <a:ea typeface="Segoe UI" pitchFamily="34" charset="-122"/>
                <a:cs typeface="Segoe UI" pitchFamily="34" charset="-120"/>
              </a:rPr>
              <a:t>Chạy trên </a:t>
            </a:r>
            <a:r>
              <a:rPr lang="en-US" sz="1450" b="1" dirty="0">
                <a:solidFill>
                  <a:srgbClr val="43705F"/>
                </a:solidFill>
                <a:latin typeface="Segoe UI" pitchFamily="34" charset="0"/>
                <a:ea typeface="Segoe UI" pitchFamily="34" charset="-122"/>
                <a:cs typeface="Segoe UI" pitchFamily="34" charset="-120"/>
              </a:rPr>
              <a:t>.NET 10</a:t>
            </a:r>
            <a:r>
              <a:rPr lang="en-US" sz="1450" dirty="0">
                <a:solidFill>
                  <a:srgbClr val="4E5B54"/>
                </a:solidFill>
                <a:latin typeface="Segoe UI" pitchFamily="34" charset="0"/>
                <a:ea typeface="Segoe UI" pitchFamily="34" charset="-122"/>
                <a:cs typeface="Segoe UI" pitchFamily="34" charset="-120"/>
              </a:rPr>
              <a:t>; Area riêng cho khu quản trị</a:t>
            </a:r>
            <a:endParaRPr lang="en-US" sz="1450" dirty="0"/>
          </a:p>
        </p:txBody>
      </p:sp>
      <p:sp>
        <p:nvSpPr>
          <p:cNvPr id="16" name="S05 Rectangle 16"/>
          <p:cNvSpPr/>
          <p:nvPr/>
        </p:nvSpPr>
        <p:spPr>
          <a:xfrm>
            <a:off x="4325112" y="1572768"/>
            <a:ext cx="3538728" cy="2212848"/>
          </a:xfrm>
          <a:prstGeom prst="rect">
            <a:avLst/>
          </a:prstGeom>
          <a:solidFill>
            <a:srgbClr val="FFFFFF"/>
          </a:solidFill>
          <a:ln w="9525">
            <a:solidFill>
              <a:srgbClr val="C9CDC2"/>
            </a:solidFill>
            <a:prstDash val="solid"/>
          </a:ln>
          <a:effectLst>
            <a:outerShdw blurRad="127000" dist="25400" dir="5400000" algn="bl" rotWithShape="0">
              <a:srgbClr val="000000">
                <a:alpha val="12000"/>
              </a:srgbClr>
            </a:outerShdw>
          </a:effectLst>
        </p:spPr>
      </p:sp>
      <p:sp>
        <p:nvSpPr>
          <p:cNvPr id="17" name="S05 Oval 17"/>
          <p:cNvSpPr/>
          <p:nvPr/>
        </p:nvSpPr>
        <p:spPr>
          <a:xfrm>
            <a:off x="4599432" y="1865376"/>
            <a:ext cx="749808" cy="749808"/>
          </a:xfrm>
          <a:prstGeom prst="ellipse">
            <a:avLst/>
          </a:prstGeom>
          <a:solidFill>
            <a:srgbClr val="12201B"/>
          </a:solidFill>
          <a:ln/>
        </p:spPr>
      </p:sp>
      <p:pic>
        <p:nvPicPr>
          <p:cNvPr id="18" name="S05 Picture 18" descr="D:\02_learning\Courses\DXTTT8\.thuc-tap-co-so-nganh\_workspace\72_slide-no-keyband\assets\database_F8F8F4.png"/>
          <p:cNvPicPr>
            <a:picLocks noChangeAspect="1"/>
          </p:cNvPicPr>
          <p:nvPr/>
        </p:nvPicPr>
        <p:blipFill>
          <a:blip r:embed="rId5"/>
          <a:stretch>
            <a:fillRect/>
          </a:stretch>
        </p:blipFill>
        <p:spPr>
          <a:xfrm>
            <a:off x="4779386" y="2045330"/>
            <a:ext cx="389900" cy="389900"/>
          </a:xfrm>
          <a:prstGeom prst="rect">
            <a:avLst/>
          </a:prstGeom>
        </p:spPr>
      </p:pic>
      <p:sp>
        <p:nvSpPr>
          <p:cNvPr id="19" name="S05 TextBox 19"/>
          <p:cNvSpPr txBox="1"/>
          <p:nvPr/>
        </p:nvSpPr>
        <p:spPr>
          <a:xfrm>
            <a:off x="5495544" y="1883664"/>
            <a:ext cx="2286000" cy="713232"/>
          </a:xfrm>
          <a:prstGeom prst="rect">
            <a:avLst/>
          </a:prstGeom>
          <a:noFill/>
          <a:ln/>
        </p:spPr>
        <p:txBody>
          <a:bodyPr wrap="square" lIns="0" tIns="0" rIns="0" bIns="0" rtlCol="0" anchor="ctr"/>
          <a:lstStyle/>
          <a:p>
            <a:pPr marL="0" indent="0">
              <a:buNone/>
            </a:pPr>
            <a:r>
              <a:rPr lang="en-US" sz="1700" b="1" dirty="0">
                <a:solidFill>
                  <a:srgbClr val="1C2B25"/>
                </a:solidFill>
                <a:latin typeface="Cambria" pitchFamily="34" charset="0"/>
                <a:ea typeface="Cambria" pitchFamily="34" charset="-122"/>
                <a:cs typeface="Cambria" pitchFamily="34" charset="-120"/>
              </a:rPr>
              <a:t>Entity Framework Core</a:t>
            </a:r>
            <a:endParaRPr lang="en-US" sz="1700" dirty="0"/>
          </a:p>
        </p:txBody>
      </p:sp>
      <p:sp>
        <p:nvSpPr>
          <p:cNvPr id="20" name="S05 TextBox 20"/>
          <p:cNvSpPr txBox="1"/>
          <p:nvPr/>
        </p:nvSpPr>
        <p:spPr>
          <a:xfrm>
            <a:off x="4599432" y="2871216"/>
            <a:ext cx="3063240" cy="822960"/>
          </a:xfrm>
          <a:prstGeom prst="rect">
            <a:avLst/>
          </a:prstGeom>
          <a:noFill/>
          <a:ln/>
        </p:spPr>
        <p:txBody>
          <a:bodyPr wrap="square" lIns="0" tIns="0" rIns="0" bIns="0" rtlCol="0" anchor="t"/>
          <a:lstStyle/>
          <a:p>
            <a:pPr marL="0" indent="0">
              <a:buNone/>
            </a:pPr>
            <a:r>
              <a:rPr lang="en-US" sz="1450" dirty="0">
                <a:solidFill>
                  <a:srgbClr val="4E5B54"/>
                </a:solidFill>
                <a:latin typeface="Segoe UI" pitchFamily="34" charset="0"/>
                <a:ea typeface="Segoe UI" pitchFamily="34" charset="-122"/>
                <a:cs typeface="Segoe UI" pitchFamily="34" charset="-120"/>
              </a:rPr>
              <a:t>Ánh xạ lớp sang bảng, </a:t>
            </a:r>
            <a:r>
              <a:rPr lang="en-US" sz="1450" b="1" dirty="0">
                <a:solidFill>
                  <a:srgbClr val="43705F"/>
                </a:solidFill>
                <a:latin typeface="Segoe UI" pitchFamily="34" charset="0"/>
                <a:ea typeface="Segoe UI" pitchFamily="34" charset="-122"/>
                <a:cs typeface="Segoe UI" pitchFamily="34" charset="-120"/>
              </a:rPr>
              <a:t>migration</a:t>
            </a:r>
            <a:r>
              <a:rPr lang="en-US" sz="1450" dirty="0">
                <a:solidFill>
                  <a:srgbClr val="4E5B54"/>
                </a:solidFill>
                <a:latin typeface="Segoe UI" pitchFamily="34" charset="0"/>
                <a:ea typeface="Segoe UI" pitchFamily="34" charset="-122"/>
                <a:cs typeface="Segoe UI" pitchFamily="34" charset="-120"/>
              </a:rPr>
              <a:t> tự tạo cơ sở dữ liệu</a:t>
            </a:r>
            <a:endParaRPr lang="en-US" sz="1450" dirty="0"/>
          </a:p>
        </p:txBody>
      </p:sp>
      <p:sp>
        <p:nvSpPr>
          <p:cNvPr id="21" name="S05 Rectangle 21"/>
          <p:cNvSpPr/>
          <p:nvPr/>
        </p:nvSpPr>
        <p:spPr>
          <a:xfrm>
            <a:off x="8101584" y="1572768"/>
            <a:ext cx="3538728" cy="2212848"/>
          </a:xfrm>
          <a:prstGeom prst="rect">
            <a:avLst/>
          </a:prstGeom>
          <a:solidFill>
            <a:srgbClr val="FFFFFF"/>
          </a:solidFill>
          <a:ln w="9525">
            <a:solidFill>
              <a:srgbClr val="C9CDC2"/>
            </a:solidFill>
            <a:prstDash val="solid"/>
          </a:ln>
          <a:effectLst>
            <a:outerShdw blurRad="127000" dist="25400" dir="5400000" algn="bl" rotWithShape="0">
              <a:srgbClr val="000000">
                <a:alpha val="12000"/>
              </a:srgbClr>
            </a:outerShdw>
          </a:effectLst>
        </p:spPr>
      </p:sp>
      <p:sp>
        <p:nvSpPr>
          <p:cNvPr id="22" name="S05 Oval 22"/>
          <p:cNvSpPr/>
          <p:nvPr/>
        </p:nvSpPr>
        <p:spPr>
          <a:xfrm>
            <a:off x="8375904" y="1865376"/>
            <a:ext cx="749808" cy="749808"/>
          </a:xfrm>
          <a:prstGeom prst="ellipse">
            <a:avLst/>
          </a:prstGeom>
          <a:solidFill>
            <a:srgbClr val="12201B"/>
          </a:solidFill>
          <a:ln/>
        </p:spPr>
      </p:sp>
      <p:pic>
        <p:nvPicPr>
          <p:cNvPr id="23" name="S05 Picture 23" descr="D:\02_learning\Courses\DXTTT8\.thuc-tap-co-so-nganh\_workspace\72_slide-no-keyband\assets\sqlite_F8F8F4.png"/>
          <p:cNvPicPr>
            <a:picLocks noChangeAspect="1"/>
          </p:cNvPicPr>
          <p:nvPr/>
        </p:nvPicPr>
        <p:blipFill>
          <a:blip r:embed="rId6"/>
          <a:stretch>
            <a:fillRect/>
          </a:stretch>
        </p:blipFill>
        <p:spPr>
          <a:xfrm>
            <a:off x="8555858" y="2045330"/>
            <a:ext cx="389900" cy="389900"/>
          </a:xfrm>
          <a:prstGeom prst="rect">
            <a:avLst/>
          </a:prstGeom>
        </p:spPr>
      </p:pic>
      <p:sp>
        <p:nvSpPr>
          <p:cNvPr id="24" name="S05 TextBox 24"/>
          <p:cNvSpPr txBox="1"/>
          <p:nvPr/>
        </p:nvSpPr>
        <p:spPr>
          <a:xfrm>
            <a:off x="9272016" y="1883664"/>
            <a:ext cx="2286000" cy="713232"/>
          </a:xfrm>
          <a:prstGeom prst="rect">
            <a:avLst/>
          </a:prstGeom>
          <a:noFill/>
          <a:ln/>
        </p:spPr>
        <p:txBody>
          <a:bodyPr wrap="square" lIns="0" tIns="0" rIns="0" bIns="0" rtlCol="0" anchor="ctr"/>
          <a:lstStyle/>
          <a:p>
            <a:pPr marL="0" indent="0">
              <a:buNone/>
            </a:pPr>
            <a:r>
              <a:rPr lang="en-US" sz="1700" b="1" dirty="0">
                <a:solidFill>
                  <a:srgbClr val="1C2B25"/>
                </a:solidFill>
                <a:latin typeface="Cambria" pitchFamily="34" charset="0"/>
                <a:ea typeface="Cambria" pitchFamily="34" charset="-122"/>
                <a:cs typeface="Cambria" pitchFamily="34" charset="-120"/>
              </a:rPr>
              <a:t>SQLite</a:t>
            </a:r>
            <a:endParaRPr lang="en-US" sz="1700" dirty="0"/>
          </a:p>
        </p:txBody>
      </p:sp>
      <p:sp>
        <p:nvSpPr>
          <p:cNvPr id="25" name="S05 TextBox 25"/>
          <p:cNvSpPr txBox="1"/>
          <p:nvPr/>
        </p:nvSpPr>
        <p:spPr>
          <a:xfrm>
            <a:off x="8375904" y="2871216"/>
            <a:ext cx="3063240" cy="822960"/>
          </a:xfrm>
          <a:prstGeom prst="rect">
            <a:avLst/>
          </a:prstGeom>
          <a:noFill/>
          <a:ln/>
        </p:spPr>
        <p:txBody>
          <a:bodyPr wrap="square" lIns="0" tIns="0" rIns="0" bIns="0" rtlCol="0" anchor="t"/>
          <a:lstStyle/>
          <a:p>
            <a:pPr marL="0" indent="0">
              <a:buNone/>
            </a:pPr>
            <a:r>
              <a:rPr lang="en-US" sz="1450" b="1" dirty="0">
                <a:solidFill>
                  <a:srgbClr val="43705F"/>
                </a:solidFill>
                <a:latin typeface="Segoe UI" pitchFamily="34" charset="0"/>
                <a:ea typeface="Segoe UI" pitchFamily="34" charset="-122"/>
                <a:cs typeface="Segoe UI" pitchFamily="34" charset="-120"/>
              </a:rPr>
              <a:t>Một tệp</a:t>
            </a:r>
            <a:r>
              <a:rPr lang="en-US" sz="1450" dirty="0">
                <a:solidFill>
                  <a:srgbClr val="4E5B54"/>
                </a:solidFill>
                <a:latin typeface="Segoe UI" pitchFamily="34" charset="0"/>
                <a:ea typeface="Segoe UI" pitchFamily="34" charset="-122"/>
                <a:cs typeface="Segoe UI" pitchFamily="34" charset="-120"/>
              </a:rPr>
              <a:t> dữ liệu, không cần cài máy chủ</a:t>
            </a:r>
            <a:endParaRPr lang="en-US" sz="1450" dirty="0"/>
          </a:p>
        </p:txBody>
      </p:sp>
      <p:sp>
        <p:nvSpPr>
          <p:cNvPr id="26" name="S05 Rectangle 26"/>
          <p:cNvSpPr/>
          <p:nvPr/>
        </p:nvSpPr>
        <p:spPr>
          <a:xfrm>
            <a:off x="548640" y="3968496"/>
            <a:ext cx="3538728" cy="2212848"/>
          </a:xfrm>
          <a:prstGeom prst="rect">
            <a:avLst/>
          </a:prstGeom>
          <a:solidFill>
            <a:srgbClr val="FFFFFF"/>
          </a:solidFill>
          <a:ln w="9525">
            <a:solidFill>
              <a:srgbClr val="C9CDC2"/>
            </a:solidFill>
            <a:prstDash val="solid"/>
          </a:ln>
          <a:effectLst>
            <a:outerShdw blurRad="127000" dist="25400" dir="5400000" algn="bl" rotWithShape="0">
              <a:srgbClr val="000000">
                <a:alpha val="12000"/>
              </a:srgbClr>
            </a:outerShdw>
          </a:effectLst>
        </p:spPr>
      </p:sp>
      <p:sp>
        <p:nvSpPr>
          <p:cNvPr id="27" name="S05 Oval 27"/>
          <p:cNvSpPr/>
          <p:nvPr/>
        </p:nvSpPr>
        <p:spPr>
          <a:xfrm>
            <a:off x="822960" y="4261104"/>
            <a:ext cx="749808" cy="749808"/>
          </a:xfrm>
          <a:prstGeom prst="ellipse">
            <a:avLst/>
          </a:prstGeom>
          <a:solidFill>
            <a:srgbClr val="12201B"/>
          </a:solidFill>
          <a:ln/>
        </p:spPr>
      </p:sp>
      <p:pic>
        <p:nvPicPr>
          <p:cNvPr id="28" name="S05 Picture 28" descr="D:\02_learning\Courses\DXTTT8\.thuc-tap-co-so-nganh\_workspace\72_slide-no-keyband\assets\shield_F8F8F4.png"/>
          <p:cNvPicPr>
            <a:picLocks noChangeAspect="1"/>
          </p:cNvPicPr>
          <p:nvPr/>
        </p:nvPicPr>
        <p:blipFill>
          <a:blip r:embed="rId7"/>
          <a:stretch>
            <a:fillRect/>
          </a:stretch>
        </p:blipFill>
        <p:spPr>
          <a:xfrm>
            <a:off x="1002914" y="4441058"/>
            <a:ext cx="389900" cy="389900"/>
          </a:xfrm>
          <a:prstGeom prst="rect">
            <a:avLst/>
          </a:prstGeom>
        </p:spPr>
      </p:pic>
      <p:sp>
        <p:nvSpPr>
          <p:cNvPr id="29" name="S05 TextBox 29"/>
          <p:cNvSpPr txBox="1"/>
          <p:nvPr/>
        </p:nvSpPr>
        <p:spPr>
          <a:xfrm>
            <a:off x="1719072" y="4279392"/>
            <a:ext cx="2286000" cy="713232"/>
          </a:xfrm>
          <a:prstGeom prst="rect">
            <a:avLst/>
          </a:prstGeom>
          <a:noFill/>
          <a:ln/>
        </p:spPr>
        <p:txBody>
          <a:bodyPr wrap="square" lIns="0" tIns="0" rIns="0" bIns="0" rtlCol="0" anchor="ctr"/>
          <a:lstStyle/>
          <a:p>
            <a:pPr marL="0" indent="0">
              <a:buNone/>
            </a:pPr>
            <a:r>
              <a:rPr lang="en-US" sz="1700" b="1" dirty="0">
                <a:solidFill>
                  <a:srgbClr val="1C2B25"/>
                </a:solidFill>
                <a:latin typeface="Cambria" pitchFamily="34" charset="0"/>
                <a:ea typeface="Cambria" pitchFamily="34" charset="-122"/>
                <a:cs typeface="Cambria" pitchFamily="34" charset="-120"/>
              </a:rPr>
              <a:t>ASP.NET Core Identity</a:t>
            </a:r>
            <a:endParaRPr lang="en-US" sz="1700" dirty="0"/>
          </a:p>
        </p:txBody>
      </p:sp>
      <p:sp>
        <p:nvSpPr>
          <p:cNvPr id="30" name="S05 TextBox 30"/>
          <p:cNvSpPr txBox="1"/>
          <p:nvPr/>
        </p:nvSpPr>
        <p:spPr>
          <a:xfrm>
            <a:off x="822960" y="5266944"/>
            <a:ext cx="3063240" cy="822960"/>
          </a:xfrm>
          <a:prstGeom prst="rect">
            <a:avLst/>
          </a:prstGeom>
          <a:noFill/>
          <a:ln/>
        </p:spPr>
        <p:txBody>
          <a:bodyPr wrap="square" lIns="0" tIns="0" rIns="0" bIns="0" rtlCol="0" anchor="t"/>
          <a:lstStyle/>
          <a:p>
            <a:pPr marL="0" indent="0">
              <a:buNone/>
            </a:pPr>
            <a:r>
              <a:rPr lang="en-US" sz="1450" b="1" dirty="0">
                <a:solidFill>
                  <a:srgbClr val="43705F"/>
                </a:solidFill>
                <a:latin typeface="Segoe UI" pitchFamily="34" charset="0"/>
                <a:ea typeface="Segoe UI" pitchFamily="34" charset="-122"/>
                <a:cs typeface="Segoe UI" pitchFamily="34" charset="-120"/>
              </a:rPr>
              <a:t>Băm mật khẩu</a:t>
            </a:r>
            <a:r>
              <a:rPr lang="en-US" sz="1450" dirty="0">
                <a:solidFill>
                  <a:srgbClr val="4E5B54"/>
                </a:solidFill>
                <a:latin typeface="Segoe UI" pitchFamily="34" charset="0"/>
                <a:ea typeface="Segoe UI" pitchFamily="34" charset="-122"/>
                <a:cs typeface="Segoe UI" pitchFamily="34" charset="-120"/>
              </a:rPr>
              <a:t>, cookie, khóa tạm, vai trò</a:t>
            </a:r>
            <a:endParaRPr lang="en-US" sz="1450" dirty="0"/>
          </a:p>
        </p:txBody>
      </p:sp>
      <p:sp>
        <p:nvSpPr>
          <p:cNvPr id="31" name="S05 Rectangle 31"/>
          <p:cNvSpPr/>
          <p:nvPr/>
        </p:nvSpPr>
        <p:spPr>
          <a:xfrm>
            <a:off x="4325112" y="3968496"/>
            <a:ext cx="3538728" cy="2212848"/>
          </a:xfrm>
          <a:prstGeom prst="rect">
            <a:avLst/>
          </a:prstGeom>
          <a:solidFill>
            <a:srgbClr val="FFFFFF"/>
          </a:solidFill>
          <a:ln w="9525">
            <a:solidFill>
              <a:srgbClr val="C9CDC2"/>
            </a:solidFill>
            <a:prstDash val="solid"/>
          </a:ln>
          <a:effectLst>
            <a:outerShdw blurRad="127000" dist="25400" dir="5400000" algn="bl" rotWithShape="0">
              <a:srgbClr val="000000">
                <a:alpha val="12000"/>
              </a:srgbClr>
            </a:outerShdw>
          </a:effectLst>
        </p:spPr>
      </p:sp>
      <p:sp>
        <p:nvSpPr>
          <p:cNvPr id="32" name="S05 Oval 32"/>
          <p:cNvSpPr/>
          <p:nvPr/>
        </p:nvSpPr>
        <p:spPr>
          <a:xfrm>
            <a:off x="4599432" y="4261104"/>
            <a:ext cx="749808" cy="749808"/>
          </a:xfrm>
          <a:prstGeom prst="ellipse">
            <a:avLst/>
          </a:prstGeom>
          <a:solidFill>
            <a:srgbClr val="12201B"/>
          </a:solidFill>
          <a:ln/>
        </p:spPr>
      </p:sp>
      <p:pic>
        <p:nvPicPr>
          <p:cNvPr id="33" name="S05 Picture 33" descr="D:\02_learning\Courses\DXTTT8\.thuc-tap-co-so-nganh\_workspace\72_slide-no-keyband\assets\bootstrap_F8F8F4.png"/>
          <p:cNvPicPr>
            <a:picLocks noChangeAspect="1"/>
          </p:cNvPicPr>
          <p:nvPr/>
        </p:nvPicPr>
        <p:blipFill>
          <a:blip r:embed="rId8"/>
          <a:stretch>
            <a:fillRect/>
          </a:stretch>
        </p:blipFill>
        <p:spPr>
          <a:xfrm>
            <a:off x="4779386" y="4441058"/>
            <a:ext cx="389900" cy="389900"/>
          </a:xfrm>
          <a:prstGeom prst="rect">
            <a:avLst/>
          </a:prstGeom>
        </p:spPr>
      </p:pic>
      <p:sp>
        <p:nvSpPr>
          <p:cNvPr id="34" name="S05 TextBox 34"/>
          <p:cNvSpPr txBox="1"/>
          <p:nvPr/>
        </p:nvSpPr>
        <p:spPr>
          <a:xfrm>
            <a:off x="5495544" y="4279392"/>
            <a:ext cx="2286000" cy="713232"/>
          </a:xfrm>
          <a:prstGeom prst="rect">
            <a:avLst/>
          </a:prstGeom>
          <a:noFill/>
          <a:ln/>
        </p:spPr>
        <p:txBody>
          <a:bodyPr wrap="square" lIns="0" tIns="0" rIns="0" bIns="0" rtlCol="0" anchor="ctr"/>
          <a:lstStyle/>
          <a:p>
            <a:pPr marL="0" indent="0">
              <a:buNone/>
            </a:pPr>
            <a:r>
              <a:rPr lang="en-US" sz="1700" b="1" dirty="0">
                <a:solidFill>
                  <a:srgbClr val="1C2B25"/>
                </a:solidFill>
                <a:latin typeface="Cambria" pitchFamily="34" charset="0"/>
                <a:ea typeface="Cambria" pitchFamily="34" charset="-122"/>
                <a:cs typeface="Cambria" pitchFamily="34" charset="-120"/>
              </a:rPr>
              <a:t>Bootstrap 5.3 và jQuery</a:t>
            </a:r>
            <a:endParaRPr lang="en-US" sz="1700" dirty="0"/>
          </a:p>
        </p:txBody>
      </p:sp>
      <p:sp>
        <p:nvSpPr>
          <p:cNvPr id="35" name="S05 TextBox 35"/>
          <p:cNvSpPr txBox="1"/>
          <p:nvPr/>
        </p:nvSpPr>
        <p:spPr>
          <a:xfrm>
            <a:off x="4599432" y="5266944"/>
            <a:ext cx="3063240" cy="822960"/>
          </a:xfrm>
          <a:prstGeom prst="rect">
            <a:avLst/>
          </a:prstGeom>
          <a:noFill/>
          <a:ln/>
        </p:spPr>
        <p:txBody>
          <a:bodyPr wrap="square" lIns="0" tIns="0" rIns="0" bIns="0" rtlCol="0" anchor="t"/>
          <a:lstStyle/>
          <a:p>
            <a:pPr marL="0" indent="0">
              <a:buNone/>
            </a:pPr>
            <a:r>
              <a:rPr lang="en-US" sz="1450" dirty="0">
                <a:solidFill>
                  <a:srgbClr val="4E5B54"/>
                </a:solidFill>
                <a:latin typeface="Segoe UI" pitchFamily="34" charset="0"/>
                <a:ea typeface="Segoe UI" pitchFamily="34" charset="-122"/>
                <a:cs typeface="Segoe UI" pitchFamily="34" charset="-120"/>
              </a:rPr>
              <a:t>Bố cục </a:t>
            </a:r>
            <a:r>
              <a:rPr lang="en-US" sz="1450" b="1" dirty="0">
                <a:solidFill>
                  <a:srgbClr val="43705F"/>
                </a:solidFill>
                <a:latin typeface="Segoe UI" pitchFamily="34" charset="0"/>
                <a:ea typeface="Segoe UI" pitchFamily="34" charset="-122"/>
                <a:cs typeface="Segoe UI" pitchFamily="34" charset="-120"/>
              </a:rPr>
              <a:t>theo màn hình</a:t>
            </a:r>
            <a:r>
              <a:rPr lang="en-US" sz="1450" dirty="0">
                <a:solidFill>
                  <a:srgbClr val="4E5B54"/>
                </a:solidFill>
                <a:latin typeface="Segoe UI" pitchFamily="34" charset="0"/>
                <a:ea typeface="Segoe UI" pitchFamily="34" charset="-122"/>
                <a:cs typeface="Segoe UI" pitchFamily="34" charset="-120"/>
              </a:rPr>
              <a:t>, kiểm tra biểu mẫu</a:t>
            </a:r>
            <a:endParaRPr lang="en-US" sz="1450" dirty="0"/>
          </a:p>
        </p:txBody>
      </p:sp>
      <p:sp>
        <p:nvSpPr>
          <p:cNvPr id="36" name="S05 Rectangle 36"/>
          <p:cNvSpPr/>
          <p:nvPr/>
        </p:nvSpPr>
        <p:spPr>
          <a:xfrm>
            <a:off x="8101584" y="3968496"/>
            <a:ext cx="3538728" cy="2212848"/>
          </a:xfrm>
          <a:prstGeom prst="rect">
            <a:avLst/>
          </a:prstGeom>
          <a:solidFill>
            <a:srgbClr val="FFFFFF"/>
          </a:solidFill>
          <a:ln w="9525">
            <a:solidFill>
              <a:srgbClr val="C9CDC2"/>
            </a:solidFill>
            <a:prstDash val="solid"/>
          </a:ln>
          <a:effectLst>
            <a:outerShdw blurRad="127000" dist="25400" dir="5400000" algn="bl" rotWithShape="0">
              <a:srgbClr val="000000">
                <a:alpha val="12000"/>
              </a:srgbClr>
            </a:outerShdw>
          </a:effectLst>
        </p:spPr>
      </p:sp>
      <p:sp>
        <p:nvSpPr>
          <p:cNvPr id="37" name="S05 Oval 37"/>
          <p:cNvSpPr/>
          <p:nvPr/>
        </p:nvSpPr>
        <p:spPr>
          <a:xfrm>
            <a:off x="8375904" y="4261104"/>
            <a:ext cx="749808" cy="749808"/>
          </a:xfrm>
          <a:prstGeom prst="ellipse">
            <a:avLst/>
          </a:prstGeom>
          <a:solidFill>
            <a:srgbClr val="12201B"/>
          </a:solidFill>
          <a:ln/>
        </p:spPr>
      </p:sp>
      <p:pic>
        <p:nvPicPr>
          <p:cNvPr id="38" name="S05 Picture 38" descr="D:\02_learning\Courses\DXTTT8\.thuc-tap-co-so-nganh\_workspace\72_slide-no-keyband\assets\github_F8F8F4.png"/>
          <p:cNvPicPr>
            <a:picLocks noChangeAspect="1"/>
          </p:cNvPicPr>
          <p:nvPr/>
        </p:nvPicPr>
        <p:blipFill>
          <a:blip r:embed="rId9"/>
          <a:stretch>
            <a:fillRect/>
          </a:stretch>
        </p:blipFill>
        <p:spPr>
          <a:xfrm>
            <a:off x="8555858" y="4441058"/>
            <a:ext cx="389900" cy="389900"/>
          </a:xfrm>
          <a:prstGeom prst="rect">
            <a:avLst/>
          </a:prstGeom>
        </p:spPr>
      </p:pic>
      <p:sp>
        <p:nvSpPr>
          <p:cNvPr id="39" name="S05 TextBox 39"/>
          <p:cNvSpPr txBox="1"/>
          <p:nvPr/>
        </p:nvSpPr>
        <p:spPr>
          <a:xfrm>
            <a:off x="9272016" y="4279392"/>
            <a:ext cx="2286000" cy="713232"/>
          </a:xfrm>
          <a:prstGeom prst="rect">
            <a:avLst/>
          </a:prstGeom>
          <a:noFill/>
          <a:ln/>
        </p:spPr>
        <p:txBody>
          <a:bodyPr wrap="square" lIns="0" tIns="0" rIns="0" bIns="0" rtlCol="0" anchor="ctr"/>
          <a:lstStyle/>
          <a:p>
            <a:pPr marL="0" indent="0">
              <a:buNone/>
            </a:pPr>
            <a:r>
              <a:rPr lang="en-US" sz="1700" b="1" dirty="0">
                <a:solidFill>
                  <a:srgbClr val="1C2B25"/>
                </a:solidFill>
                <a:latin typeface="Cambria" pitchFamily="34" charset="0"/>
                <a:ea typeface="Cambria" pitchFamily="34" charset="-122"/>
                <a:cs typeface="Cambria" pitchFamily="34" charset="-120"/>
              </a:rPr>
              <a:t>Git và GitHub</a:t>
            </a:r>
            <a:endParaRPr lang="en-US" sz="1700" dirty="0"/>
          </a:p>
        </p:txBody>
      </p:sp>
      <p:sp>
        <p:nvSpPr>
          <p:cNvPr id="40" name="S05 TextBox 40"/>
          <p:cNvSpPr txBox="1"/>
          <p:nvPr/>
        </p:nvSpPr>
        <p:spPr>
          <a:xfrm>
            <a:off x="8375904" y="5266944"/>
            <a:ext cx="3063240" cy="822960"/>
          </a:xfrm>
          <a:prstGeom prst="rect">
            <a:avLst/>
          </a:prstGeom>
          <a:noFill/>
          <a:ln/>
        </p:spPr>
        <p:txBody>
          <a:bodyPr wrap="square" lIns="0" tIns="0" rIns="0" bIns="0" rtlCol="0" anchor="t"/>
          <a:lstStyle/>
          <a:p>
            <a:pPr marL="0" indent="0">
              <a:buNone/>
            </a:pPr>
            <a:r>
              <a:rPr lang="en-US" sz="1450" dirty="0">
                <a:solidFill>
                  <a:srgbClr val="4E5B54"/>
                </a:solidFill>
                <a:latin typeface="Segoe UI" pitchFamily="34" charset="0"/>
                <a:ea typeface="Segoe UI" pitchFamily="34" charset="-122"/>
                <a:cs typeface="Segoe UI" pitchFamily="34" charset="-120"/>
              </a:rPr>
              <a:t>Mỗi chức năng </a:t>
            </a:r>
            <a:r>
              <a:rPr lang="en-US" sz="1450" b="1" dirty="0">
                <a:solidFill>
                  <a:srgbClr val="43705F"/>
                </a:solidFill>
                <a:latin typeface="Segoe UI" pitchFamily="34" charset="0"/>
                <a:ea typeface="Segoe UI" pitchFamily="34" charset="-122"/>
                <a:cs typeface="Segoe UI" pitchFamily="34" charset="-120"/>
              </a:rPr>
              <a:t>một nhánh</a:t>
            </a:r>
            <a:r>
              <a:rPr lang="en-US" sz="1450" dirty="0">
                <a:solidFill>
                  <a:srgbClr val="4E5B54"/>
                </a:solidFill>
                <a:latin typeface="Segoe UI" pitchFamily="34" charset="0"/>
                <a:ea typeface="Segoe UI" pitchFamily="34" charset="-122"/>
                <a:cs typeface="Segoe UI" pitchFamily="34" charset="-120"/>
              </a:rPr>
              <a:t>, kiểm thử đạt mới gộp</a:t>
            </a:r>
            <a:endParaRPr lang="en-US" sz="14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anim calcmode="lin" valueType="num">
                                      <p:cBhvr>
                                        <p:cTn id="8" dur="500" fill="hold"/>
                                        <p:tgtEl>
                                          <p:spTgt spid="11"/>
                                        </p:tgtEl>
                                        <p:attrNameLst>
                                          <p:attrName>ppt_x</p:attrName>
                                        </p:attrNameLst>
                                      </p:cBhvr>
                                      <p:tavLst>
                                        <p:tav tm="0">
                                          <p:val>
                                            <p:strVal val="#ppt_x"/>
                                          </p:val>
                                        </p:tav>
                                        <p:tav tm="100000">
                                          <p:val>
                                            <p:strVal val="#ppt_x"/>
                                          </p:val>
                                        </p:tav>
                                      </p:tavLst>
                                    </p:anim>
                                    <p:anim calcmode="lin" valueType="num">
                                      <p:cBhvr>
                                        <p:cTn id="9" dur="5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anim calcmode="lin" valueType="num">
                                      <p:cBhvr>
                                        <p:cTn id="13" dur="500" fill="hold"/>
                                        <p:tgtEl>
                                          <p:spTgt spid="12"/>
                                        </p:tgtEl>
                                        <p:attrNameLst>
                                          <p:attrName>ppt_x</p:attrName>
                                        </p:attrNameLst>
                                      </p:cBhvr>
                                      <p:tavLst>
                                        <p:tav tm="0">
                                          <p:val>
                                            <p:strVal val="#ppt_x"/>
                                          </p:val>
                                        </p:tav>
                                        <p:tav tm="100000">
                                          <p:val>
                                            <p:strVal val="#ppt_x"/>
                                          </p:val>
                                        </p:tav>
                                      </p:tavLst>
                                    </p:anim>
                                    <p:anim calcmode="lin" valueType="num">
                                      <p:cBhvr>
                                        <p:cTn id="14" dur="5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anim calcmode="lin" valueType="num">
                                      <p:cBhvr>
                                        <p:cTn id="18" dur="500" fill="hold"/>
                                        <p:tgtEl>
                                          <p:spTgt spid="13"/>
                                        </p:tgtEl>
                                        <p:attrNameLst>
                                          <p:attrName>ppt_x</p:attrName>
                                        </p:attrNameLst>
                                      </p:cBhvr>
                                      <p:tavLst>
                                        <p:tav tm="0">
                                          <p:val>
                                            <p:strVal val="#ppt_x"/>
                                          </p:val>
                                        </p:tav>
                                        <p:tav tm="100000">
                                          <p:val>
                                            <p:strVal val="#ppt_x"/>
                                          </p:val>
                                        </p:tav>
                                      </p:tavLst>
                                    </p:anim>
                                    <p:anim calcmode="lin" valueType="num">
                                      <p:cBhvr>
                                        <p:cTn id="19" dur="500" fill="hold"/>
                                        <p:tgtEl>
                                          <p:spTgt spid="1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anim calcmode="lin" valueType="num">
                                      <p:cBhvr>
                                        <p:cTn id="23" dur="500" fill="hold"/>
                                        <p:tgtEl>
                                          <p:spTgt spid="14"/>
                                        </p:tgtEl>
                                        <p:attrNameLst>
                                          <p:attrName>ppt_x</p:attrName>
                                        </p:attrNameLst>
                                      </p:cBhvr>
                                      <p:tavLst>
                                        <p:tav tm="0">
                                          <p:val>
                                            <p:strVal val="#ppt_x"/>
                                          </p:val>
                                        </p:tav>
                                        <p:tav tm="100000">
                                          <p:val>
                                            <p:strVal val="#ppt_x"/>
                                          </p:val>
                                        </p:tav>
                                      </p:tavLst>
                                    </p:anim>
                                    <p:anim calcmode="lin" valueType="num">
                                      <p:cBhvr>
                                        <p:cTn id="24" dur="500" fill="hold"/>
                                        <p:tgtEl>
                                          <p:spTgt spid="1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anim calcmode="lin" valueType="num">
                                      <p:cBhvr>
                                        <p:cTn id="28" dur="500" fill="hold"/>
                                        <p:tgtEl>
                                          <p:spTgt spid="15"/>
                                        </p:tgtEl>
                                        <p:attrNameLst>
                                          <p:attrName>ppt_x</p:attrName>
                                        </p:attrNameLst>
                                      </p:cBhvr>
                                      <p:tavLst>
                                        <p:tav tm="0">
                                          <p:val>
                                            <p:strVal val="#ppt_x"/>
                                          </p:val>
                                        </p:tav>
                                        <p:tav tm="100000">
                                          <p:val>
                                            <p:strVal val="#ppt_x"/>
                                          </p:val>
                                        </p:tav>
                                      </p:tavLst>
                                    </p:anim>
                                    <p:anim calcmode="lin" valueType="num">
                                      <p:cBhvr>
                                        <p:cTn id="29" dur="500" fill="hold"/>
                                        <p:tgtEl>
                                          <p:spTgt spid="15"/>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12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anim calcmode="lin" valueType="num">
                                      <p:cBhvr>
                                        <p:cTn id="33" dur="500" fill="hold"/>
                                        <p:tgtEl>
                                          <p:spTgt spid="16"/>
                                        </p:tgtEl>
                                        <p:attrNameLst>
                                          <p:attrName>ppt_x</p:attrName>
                                        </p:attrNameLst>
                                      </p:cBhvr>
                                      <p:tavLst>
                                        <p:tav tm="0">
                                          <p:val>
                                            <p:strVal val="#ppt_x"/>
                                          </p:val>
                                        </p:tav>
                                        <p:tav tm="100000">
                                          <p:val>
                                            <p:strVal val="#ppt_x"/>
                                          </p:val>
                                        </p:tav>
                                      </p:tavLst>
                                    </p:anim>
                                    <p:anim calcmode="lin" valueType="num">
                                      <p:cBhvr>
                                        <p:cTn id="34" dur="500" fill="hold"/>
                                        <p:tgtEl>
                                          <p:spTgt spid="16"/>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12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anim calcmode="lin" valueType="num">
                                      <p:cBhvr>
                                        <p:cTn id="38" dur="500" fill="hold"/>
                                        <p:tgtEl>
                                          <p:spTgt spid="17"/>
                                        </p:tgtEl>
                                        <p:attrNameLst>
                                          <p:attrName>ppt_x</p:attrName>
                                        </p:attrNameLst>
                                      </p:cBhvr>
                                      <p:tavLst>
                                        <p:tav tm="0">
                                          <p:val>
                                            <p:strVal val="#ppt_x"/>
                                          </p:val>
                                        </p:tav>
                                        <p:tav tm="100000">
                                          <p:val>
                                            <p:strVal val="#ppt_x"/>
                                          </p:val>
                                        </p:tav>
                                      </p:tavLst>
                                    </p:anim>
                                    <p:anim calcmode="lin" valueType="num">
                                      <p:cBhvr>
                                        <p:cTn id="39" dur="500" fill="hold"/>
                                        <p:tgtEl>
                                          <p:spTgt spid="17"/>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2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anim calcmode="lin" valueType="num">
                                      <p:cBhvr>
                                        <p:cTn id="43" dur="500" fill="hold"/>
                                        <p:tgtEl>
                                          <p:spTgt spid="18"/>
                                        </p:tgtEl>
                                        <p:attrNameLst>
                                          <p:attrName>ppt_x</p:attrName>
                                        </p:attrNameLst>
                                      </p:cBhvr>
                                      <p:tavLst>
                                        <p:tav tm="0">
                                          <p:val>
                                            <p:strVal val="#ppt_x"/>
                                          </p:val>
                                        </p:tav>
                                        <p:tav tm="100000">
                                          <p:val>
                                            <p:strVal val="#ppt_x"/>
                                          </p:val>
                                        </p:tav>
                                      </p:tavLst>
                                    </p:anim>
                                    <p:anim calcmode="lin" valueType="num">
                                      <p:cBhvr>
                                        <p:cTn id="44" dur="500" fill="hold"/>
                                        <p:tgtEl>
                                          <p:spTgt spid="18"/>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12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anim calcmode="lin" valueType="num">
                                      <p:cBhvr>
                                        <p:cTn id="48" dur="500" fill="hold"/>
                                        <p:tgtEl>
                                          <p:spTgt spid="19"/>
                                        </p:tgtEl>
                                        <p:attrNameLst>
                                          <p:attrName>ppt_x</p:attrName>
                                        </p:attrNameLst>
                                      </p:cBhvr>
                                      <p:tavLst>
                                        <p:tav tm="0">
                                          <p:val>
                                            <p:strVal val="#ppt_x"/>
                                          </p:val>
                                        </p:tav>
                                        <p:tav tm="100000">
                                          <p:val>
                                            <p:strVal val="#ppt_x"/>
                                          </p:val>
                                        </p:tav>
                                      </p:tavLst>
                                    </p:anim>
                                    <p:anim calcmode="lin" valueType="num">
                                      <p:cBhvr>
                                        <p:cTn id="49" dur="500" fill="hold"/>
                                        <p:tgtEl>
                                          <p:spTgt spid="19"/>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12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anim calcmode="lin" valueType="num">
                                      <p:cBhvr>
                                        <p:cTn id="53" dur="500" fill="hold"/>
                                        <p:tgtEl>
                                          <p:spTgt spid="20"/>
                                        </p:tgtEl>
                                        <p:attrNameLst>
                                          <p:attrName>ppt_x</p:attrName>
                                        </p:attrNameLst>
                                      </p:cBhvr>
                                      <p:tavLst>
                                        <p:tav tm="0">
                                          <p:val>
                                            <p:strVal val="#ppt_x"/>
                                          </p:val>
                                        </p:tav>
                                        <p:tav tm="100000">
                                          <p:val>
                                            <p:strVal val="#ppt_x"/>
                                          </p:val>
                                        </p:tav>
                                      </p:tavLst>
                                    </p:anim>
                                    <p:anim calcmode="lin" valueType="num">
                                      <p:cBhvr>
                                        <p:cTn id="54" dur="500" fill="hold"/>
                                        <p:tgtEl>
                                          <p:spTgt spid="20"/>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24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anim calcmode="lin" valueType="num">
                                      <p:cBhvr>
                                        <p:cTn id="58" dur="500" fill="hold"/>
                                        <p:tgtEl>
                                          <p:spTgt spid="21"/>
                                        </p:tgtEl>
                                        <p:attrNameLst>
                                          <p:attrName>ppt_x</p:attrName>
                                        </p:attrNameLst>
                                      </p:cBhvr>
                                      <p:tavLst>
                                        <p:tav tm="0">
                                          <p:val>
                                            <p:strVal val="#ppt_x"/>
                                          </p:val>
                                        </p:tav>
                                        <p:tav tm="100000">
                                          <p:val>
                                            <p:strVal val="#ppt_x"/>
                                          </p:val>
                                        </p:tav>
                                      </p:tavLst>
                                    </p:anim>
                                    <p:anim calcmode="lin" valueType="num">
                                      <p:cBhvr>
                                        <p:cTn id="59" dur="500" fill="hold"/>
                                        <p:tgtEl>
                                          <p:spTgt spid="21"/>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24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anim calcmode="lin" valueType="num">
                                      <p:cBhvr>
                                        <p:cTn id="63" dur="500" fill="hold"/>
                                        <p:tgtEl>
                                          <p:spTgt spid="22"/>
                                        </p:tgtEl>
                                        <p:attrNameLst>
                                          <p:attrName>ppt_x</p:attrName>
                                        </p:attrNameLst>
                                      </p:cBhvr>
                                      <p:tavLst>
                                        <p:tav tm="0">
                                          <p:val>
                                            <p:strVal val="#ppt_x"/>
                                          </p:val>
                                        </p:tav>
                                        <p:tav tm="100000">
                                          <p:val>
                                            <p:strVal val="#ppt_x"/>
                                          </p:val>
                                        </p:tav>
                                      </p:tavLst>
                                    </p:anim>
                                    <p:anim calcmode="lin" valueType="num">
                                      <p:cBhvr>
                                        <p:cTn id="64" dur="500" fill="hold"/>
                                        <p:tgtEl>
                                          <p:spTgt spid="22"/>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24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anim calcmode="lin" valueType="num">
                                      <p:cBhvr>
                                        <p:cTn id="68" dur="500" fill="hold"/>
                                        <p:tgtEl>
                                          <p:spTgt spid="23"/>
                                        </p:tgtEl>
                                        <p:attrNameLst>
                                          <p:attrName>ppt_x</p:attrName>
                                        </p:attrNameLst>
                                      </p:cBhvr>
                                      <p:tavLst>
                                        <p:tav tm="0">
                                          <p:val>
                                            <p:strVal val="#ppt_x"/>
                                          </p:val>
                                        </p:tav>
                                        <p:tav tm="100000">
                                          <p:val>
                                            <p:strVal val="#ppt_x"/>
                                          </p:val>
                                        </p:tav>
                                      </p:tavLst>
                                    </p:anim>
                                    <p:anim calcmode="lin" valueType="num">
                                      <p:cBhvr>
                                        <p:cTn id="69" dur="500" fill="hold"/>
                                        <p:tgtEl>
                                          <p:spTgt spid="23"/>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24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anim calcmode="lin" valueType="num">
                                      <p:cBhvr>
                                        <p:cTn id="73" dur="500" fill="hold"/>
                                        <p:tgtEl>
                                          <p:spTgt spid="24"/>
                                        </p:tgtEl>
                                        <p:attrNameLst>
                                          <p:attrName>ppt_x</p:attrName>
                                        </p:attrNameLst>
                                      </p:cBhvr>
                                      <p:tavLst>
                                        <p:tav tm="0">
                                          <p:val>
                                            <p:strVal val="#ppt_x"/>
                                          </p:val>
                                        </p:tav>
                                        <p:tav tm="100000">
                                          <p:val>
                                            <p:strVal val="#ppt_x"/>
                                          </p:val>
                                        </p:tav>
                                      </p:tavLst>
                                    </p:anim>
                                    <p:anim calcmode="lin" valueType="num">
                                      <p:cBhvr>
                                        <p:cTn id="74" dur="500" fill="hold"/>
                                        <p:tgtEl>
                                          <p:spTgt spid="24"/>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24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anim calcmode="lin" valueType="num">
                                      <p:cBhvr>
                                        <p:cTn id="78" dur="500" fill="hold"/>
                                        <p:tgtEl>
                                          <p:spTgt spid="25"/>
                                        </p:tgtEl>
                                        <p:attrNameLst>
                                          <p:attrName>ppt_x</p:attrName>
                                        </p:attrNameLst>
                                      </p:cBhvr>
                                      <p:tavLst>
                                        <p:tav tm="0">
                                          <p:val>
                                            <p:strVal val="#ppt_x"/>
                                          </p:val>
                                        </p:tav>
                                        <p:tav tm="100000">
                                          <p:val>
                                            <p:strVal val="#ppt_x"/>
                                          </p:val>
                                        </p:tav>
                                      </p:tavLst>
                                    </p:anim>
                                    <p:anim calcmode="lin" valueType="num">
                                      <p:cBhvr>
                                        <p:cTn id="79" dur="5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500"/>
                                        <p:tgtEl>
                                          <p:spTgt spid="26"/>
                                        </p:tgtEl>
                                      </p:cBhvr>
                                    </p:animEffect>
                                    <p:anim calcmode="lin" valueType="num">
                                      <p:cBhvr>
                                        <p:cTn id="85" dur="500" fill="hold"/>
                                        <p:tgtEl>
                                          <p:spTgt spid="26"/>
                                        </p:tgtEl>
                                        <p:attrNameLst>
                                          <p:attrName>ppt_x</p:attrName>
                                        </p:attrNameLst>
                                      </p:cBhvr>
                                      <p:tavLst>
                                        <p:tav tm="0">
                                          <p:val>
                                            <p:strVal val="#ppt_x"/>
                                          </p:val>
                                        </p:tav>
                                        <p:tav tm="100000">
                                          <p:val>
                                            <p:strVal val="#ppt_x"/>
                                          </p:val>
                                        </p:tav>
                                      </p:tavLst>
                                    </p:anim>
                                    <p:anim calcmode="lin" valueType="num">
                                      <p:cBhvr>
                                        <p:cTn id="86" dur="500" fill="hold"/>
                                        <p:tgtEl>
                                          <p:spTgt spid="26"/>
                                        </p:tgtEl>
                                        <p:attrNameLst>
                                          <p:attrName>ppt_y</p:attrName>
                                        </p:attrNameLst>
                                      </p:cBhvr>
                                      <p:tavLst>
                                        <p:tav tm="0">
                                          <p:val>
                                            <p:strVal val="#ppt_y+.1"/>
                                          </p:val>
                                        </p:tav>
                                        <p:tav tm="100000">
                                          <p:val>
                                            <p:strVal val="#ppt_y"/>
                                          </p:val>
                                        </p:tav>
                                      </p:tavLst>
                                    </p:anim>
                                  </p:childTnLst>
                                </p:cTn>
                              </p:par>
                              <p:par>
                                <p:cTn id="87" presetID="42" presetClass="entr" presetSubtype="0" fill="hold" nodeType="withEffect">
                                  <p:stCondLst>
                                    <p:cond delay="0"/>
                                  </p:stCondLst>
                                  <p:childTnLst>
                                    <p:set>
                                      <p:cBhvr>
                                        <p:cTn id="88" dur="1" fill="hold">
                                          <p:stCondLst>
                                            <p:cond delay="0"/>
                                          </p:stCondLst>
                                        </p:cTn>
                                        <p:tgtEl>
                                          <p:spTgt spid="27"/>
                                        </p:tgtEl>
                                        <p:attrNameLst>
                                          <p:attrName>style.visibility</p:attrName>
                                        </p:attrNameLst>
                                      </p:cBhvr>
                                      <p:to>
                                        <p:strVal val="visible"/>
                                      </p:to>
                                    </p:set>
                                    <p:animEffect transition="in" filter="fade">
                                      <p:cBhvr>
                                        <p:cTn id="89" dur="500"/>
                                        <p:tgtEl>
                                          <p:spTgt spid="27"/>
                                        </p:tgtEl>
                                      </p:cBhvr>
                                    </p:animEffect>
                                    <p:anim calcmode="lin" valueType="num">
                                      <p:cBhvr>
                                        <p:cTn id="90" dur="500" fill="hold"/>
                                        <p:tgtEl>
                                          <p:spTgt spid="27"/>
                                        </p:tgtEl>
                                        <p:attrNameLst>
                                          <p:attrName>ppt_x</p:attrName>
                                        </p:attrNameLst>
                                      </p:cBhvr>
                                      <p:tavLst>
                                        <p:tav tm="0">
                                          <p:val>
                                            <p:strVal val="#ppt_x"/>
                                          </p:val>
                                        </p:tav>
                                        <p:tav tm="100000">
                                          <p:val>
                                            <p:strVal val="#ppt_x"/>
                                          </p:val>
                                        </p:tav>
                                      </p:tavLst>
                                    </p:anim>
                                    <p:anim calcmode="lin" valueType="num">
                                      <p:cBhvr>
                                        <p:cTn id="91" dur="500" fill="hold"/>
                                        <p:tgtEl>
                                          <p:spTgt spid="27"/>
                                        </p:tgtEl>
                                        <p:attrNameLst>
                                          <p:attrName>ppt_y</p:attrName>
                                        </p:attrNameLst>
                                      </p:cBhvr>
                                      <p:tavLst>
                                        <p:tav tm="0">
                                          <p:val>
                                            <p:strVal val="#ppt_y+.1"/>
                                          </p:val>
                                        </p:tav>
                                        <p:tav tm="100000">
                                          <p:val>
                                            <p:strVal val="#ppt_y"/>
                                          </p:val>
                                        </p:tav>
                                      </p:tavLst>
                                    </p:anim>
                                  </p:childTnLst>
                                </p:cTn>
                              </p:par>
                              <p:par>
                                <p:cTn id="92" presetID="42" presetClass="entr" presetSubtype="0" fill="hold" nodeType="withEffect">
                                  <p:stCondLst>
                                    <p:cond delay="0"/>
                                  </p:stCondLst>
                                  <p:childTnLst>
                                    <p:set>
                                      <p:cBhvr>
                                        <p:cTn id="93" dur="1" fill="hold">
                                          <p:stCondLst>
                                            <p:cond delay="0"/>
                                          </p:stCondLst>
                                        </p:cTn>
                                        <p:tgtEl>
                                          <p:spTgt spid="28"/>
                                        </p:tgtEl>
                                        <p:attrNameLst>
                                          <p:attrName>style.visibility</p:attrName>
                                        </p:attrNameLst>
                                      </p:cBhvr>
                                      <p:to>
                                        <p:strVal val="visible"/>
                                      </p:to>
                                    </p:set>
                                    <p:animEffect transition="in" filter="fade">
                                      <p:cBhvr>
                                        <p:cTn id="94" dur="500"/>
                                        <p:tgtEl>
                                          <p:spTgt spid="28"/>
                                        </p:tgtEl>
                                      </p:cBhvr>
                                    </p:animEffect>
                                    <p:anim calcmode="lin" valueType="num">
                                      <p:cBhvr>
                                        <p:cTn id="95" dur="500" fill="hold"/>
                                        <p:tgtEl>
                                          <p:spTgt spid="28"/>
                                        </p:tgtEl>
                                        <p:attrNameLst>
                                          <p:attrName>ppt_x</p:attrName>
                                        </p:attrNameLst>
                                      </p:cBhvr>
                                      <p:tavLst>
                                        <p:tav tm="0">
                                          <p:val>
                                            <p:strVal val="#ppt_x"/>
                                          </p:val>
                                        </p:tav>
                                        <p:tav tm="100000">
                                          <p:val>
                                            <p:strVal val="#ppt_x"/>
                                          </p:val>
                                        </p:tav>
                                      </p:tavLst>
                                    </p:anim>
                                    <p:anim calcmode="lin" valueType="num">
                                      <p:cBhvr>
                                        <p:cTn id="96" dur="500" fill="hold"/>
                                        <p:tgtEl>
                                          <p:spTgt spid="28"/>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29"/>
                                        </p:tgtEl>
                                        <p:attrNameLst>
                                          <p:attrName>style.visibility</p:attrName>
                                        </p:attrNameLst>
                                      </p:cBhvr>
                                      <p:to>
                                        <p:strVal val="visible"/>
                                      </p:to>
                                    </p:set>
                                    <p:animEffect transition="in" filter="fade">
                                      <p:cBhvr>
                                        <p:cTn id="99" dur="500"/>
                                        <p:tgtEl>
                                          <p:spTgt spid="29"/>
                                        </p:tgtEl>
                                      </p:cBhvr>
                                    </p:animEffect>
                                    <p:anim calcmode="lin" valueType="num">
                                      <p:cBhvr>
                                        <p:cTn id="100" dur="500" fill="hold"/>
                                        <p:tgtEl>
                                          <p:spTgt spid="29"/>
                                        </p:tgtEl>
                                        <p:attrNameLst>
                                          <p:attrName>ppt_x</p:attrName>
                                        </p:attrNameLst>
                                      </p:cBhvr>
                                      <p:tavLst>
                                        <p:tav tm="0">
                                          <p:val>
                                            <p:strVal val="#ppt_x"/>
                                          </p:val>
                                        </p:tav>
                                        <p:tav tm="100000">
                                          <p:val>
                                            <p:strVal val="#ppt_x"/>
                                          </p:val>
                                        </p:tav>
                                      </p:tavLst>
                                    </p:anim>
                                    <p:anim calcmode="lin" valueType="num">
                                      <p:cBhvr>
                                        <p:cTn id="101" dur="500" fill="hold"/>
                                        <p:tgtEl>
                                          <p:spTgt spid="29"/>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30"/>
                                        </p:tgtEl>
                                        <p:attrNameLst>
                                          <p:attrName>style.visibility</p:attrName>
                                        </p:attrNameLst>
                                      </p:cBhvr>
                                      <p:to>
                                        <p:strVal val="visible"/>
                                      </p:to>
                                    </p:set>
                                    <p:animEffect transition="in" filter="fade">
                                      <p:cBhvr>
                                        <p:cTn id="104" dur="500"/>
                                        <p:tgtEl>
                                          <p:spTgt spid="30"/>
                                        </p:tgtEl>
                                      </p:cBhvr>
                                    </p:animEffect>
                                    <p:anim calcmode="lin" valueType="num">
                                      <p:cBhvr>
                                        <p:cTn id="105" dur="500" fill="hold"/>
                                        <p:tgtEl>
                                          <p:spTgt spid="30"/>
                                        </p:tgtEl>
                                        <p:attrNameLst>
                                          <p:attrName>ppt_x</p:attrName>
                                        </p:attrNameLst>
                                      </p:cBhvr>
                                      <p:tavLst>
                                        <p:tav tm="0">
                                          <p:val>
                                            <p:strVal val="#ppt_x"/>
                                          </p:val>
                                        </p:tav>
                                        <p:tav tm="100000">
                                          <p:val>
                                            <p:strVal val="#ppt_x"/>
                                          </p:val>
                                        </p:tav>
                                      </p:tavLst>
                                    </p:anim>
                                    <p:anim calcmode="lin" valueType="num">
                                      <p:cBhvr>
                                        <p:cTn id="106" dur="500" fill="hold"/>
                                        <p:tgtEl>
                                          <p:spTgt spid="30"/>
                                        </p:tgtEl>
                                        <p:attrNameLst>
                                          <p:attrName>ppt_y</p:attrName>
                                        </p:attrNameLst>
                                      </p:cBhvr>
                                      <p:tavLst>
                                        <p:tav tm="0">
                                          <p:val>
                                            <p:strVal val="#ppt_y+.1"/>
                                          </p:val>
                                        </p:tav>
                                        <p:tav tm="100000">
                                          <p:val>
                                            <p:strVal val="#ppt_y"/>
                                          </p:val>
                                        </p:tav>
                                      </p:tavLst>
                                    </p:anim>
                                  </p:childTnLst>
                                </p:cTn>
                              </p:par>
                              <p:par>
                                <p:cTn id="107" presetID="42" presetClass="entr" presetSubtype="0" fill="hold" nodeType="withEffect">
                                  <p:stCondLst>
                                    <p:cond delay="120"/>
                                  </p:stCondLst>
                                  <p:childTnLst>
                                    <p:set>
                                      <p:cBhvr>
                                        <p:cTn id="108" dur="1" fill="hold">
                                          <p:stCondLst>
                                            <p:cond delay="0"/>
                                          </p:stCondLst>
                                        </p:cTn>
                                        <p:tgtEl>
                                          <p:spTgt spid="31"/>
                                        </p:tgtEl>
                                        <p:attrNameLst>
                                          <p:attrName>style.visibility</p:attrName>
                                        </p:attrNameLst>
                                      </p:cBhvr>
                                      <p:to>
                                        <p:strVal val="visible"/>
                                      </p:to>
                                    </p:set>
                                    <p:animEffect transition="in" filter="fade">
                                      <p:cBhvr>
                                        <p:cTn id="109" dur="500"/>
                                        <p:tgtEl>
                                          <p:spTgt spid="31"/>
                                        </p:tgtEl>
                                      </p:cBhvr>
                                    </p:animEffect>
                                    <p:anim calcmode="lin" valueType="num">
                                      <p:cBhvr>
                                        <p:cTn id="110" dur="500" fill="hold"/>
                                        <p:tgtEl>
                                          <p:spTgt spid="31"/>
                                        </p:tgtEl>
                                        <p:attrNameLst>
                                          <p:attrName>ppt_x</p:attrName>
                                        </p:attrNameLst>
                                      </p:cBhvr>
                                      <p:tavLst>
                                        <p:tav tm="0">
                                          <p:val>
                                            <p:strVal val="#ppt_x"/>
                                          </p:val>
                                        </p:tav>
                                        <p:tav tm="100000">
                                          <p:val>
                                            <p:strVal val="#ppt_x"/>
                                          </p:val>
                                        </p:tav>
                                      </p:tavLst>
                                    </p:anim>
                                    <p:anim calcmode="lin" valueType="num">
                                      <p:cBhvr>
                                        <p:cTn id="111" dur="500" fill="hold"/>
                                        <p:tgtEl>
                                          <p:spTgt spid="31"/>
                                        </p:tgtEl>
                                        <p:attrNameLst>
                                          <p:attrName>ppt_y</p:attrName>
                                        </p:attrNameLst>
                                      </p:cBhvr>
                                      <p:tavLst>
                                        <p:tav tm="0">
                                          <p:val>
                                            <p:strVal val="#ppt_y+.1"/>
                                          </p:val>
                                        </p:tav>
                                        <p:tav tm="100000">
                                          <p:val>
                                            <p:strVal val="#ppt_y"/>
                                          </p:val>
                                        </p:tav>
                                      </p:tavLst>
                                    </p:anim>
                                  </p:childTnLst>
                                </p:cTn>
                              </p:par>
                              <p:par>
                                <p:cTn id="112" presetID="42" presetClass="entr" presetSubtype="0" fill="hold" nodeType="withEffect">
                                  <p:stCondLst>
                                    <p:cond delay="120"/>
                                  </p:stCondLst>
                                  <p:childTnLst>
                                    <p:set>
                                      <p:cBhvr>
                                        <p:cTn id="113" dur="1" fill="hold">
                                          <p:stCondLst>
                                            <p:cond delay="0"/>
                                          </p:stCondLst>
                                        </p:cTn>
                                        <p:tgtEl>
                                          <p:spTgt spid="32"/>
                                        </p:tgtEl>
                                        <p:attrNameLst>
                                          <p:attrName>style.visibility</p:attrName>
                                        </p:attrNameLst>
                                      </p:cBhvr>
                                      <p:to>
                                        <p:strVal val="visible"/>
                                      </p:to>
                                    </p:set>
                                    <p:animEffect transition="in" filter="fade">
                                      <p:cBhvr>
                                        <p:cTn id="114" dur="500"/>
                                        <p:tgtEl>
                                          <p:spTgt spid="32"/>
                                        </p:tgtEl>
                                      </p:cBhvr>
                                    </p:animEffect>
                                    <p:anim calcmode="lin" valueType="num">
                                      <p:cBhvr>
                                        <p:cTn id="115" dur="500" fill="hold"/>
                                        <p:tgtEl>
                                          <p:spTgt spid="32"/>
                                        </p:tgtEl>
                                        <p:attrNameLst>
                                          <p:attrName>ppt_x</p:attrName>
                                        </p:attrNameLst>
                                      </p:cBhvr>
                                      <p:tavLst>
                                        <p:tav tm="0">
                                          <p:val>
                                            <p:strVal val="#ppt_x"/>
                                          </p:val>
                                        </p:tav>
                                        <p:tav tm="100000">
                                          <p:val>
                                            <p:strVal val="#ppt_x"/>
                                          </p:val>
                                        </p:tav>
                                      </p:tavLst>
                                    </p:anim>
                                    <p:anim calcmode="lin" valueType="num">
                                      <p:cBhvr>
                                        <p:cTn id="116" dur="500" fill="hold"/>
                                        <p:tgtEl>
                                          <p:spTgt spid="32"/>
                                        </p:tgtEl>
                                        <p:attrNameLst>
                                          <p:attrName>ppt_y</p:attrName>
                                        </p:attrNameLst>
                                      </p:cBhvr>
                                      <p:tavLst>
                                        <p:tav tm="0">
                                          <p:val>
                                            <p:strVal val="#ppt_y+.1"/>
                                          </p:val>
                                        </p:tav>
                                        <p:tav tm="100000">
                                          <p:val>
                                            <p:strVal val="#ppt_y"/>
                                          </p:val>
                                        </p:tav>
                                      </p:tavLst>
                                    </p:anim>
                                  </p:childTnLst>
                                </p:cTn>
                              </p:par>
                              <p:par>
                                <p:cTn id="117" presetID="42" presetClass="entr" presetSubtype="0" fill="hold" nodeType="withEffect">
                                  <p:stCondLst>
                                    <p:cond delay="120"/>
                                  </p:stCondLst>
                                  <p:childTnLst>
                                    <p:set>
                                      <p:cBhvr>
                                        <p:cTn id="118" dur="1" fill="hold">
                                          <p:stCondLst>
                                            <p:cond delay="0"/>
                                          </p:stCondLst>
                                        </p:cTn>
                                        <p:tgtEl>
                                          <p:spTgt spid="33"/>
                                        </p:tgtEl>
                                        <p:attrNameLst>
                                          <p:attrName>style.visibility</p:attrName>
                                        </p:attrNameLst>
                                      </p:cBhvr>
                                      <p:to>
                                        <p:strVal val="visible"/>
                                      </p:to>
                                    </p:set>
                                    <p:animEffect transition="in" filter="fade">
                                      <p:cBhvr>
                                        <p:cTn id="119" dur="500"/>
                                        <p:tgtEl>
                                          <p:spTgt spid="33"/>
                                        </p:tgtEl>
                                      </p:cBhvr>
                                    </p:animEffect>
                                    <p:anim calcmode="lin" valueType="num">
                                      <p:cBhvr>
                                        <p:cTn id="120" dur="500" fill="hold"/>
                                        <p:tgtEl>
                                          <p:spTgt spid="33"/>
                                        </p:tgtEl>
                                        <p:attrNameLst>
                                          <p:attrName>ppt_x</p:attrName>
                                        </p:attrNameLst>
                                      </p:cBhvr>
                                      <p:tavLst>
                                        <p:tav tm="0">
                                          <p:val>
                                            <p:strVal val="#ppt_x"/>
                                          </p:val>
                                        </p:tav>
                                        <p:tav tm="100000">
                                          <p:val>
                                            <p:strVal val="#ppt_x"/>
                                          </p:val>
                                        </p:tav>
                                      </p:tavLst>
                                    </p:anim>
                                    <p:anim calcmode="lin" valueType="num">
                                      <p:cBhvr>
                                        <p:cTn id="121" dur="500" fill="hold"/>
                                        <p:tgtEl>
                                          <p:spTgt spid="33"/>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120"/>
                                  </p:stCondLst>
                                  <p:childTnLst>
                                    <p:set>
                                      <p:cBhvr>
                                        <p:cTn id="123" dur="1" fill="hold">
                                          <p:stCondLst>
                                            <p:cond delay="0"/>
                                          </p:stCondLst>
                                        </p:cTn>
                                        <p:tgtEl>
                                          <p:spTgt spid="34"/>
                                        </p:tgtEl>
                                        <p:attrNameLst>
                                          <p:attrName>style.visibility</p:attrName>
                                        </p:attrNameLst>
                                      </p:cBhvr>
                                      <p:to>
                                        <p:strVal val="visible"/>
                                      </p:to>
                                    </p:set>
                                    <p:animEffect transition="in" filter="fade">
                                      <p:cBhvr>
                                        <p:cTn id="124" dur="500"/>
                                        <p:tgtEl>
                                          <p:spTgt spid="34"/>
                                        </p:tgtEl>
                                      </p:cBhvr>
                                    </p:animEffect>
                                    <p:anim calcmode="lin" valueType="num">
                                      <p:cBhvr>
                                        <p:cTn id="125" dur="500" fill="hold"/>
                                        <p:tgtEl>
                                          <p:spTgt spid="34"/>
                                        </p:tgtEl>
                                        <p:attrNameLst>
                                          <p:attrName>ppt_x</p:attrName>
                                        </p:attrNameLst>
                                      </p:cBhvr>
                                      <p:tavLst>
                                        <p:tav tm="0">
                                          <p:val>
                                            <p:strVal val="#ppt_x"/>
                                          </p:val>
                                        </p:tav>
                                        <p:tav tm="100000">
                                          <p:val>
                                            <p:strVal val="#ppt_x"/>
                                          </p:val>
                                        </p:tav>
                                      </p:tavLst>
                                    </p:anim>
                                    <p:anim calcmode="lin" valueType="num">
                                      <p:cBhvr>
                                        <p:cTn id="126" dur="500" fill="hold"/>
                                        <p:tgtEl>
                                          <p:spTgt spid="34"/>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120"/>
                                  </p:stCondLst>
                                  <p:childTnLst>
                                    <p:set>
                                      <p:cBhvr>
                                        <p:cTn id="128" dur="1" fill="hold">
                                          <p:stCondLst>
                                            <p:cond delay="0"/>
                                          </p:stCondLst>
                                        </p:cTn>
                                        <p:tgtEl>
                                          <p:spTgt spid="35"/>
                                        </p:tgtEl>
                                        <p:attrNameLst>
                                          <p:attrName>style.visibility</p:attrName>
                                        </p:attrNameLst>
                                      </p:cBhvr>
                                      <p:to>
                                        <p:strVal val="visible"/>
                                      </p:to>
                                    </p:set>
                                    <p:animEffect transition="in" filter="fade">
                                      <p:cBhvr>
                                        <p:cTn id="129" dur="500"/>
                                        <p:tgtEl>
                                          <p:spTgt spid="35"/>
                                        </p:tgtEl>
                                      </p:cBhvr>
                                    </p:animEffect>
                                    <p:anim calcmode="lin" valueType="num">
                                      <p:cBhvr>
                                        <p:cTn id="130" dur="500" fill="hold"/>
                                        <p:tgtEl>
                                          <p:spTgt spid="35"/>
                                        </p:tgtEl>
                                        <p:attrNameLst>
                                          <p:attrName>ppt_x</p:attrName>
                                        </p:attrNameLst>
                                      </p:cBhvr>
                                      <p:tavLst>
                                        <p:tav tm="0">
                                          <p:val>
                                            <p:strVal val="#ppt_x"/>
                                          </p:val>
                                        </p:tav>
                                        <p:tav tm="100000">
                                          <p:val>
                                            <p:strVal val="#ppt_x"/>
                                          </p:val>
                                        </p:tav>
                                      </p:tavLst>
                                    </p:anim>
                                    <p:anim calcmode="lin" valueType="num">
                                      <p:cBhvr>
                                        <p:cTn id="131" dur="500" fill="hold"/>
                                        <p:tgtEl>
                                          <p:spTgt spid="35"/>
                                        </p:tgtEl>
                                        <p:attrNameLst>
                                          <p:attrName>ppt_y</p:attrName>
                                        </p:attrNameLst>
                                      </p:cBhvr>
                                      <p:tavLst>
                                        <p:tav tm="0">
                                          <p:val>
                                            <p:strVal val="#ppt_y+.1"/>
                                          </p:val>
                                        </p:tav>
                                        <p:tav tm="100000">
                                          <p:val>
                                            <p:strVal val="#ppt_y"/>
                                          </p:val>
                                        </p:tav>
                                      </p:tavLst>
                                    </p:anim>
                                  </p:childTnLst>
                                </p:cTn>
                              </p:par>
                              <p:par>
                                <p:cTn id="132" presetID="42" presetClass="entr" presetSubtype="0" fill="hold" nodeType="withEffect">
                                  <p:stCondLst>
                                    <p:cond delay="240"/>
                                  </p:stCondLst>
                                  <p:childTnLst>
                                    <p:set>
                                      <p:cBhvr>
                                        <p:cTn id="133" dur="1" fill="hold">
                                          <p:stCondLst>
                                            <p:cond delay="0"/>
                                          </p:stCondLst>
                                        </p:cTn>
                                        <p:tgtEl>
                                          <p:spTgt spid="36"/>
                                        </p:tgtEl>
                                        <p:attrNameLst>
                                          <p:attrName>style.visibility</p:attrName>
                                        </p:attrNameLst>
                                      </p:cBhvr>
                                      <p:to>
                                        <p:strVal val="visible"/>
                                      </p:to>
                                    </p:set>
                                    <p:animEffect transition="in" filter="fade">
                                      <p:cBhvr>
                                        <p:cTn id="134" dur="500"/>
                                        <p:tgtEl>
                                          <p:spTgt spid="36"/>
                                        </p:tgtEl>
                                      </p:cBhvr>
                                    </p:animEffect>
                                    <p:anim calcmode="lin" valueType="num">
                                      <p:cBhvr>
                                        <p:cTn id="135" dur="500" fill="hold"/>
                                        <p:tgtEl>
                                          <p:spTgt spid="36"/>
                                        </p:tgtEl>
                                        <p:attrNameLst>
                                          <p:attrName>ppt_x</p:attrName>
                                        </p:attrNameLst>
                                      </p:cBhvr>
                                      <p:tavLst>
                                        <p:tav tm="0">
                                          <p:val>
                                            <p:strVal val="#ppt_x"/>
                                          </p:val>
                                        </p:tav>
                                        <p:tav tm="100000">
                                          <p:val>
                                            <p:strVal val="#ppt_x"/>
                                          </p:val>
                                        </p:tav>
                                      </p:tavLst>
                                    </p:anim>
                                    <p:anim calcmode="lin" valueType="num">
                                      <p:cBhvr>
                                        <p:cTn id="136" dur="500" fill="hold"/>
                                        <p:tgtEl>
                                          <p:spTgt spid="36"/>
                                        </p:tgtEl>
                                        <p:attrNameLst>
                                          <p:attrName>ppt_y</p:attrName>
                                        </p:attrNameLst>
                                      </p:cBhvr>
                                      <p:tavLst>
                                        <p:tav tm="0">
                                          <p:val>
                                            <p:strVal val="#ppt_y+.1"/>
                                          </p:val>
                                        </p:tav>
                                        <p:tav tm="100000">
                                          <p:val>
                                            <p:strVal val="#ppt_y"/>
                                          </p:val>
                                        </p:tav>
                                      </p:tavLst>
                                    </p:anim>
                                  </p:childTnLst>
                                </p:cTn>
                              </p:par>
                              <p:par>
                                <p:cTn id="137" presetID="42" presetClass="entr" presetSubtype="0" fill="hold" nodeType="withEffect">
                                  <p:stCondLst>
                                    <p:cond delay="240"/>
                                  </p:stCondLst>
                                  <p:childTnLst>
                                    <p:set>
                                      <p:cBhvr>
                                        <p:cTn id="138" dur="1" fill="hold">
                                          <p:stCondLst>
                                            <p:cond delay="0"/>
                                          </p:stCondLst>
                                        </p:cTn>
                                        <p:tgtEl>
                                          <p:spTgt spid="37"/>
                                        </p:tgtEl>
                                        <p:attrNameLst>
                                          <p:attrName>style.visibility</p:attrName>
                                        </p:attrNameLst>
                                      </p:cBhvr>
                                      <p:to>
                                        <p:strVal val="visible"/>
                                      </p:to>
                                    </p:set>
                                    <p:animEffect transition="in" filter="fade">
                                      <p:cBhvr>
                                        <p:cTn id="139" dur="500"/>
                                        <p:tgtEl>
                                          <p:spTgt spid="37"/>
                                        </p:tgtEl>
                                      </p:cBhvr>
                                    </p:animEffect>
                                    <p:anim calcmode="lin" valueType="num">
                                      <p:cBhvr>
                                        <p:cTn id="140" dur="500" fill="hold"/>
                                        <p:tgtEl>
                                          <p:spTgt spid="37"/>
                                        </p:tgtEl>
                                        <p:attrNameLst>
                                          <p:attrName>ppt_x</p:attrName>
                                        </p:attrNameLst>
                                      </p:cBhvr>
                                      <p:tavLst>
                                        <p:tav tm="0">
                                          <p:val>
                                            <p:strVal val="#ppt_x"/>
                                          </p:val>
                                        </p:tav>
                                        <p:tav tm="100000">
                                          <p:val>
                                            <p:strVal val="#ppt_x"/>
                                          </p:val>
                                        </p:tav>
                                      </p:tavLst>
                                    </p:anim>
                                    <p:anim calcmode="lin" valueType="num">
                                      <p:cBhvr>
                                        <p:cTn id="141" dur="500" fill="hold"/>
                                        <p:tgtEl>
                                          <p:spTgt spid="37"/>
                                        </p:tgtEl>
                                        <p:attrNameLst>
                                          <p:attrName>ppt_y</p:attrName>
                                        </p:attrNameLst>
                                      </p:cBhvr>
                                      <p:tavLst>
                                        <p:tav tm="0">
                                          <p:val>
                                            <p:strVal val="#ppt_y+.1"/>
                                          </p:val>
                                        </p:tav>
                                        <p:tav tm="100000">
                                          <p:val>
                                            <p:strVal val="#ppt_y"/>
                                          </p:val>
                                        </p:tav>
                                      </p:tavLst>
                                    </p:anim>
                                  </p:childTnLst>
                                </p:cTn>
                              </p:par>
                              <p:par>
                                <p:cTn id="142" presetID="42" presetClass="entr" presetSubtype="0" fill="hold" nodeType="withEffect">
                                  <p:stCondLst>
                                    <p:cond delay="240"/>
                                  </p:stCondLst>
                                  <p:childTnLst>
                                    <p:set>
                                      <p:cBhvr>
                                        <p:cTn id="143" dur="1" fill="hold">
                                          <p:stCondLst>
                                            <p:cond delay="0"/>
                                          </p:stCondLst>
                                        </p:cTn>
                                        <p:tgtEl>
                                          <p:spTgt spid="38"/>
                                        </p:tgtEl>
                                        <p:attrNameLst>
                                          <p:attrName>style.visibility</p:attrName>
                                        </p:attrNameLst>
                                      </p:cBhvr>
                                      <p:to>
                                        <p:strVal val="visible"/>
                                      </p:to>
                                    </p:set>
                                    <p:animEffect transition="in" filter="fade">
                                      <p:cBhvr>
                                        <p:cTn id="144" dur="500"/>
                                        <p:tgtEl>
                                          <p:spTgt spid="38"/>
                                        </p:tgtEl>
                                      </p:cBhvr>
                                    </p:animEffect>
                                    <p:anim calcmode="lin" valueType="num">
                                      <p:cBhvr>
                                        <p:cTn id="145" dur="500" fill="hold"/>
                                        <p:tgtEl>
                                          <p:spTgt spid="38"/>
                                        </p:tgtEl>
                                        <p:attrNameLst>
                                          <p:attrName>ppt_x</p:attrName>
                                        </p:attrNameLst>
                                      </p:cBhvr>
                                      <p:tavLst>
                                        <p:tav tm="0">
                                          <p:val>
                                            <p:strVal val="#ppt_x"/>
                                          </p:val>
                                        </p:tav>
                                        <p:tav tm="100000">
                                          <p:val>
                                            <p:strVal val="#ppt_x"/>
                                          </p:val>
                                        </p:tav>
                                      </p:tavLst>
                                    </p:anim>
                                    <p:anim calcmode="lin" valueType="num">
                                      <p:cBhvr>
                                        <p:cTn id="146" dur="500" fill="hold"/>
                                        <p:tgtEl>
                                          <p:spTgt spid="38"/>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240"/>
                                  </p:stCondLst>
                                  <p:childTnLst>
                                    <p:set>
                                      <p:cBhvr>
                                        <p:cTn id="148" dur="1" fill="hold">
                                          <p:stCondLst>
                                            <p:cond delay="0"/>
                                          </p:stCondLst>
                                        </p:cTn>
                                        <p:tgtEl>
                                          <p:spTgt spid="39"/>
                                        </p:tgtEl>
                                        <p:attrNameLst>
                                          <p:attrName>style.visibility</p:attrName>
                                        </p:attrNameLst>
                                      </p:cBhvr>
                                      <p:to>
                                        <p:strVal val="visible"/>
                                      </p:to>
                                    </p:set>
                                    <p:animEffect transition="in" filter="fade">
                                      <p:cBhvr>
                                        <p:cTn id="149" dur="500"/>
                                        <p:tgtEl>
                                          <p:spTgt spid="39"/>
                                        </p:tgtEl>
                                      </p:cBhvr>
                                    </p:animEffect>
                                    <p:anim calcmode="lin" valueType="num">
                                      <p:cBhvr>
                                        <p:cTn id="150" dur="500" fill="hold"/>
                                        <p:tgtEl>
                                          <p:spTgt spid="39"/>
                                        </p:tgtEl>
                                        <p:attrNameLst>
                                          <p:attrName>ppt_x</p:attrName>
                                        </p:attrNameLst>
                                      </p:cBhvr>
                                      <p:tavLst>
                                        <p:tav tm="0">
                                          <p:val>
                                            <p:strVal val="#ppt_x"/>
                                          </p:val>
                                        </p:tav>
                                        <p:tav tm="100000">
                                          <p:val>
                                            <p:strVal val="#ppt_x"/>
                                          </p:val>
                                        </p:tav>
                                      </p:tavLst>
                                    </p:anim>
                                    <p:anim calcmode="lin" valueType="num">
                                      <p:cBhvr>
                                        <p:cTn id="151" dur="500" fill="hold"/>
                                        <p:tgtEl>
                                          <p:spTgt spid="39"/>
                                        </p:tgtEl>
                                        <p:attrNameLst>
                                          <p:attrName>ppt_y</p:attrName>
                                        </p:attrNameLst>
                                      </p:cBhvr>
                                      <p:tavLst>
                                        <p:tav tm="0">
                                          <p:val>
                                            <p:strVal val="#ppt_y+.1"/>
                                          </p:val>
                                        </p:tav>
                                        <p:tav tm="100000">
                                          <p:val>
                                            <p:strVal val="#ppt_y"/>
                                          </p:val>
                                        </p:tav>
                                      </p:tavLst>
                                    </p:anim>
                                  </p:childTnLst>
                                </p:cTn>
                              </p:par>
                              <p:par>
                                <p:cTn id="152" presetID="42" presetClass="entr" presetSubtype="0" fill="hold" grpId="0" nodeType="withEffect">
                                  <p:stCondLst>
                                    <p:cond delay="24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00"/>
                                        <p:tgtEl>
                                          <p:spTgt spid="40"/>
                                        </p:tgtEl>
                                      </p:cBhvr>
                                    </p:animEffect>
                                    <p:anim calcmode="lin" valueType="num">
                                      <p:cBhvr>
                                        <p:cTn id="155" dur="500" fill="hold"/>
                                        <p:tgtEl>
                                          <p:spTgt spid="40"/>
                                        </p:tgtEl>
                                        <p:attrNameLst>
                                          <p:attrName>ppt_x</p:attrName>
                                        </p:attrNameLst>
                                      </p:cBhvr>
                                      <p:tavLst>
                                        <p:tav tm="0">
                                          <p:val>
                                            <p:strVal val="#ppt_x"/>
                                          </p:val>
                                        </p:tav>
                                        <p:tav tm="100000">
                                          <p:val>
                                            <p:strVal val="#ppt_x"/>
                                          </p:val>
                                        </p:tav>
                                      </p:tavLst>
                                    </p:anim>
                                    <p:anim calcmode="lin" valueType="num">
                                      <p:cBhvr>
                                        <p:cTn id="156" dur="5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9" grpId="0" animBg="1"/>
      <p:bldP spid="20" grpId="0" animBg="1"/>
      <p:bldP spid="24" grpId="0" animBg="1"/>
      <p:bldP spid="25" grpId="0" animBg="1"/>
      <p:bldP spid="29" grpId="0" animBg="1"/>
      <p:bldP spid="30" grpId="0" animBg="1"/>
      <p:bldP spid="34" grpId="0" animBg="1"/>
      <p:bldP spid="35" grpId="0" animBg="1"/>
      <p:bldP spid="39" grpId="0" animBg="1"/>
      <p:bldP spid="4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8F4"/>
        </a:solidFill>
        <a:effectLst/>
      </p:bgPr>
    </p:bg>
    <p:spTree>
      <p:nvGrpSpPr>
        <p:cNvPr id="1" name=""/>
        <p:cNvGrpSpPr/>
        <p:nvPr/>
      </p:nvGrpSpPr>
      <p:grpSpPr>
        <a:xfrm>
          <a:off x="0" y="0"/>
          <a:ext cx="0" cy="0"/>
          <a:chOff x="0" y="0"/>
          <a:chExt cx="0" cy="0"/>
        </a:xfrm>
      </p:grpSpPr>
      <p:sp>
        <p:nvSpPr>
          <p:cNvPr id="2" name="!!TopBar"/>
          <p:cNvSpPr/>
          <p:nvPr/>
        </p:nvSpPr>
        <p:spPr>
          <a:xfrm>
            <a:off x="0" y="0"/>
            <a:ext cx="12191695" cy="91440"/>
          </a:xfrm>
          <a:prstGeom prst="rect">
            <a:avLst/>
          </a:prstGeom>
          <a:solidFill>
            <a:srgbClr val="12201B"/>
          </a:solidFill>
          <a:ln/>
        </p:spPr>
      </p:sp>
      <p:sp>
        <p:nvSpPr>
          <p:cNvPr id="3" name="!!LogoBg"/>
          <p:cNvSpPr/>
          <p:nvPr/>
        </p:nvSpPr>
        <p:spPr>
          <a:xfrm>
            <a:off x="11256264" y="274320"/>
            <a:ext cx="402336" cy="402336"/>
          </a:xfrm>
          <a:prstGeom prst="ellipse">
            <a:avLst/>
          </a:prstGeom>
          <a:solidFill>
            <a:srgbClr val="FFFFFF"/>
          </a:solidFill>
          <a:ln/>
        </p:spPr>
      </p:sp>
      <p:pic>
        <p:nvPicPr>
          <p:cNvPr id="4" name="!!Logo" descr="Logo Trường Đại học Trà Vinh"/>
          <p:cNvPicPr>
            <a:picLocks noChangeAspect="1"/>
          </p:cNvPicPr>
          <p:nvPr/>
        </p:nvPicPr>
        <p:blipFill>
          <a:blip r:embed="rId3"/>
          <a:stretch>
            <a:fillRect/>
          </a:stretch>
        </p:blipFill>
        <p:spPr>
          <a:xfrm>
            <a:off x="11269980" y="288036"/>
            <a:ext cx="374904" cy="374904"/>
          </a:xfrm>
          <a:prstGeom prst="rect">
            <a:avLst/>
          </a:prstGeom>
        </p:spPr>
      </p:pic>
      <p:sp>
        <p:nvSpPr>
          <p:cNvPr id="5" name="!!Label"/>
          <p:cNvSpPr txBox="1"/>
          <p:nvPr/>
        </p:nvSpPr>
        <p:spPr>
          <a:xfrm>
            <a:off x="8138160" y="365760"/>
            <a:ext cx="2971800" cy="274320"/>
          </a:xfrm>
          <a:prstGeom prst="rect">
            <a:avLst/>
          </a:prstGeom>
          <a:noFill/>
          <a:ln/>
        </p:spPr>
        <p:txBody>
          <a:bodyPr wrap="square" lIns="0" tIns="0" rIns="0" bIns="0" rtlCol="0" anchor="t"/>
          <a:lstStyle/>
          <a:p>
            <a:pPr marL="0" indent="0" algn="r">
              <a:buNone/>
            </a:pPr>
            <a:r>
              <a:rPr lang="en-US" sz="1000" b="1" kern="0" spc="150" dirty="0">
                <a:solidFill>
                  <a:srgbClr val="43705F"/>
                </a:solidFill>
                <a:latin typeface="Segoe UI" pitchFamily="34" charset="0"/>
                <a:ea typeface="Segoe UI" pitchFamily="34" charset="-122"/>
                <a:cs typeface="Segoe UI" pitchFamily="34" charset="-120"/>
              </a:rPr>
              <a:t>CHỨC NĂNG</a:t>
            </a:r>
            <a:endParaRPr lang="en-US" sz="1000" dirty="0"/>
          </a:p>
        </p:txBody>
      </p:sp>
      <p:sp>
        <p:nvSpPr>
          <p:cNvPr id="6" name="!!Title"/>
          <p:cNvSpPr txBox="1"/>
          <p:nvPr/>
        </p:nvSpPr>
        <p:spPr>
          <a:xfrm>
            <a:off x="548640" y="329184"/>
            <a:ext cx="8138160" cy="548640"/>
          </a:xfrm>
          <a:prstGeom prst="rect">
            <a:avLst/>
          </a:prstGeom>
          <a:noFill/>
          <a:ln/>
        </p:spPr>
        <p:txBody>
          <a:bodyPr wrap="square" lIns="0" tIns="0" rIns="0" bIns="0" rtlCol="0" anchor="t"/>
          <a:lstStyle/>
          <a:p>
            <a:pPr marL="0" indent="0">
              <a:buNone/>
            </a:pPr>
            <a:r>
              <a:rPr lang="en-US" sz="2800" b="1" dirty="0">
                <a:solidFill>
                  <a:srgbClr val="1C2B25"/>
                </a:solidFill>
                <a:latin typeface="Cambria" pitchFamily="34" charset="0"/>
                <a:ea typeface="Cambria" pitchFamily="34" charset="-122"/>
                <a:cs typeface="Cambria" pitchFamily="34" charset="-120"/>
              </a:rPr>
              <a:t>Chức năng và tác nhân</a:t>
            </a:r>
            <a:endParaRPr lang="en-US" sz="2800" dirty="0"/>
          </a:p>
        </p:txBody>
      </p:sp>
      <p:sp>
        <p:nvSpPr>
          <p:cNvPr id="7" name="!!Subtitle"/>
          <p:cNvSpPr txBox="1"/>
          <p:nvPr/>
        </p:nvSpPr>
        <p:spPr>
          <a:xfrm>
            <a:off x="548640" y="914400"/>
            <a:ext cx="10241280" cy="274320"/>
          </a:xfrm>
          <a:prstGeom prst="rect">
            <a:avLst/>
          </a:prstGeom>
          <a:noFill/>
          <a:ln/>
        </p:spPr>
        <p:txBody>
          <a:bodyPr wrap="square" lIns="0" tIns="0" rIns="0" bIns="0" rtlCol="0" anchor="t"/>
          <a:lstStyle/>
          <a:p>
            <a:pPr marL="0" indent="0">
              <a:buNone/>
            </a:pPr>
            <a:r>
              <a:rPr lang="en-US" sz="1250" dirty="0">
                <a:solidFill>
                  <a:srgbClr val="4E5B54"/>
                </a:solidFill>
                <a:latin typeface="Segoe UI" pitchFamily="34" charset="0"/>
                <a:ea typeface="Segoe UI" pitchFamily="34" charset="-122"/>
                <a:cs typeface="Segoe UI" pitchFamily="34" charset="-120"/>
              </a:rPr>
              <a:t>Khách tra cứu không cần đăng nhập, quản trị viên làm việc trên cổng riêng</a:t>
            </a:r>
            <a:endParaRPr lang="en-US" sz="1250" dirty="0"/>
          </a:p>
        </p:txBody>
      </p:sp>
      <p:sp>
        <p:nvSpPr>
          <p:cNvPr id="8" name="!!Accent"/>
          <p:cNvSpPr/>
          <p:nvPr/>
        </p:nvSpPr>
        <p:spPr>
          <a:xfrm>
            <a:off x="548640" y="1280160"/>
            <a:ext cx="1005840" cy="45720"/>
          </a:xfrm>
          <a:prstGeom prst="rect">
            <a:avLst/>
          </a:prstGeom>
          <a:solidFill>
            <a:srgbClr val="43705F"/>
          </a:solidFill>
          <a:ln/>
        </p:spPr>
      </p:sp>
      <p:sp>
        <p:nvSpPr>
          <p:cNvPr id="9" name="!!Footer"/>
          <p:cNvSpPr txBox="1"/>
          <p:nvPr/>
        </p:nvSpPr>
        <p:spPr>
          <a:xfrm>
            <a:off x="548640" y="6455664"/>
            <a:ext cx="7315200" cy="219456"/>
          </a:xfrm>
          <a:prstGeom prst="rect">
            <a:avLst/>
          </a:prstGeom>
          <a:noFill/>
          <a:ln/>
        </p:spPr>
        <p:txBody>
          <a:bodyPr wrap="square" lIns="0" tIns="0" rIns="0" bIns="0" rtlCol="0" anchor="t"/>
          <a:lstStyle/>
          <a:p>
            <a:pPr marL="0" indent="0">
              <a:buNone/>
            </a:pPr>
            <a:r>
              <a:rPr lang="en-US" sz="900" dirty="0">
                <a:solidFill>
                  <a:srgbClr val="4E5B54"/>
                </a:solidFill>
                <a:latin typeface="Segoe UI" pitchFamily="34" charset="0"/>
                <a:ea typeface="Segoe UI" pitchFamily="34" charset="-122"/>
                <a:cs typeface="Segoe UI" pitchFamily="34" charset="-120"/>
              </a:rPr>
              <a:t>Đồ án thực tập cơ sở ngành · Website di tích Việt Nam</a:t>
            </a:r>
            <a:endParaRPr lang="en-US" sz="900" dirty="0"/>
          </a:p>
        </p:txBody>
      </p:sp>
      <p:sp>
        <p:nvSpPr>
          <p:cNvPr id="10" name="!!PageNum"/>
          <p:cNvSpPr txBox="1"/>
          <p:nvPr/>
        </p:nvSpPr>
        <p:spPr>
          <a:xfrm>
            <a:off x="11091672" y="6455664"/>
            <a:ext cx="548640" cy="219456"/>
          </a:xfrm>
          <a:prstGeom prst="rect">
            <a:avLst/>
          </a:prstGeom>
          <a:noFill/>
          <a:ln/>
        </p:spPr>
        <p:txBody>
          <a:bodyPr wrap="square" lIns="0" tIns="0" rIns="0" bIns="0" rtlCol="0" anchor="t"/>
          <a:lstStyle/>
          <a:p>
            <a:pPr marL="0" indent="0" algn="r">
              <a:buNone/>
            </a:pPr>
            <a:r>
              <a:rPr lang="en-US" sz="900" dirty="0">
                <a:solidFill>
                  <a:srgbClr val="4E5B54"/>
                </a:solidFill>
                <a:latin typeface="Segoe UI" pitchFamily="34" charset="0"/>
                <a:ea typeface="Segoe UI" pitchFamily="34" charset="-122"/>
                <a:cs typeface="Segoe UI" pitchFamily="34" charset="-120"/>
              </a:rPr>
              <a:t>06</a:t>
            </a:r>
            <a:endParaRPr lang="en-US" sz="900" dirty="0"/>
          </a:p>
        </p:txBody>
      </p:sp>
      <p:sp>
        <p:nvSpPr>
          <p:cNvPr id="11" name="S06 Rectangle 11"/>
          <p:cNvSpPr/>
          <p:nvPr/>
        </p:nvSpPr>
        <p:spPr>
          <a:xfrm>
            <a:off x="548640" y="1554480"/>
            <a:ext cx="5212080" cy="4663440"/>
          </a:xfrm>
          <a:prstGeom prst="rect">
            <a:avLst/>
          </a:prstGeom>
          <a:solidFill>
            <a:srgbClr val="FFFFFF"/>
          </a:solidFill>
          <a:ln w="9525">
            <a:solidFill>
              <a:srgbClr val="C9CDC2"/>
            </a:solidFill>
            <a:prstDash val="solid"/>
          </a:ln>
          <a:effectLst>
            <a:outerShdw blurRad="127000" dist="25400" dir="5400000" algn="bl" rotWithShape="0">
              <a:srgbClr val="000000">
                <a:alpha val="12000"/>
              </a:srgbClr>
            </a:outerShdw>
          </a:effectLst>
        </p:spPr>
      </p:sp>
      <p:pic>
        <p:nvPicPr>
          <p:cNvPr id="12" name="S06 Picture 12" descr="Sơ đồ use case tổng quát"/>
          <p:cNvPicPr>
            <a:picLocks noChangeAspect="1"/>
          </p:cNvPicPr>
          <p:nvPr/>
        </p:nvPicPr>
        <p:blipFill>
          <a:blip r:embed="rId4"/>
          <a:stretch>
            <a:fillRect/>
          </a:stretch>
        </p:blipFill>
        <p:spPr>
          <a:xfrm>
            <a:off x="772668" y="1668780"/>
            <a:ext cx="4764024" cy="4434840"/>
          </a:xfrm>
          <a:prstGeom prst="rect">
            <a:avLst/>
          </a:prstGeom>
        </p:spPr>
      </p:pic>
      <p:sp>
        <p:nvSpPr>
          <p:cNvPr id="13" name="S06 TextBox 13"/>
          <p:cNvSpPr txBox="1"/>
          <p:nvPr/>
        </p:nvSpPr>
        <p:spPr>
          <a:xfrm>
            <a:off x="6126480" y="1572768"/>
            <a:ext cx="1325880" cy="1051560"/>
          </a:xfrm>
          <a:prstGeom prst="rect">
            <a:avLst/>
          </a:prstGeom>
          <a:noFill/>
          <a:ln/>
        </p:spPr>
        <p:txBody>
          <a:bodyPr wrap="square" lIns="0" tIns="0" rIns="0" bIns="0" rtlCol="0" anchor="ctr"/>
          <a:lstStyle/>
          <a:p>
            <a:pPr marL="0" indent="0">
              <a:buNone/>
            </a:pPr>
            <a:r>
              <a:rPr lang="en-US" sz="6000" b="1" dirty="0">
                <a:solidFill>
                  <a:srgbClr val="9E2B25"/>
                </a:solidFill>
                <a:latin typeface="Cambria" pitchFamily="34" charset="0"/>
                <a:ea typeface="Cambria" pitchFamily="34" charset="-122"/>
                <a:cs typeface="Cambria" pitchFamily="34" charset="-120"/>
              </a:rPr>
              <a:t>8</a:t>
            </a:r>
            <a:endParaRPr lang="en-US" sz="6000" dirty="0"/>
          </a:p>
        </p:txBody>
      </p:sp>
      <p:sp>
        <p:nvSpPr>
          <p:cNvPr id="14" name="S06 TextBox 14"/>
          <p:cNvSpPr txBox="1"/>
          <p:nvPr/>
        </p:nvSpPr>
        <p:spPr>
          <a:xfrm>
            <a:off x="7498080" y="1572768"/>
            <a:ext cx="4142232" cy="1051560"/>
          </a:xfrm>
          <a:prstGeom prst="rect">
            <a:avLst/>
          </a:prstGeom>
          <a:noFill/>
          <a:ln/>
        </p:spPr>
        <p:txBody>
          <a:bodyPr wrap="square" lIns="0" tIns="0" rIns="0" bIns="0" rtlCol="0" anchor="ctr"/>
          <a:lstStyle/>
          <a:p>
            <a:pPr marL="0" indent="0">
              <a:buNone/>
            </a:pPr>
            <a:r>
              <a:rPr lang="en-US" sz="1500" dirty="0">
                <a:solidFill>
                  <a:srgbClr val="1C2B25"/>
                </a:solidFill>
                <a:latin typeface="Segoe UI" pitchFamily="34" charset="0"/>
                <a:ea typeface="Segoe UI" pitchFamily="34" charset="-122"/>
                <a:cs typeface="Segoe UI" pitchFamily="34" charset="-120"/>
              </a:rPr>
              <a:t>chức năng tra cứu cho </a:t>
            </a:r>
            <a:r>
              <a:rPr lang="en-US" sz="1500" b="1" dirty="0">
                <a:solidFill>
                  <a:srgbClr val="9E2B25"/>
                </a:solidFill>
                <a:latin typeface="Segoe UI" pitchFamily="34" charset="0"/>
                <a:ea typeface="Segoe UI" pitchFamily="34" charset="-122"/>
                <a:cs typeface="Segoe UI" pitchFamily="34" charset="-120"/>
              </a:rPr>
              <a:t>khách</a:t>
            </a:r>
            <a:r>
              <a:rPr lang="en-US" sz="1500" dirty="0">
                <a:solidFill>
                  <a:srgbClr val="1C2B25"/>
                </a:solidFill>
                <a:latin typeface="Segoe UI" pitchFamily="34" charset="0"/>
                <a:ea typeface="Segoe UI" pitchFamily="34" charset="-122"/>
                <a:cs typeface="Segoe UI" pitchFamily="34" charset="-120"/>
              </a:rPr>
              <a:t>, U01 đến U08, không cần đăng nhập</a:t>
            </a:r>
            <a:endParaRPr lang="en-US" sz="1500" dirty="0"/>
          </a:p>
        </p:txBody>
      </p:sp>
      <p:sp>
        <p:nvSpPr>
          <p:cNvPr id="15" name="S06 TextBox 15"/>
          <p:cNvSpPr txBox="1"/>
          <p:nvPr/>
        </p:nvSpPr>
        <p:spPr>
          <a:xfrm>
            <a:off x="6126480" y="2761488"/>
            <a:ext cx="1325880" cy="1051560"/>
          </a:xfrm>
          <a:prstGeom prst="rect">
            <a:avLst/>
          </a:prstGeom>
          <a:noFill/>
          <a:ln/>
        </p:spPr>
        <p:txBody>
          <a:bodyPr wrap="square" lIns="0" tIns="0" rIns="0" bIns="0" rtlCol="0" anchor="ctr"/>
          <a:lstStyle/>
          <a:p>
            <a:pPr marL="0" indent="0">
              <a:buNone/>
            </a:pPr>
            <a:r>
              <a:rPr lang="en-US" sz="6000" b="1" dirty="0">
                <a:solidFill>
                  <a:srgbClr val="9E2B25"/>
                </a:solidFill>
                <a:latin typeface="Cambria" pitchFamily="34" charset="0"/>
                <a:ea typeface="Cambria" pitchFamily="34" charset="-122"/>
                <a:cs typeface="Cambria" pitchFamily="34" charset="-120"/>
              </a:rPr>
              <a:t>6</a:t>
            </a:r>
            <a:endParaRPr lang="en-US" sz="6000" dirty="0"/>
          </a:p>
        </p:txBody>
      </p:sp>
      <p:sp>
        <p:nvSpPr>
          <p:cNvPr id="16" name="S06 TextBox 16"/>
          <p:cNvSpPr txBox="1"/>
          <p:nvPr/>
        </p:nvSpPr>
        <p:spPr>
          <a:xfrm>
            <a:off x="7498080" y="2761488"/>
            <a:ext cx="4142232" cy="1051560"/>
          </a:xfrm>
          <a:prstGeom prst="rect">
            <a:avLst/>
          </a:prstGeom>
          <a:noFill/>
          <a:ln/>
        </p:spPr>
        <p:txBody>
          <a:bodyPr wrap="square" lIns="0" tIns="0" rIns="0" bIns="0" rtlCol="0" anchor="ctr"/>
          <a:lstStyle/>
          <a:p>
            <a:pPr marL="0" indent="0">
              <a:buNone/>
            </a:pPr>
            <a:r>
              <a:rPr lang="en-US" sz="1500" dirty="0">
                <a:solidFill>
                  <a:srgbClr val="1C2B25"/>
                </a:solidFill>
                <a:latin typeface="Segoe UI" pitchFamily="34" charset="0"/>
                <a:ea typeface="Segoe UI" pitchFamily="34" charset="-122"/>
                <a:cs typeface="Segoe UI" pitchFamily="34" charset="-120"/>
              </a:rPr>
              <a:t>chức năng </a:t>
            </a:r>
            <a:r>
              <a:rPr lang="en-US" sz="1500" b="1" dirty="0">
                <a:solidFill>
                  <a:srgbClr val="9E2B25"/>
                </a:solidFill>
                <a:latin typeface="Segoe UI" pitchFamily="34" charset="0"/>
                <a:ea typeface="Segoe UI" pitchFamily="34" charset="-122"/>
                <a:cs typeface="Segoe UI" pitchFamily="34" charset="-120"/>
              </a:rPr>
              <a:t>quản trị</a:t>
            </a:r>
            <a:r>
              <a:rPr lang="en-US" sz="1500" dirty="0">
                <a:solidFill>
                  <a:srgbClr val="1C2B25"/>
                </a:solidFill>
                <a:latin typeface="Segoe UI" pitchFamily="34" charset="0"/>
                <a:ea typeface="Segoe UI" pitchFamily="34" charset="-122"/>
                <a:cs typeface="Segoe UI" pitchFamily="34" charset="-120"/>
              </a:rPr>
              <a:t> đã đăng ký, A01 đến A06</a:t>
            </a:r>
            <a:endParaRPr lang="en-US" sz="1500" dirty="0"/>
          </a:p>
        </p:txBody>
      </p:sp>
      <p:sp>
        <p:nvSpPr>
          <p:cNvPr id="17" name="S06 TextBox 17"/>
          <p:cNvSpPr txBox="1"/>
          <p:nvPr/>
        </p:nvSpPr>
        <p:spPr>
          <a:xfrm>
            <a:off x="6126480" y="3950208"/>
            <a:ext cx="1325880" cy="1051560"/>
          </a:xfrm>
          <a:prstGeom prst="rect">
            <a:avLst/>
          </a:prstGeom>
          <a:noFill/>
          <a:ln/>
        </p:spPr>
        <p:txBody>
          <a:bodyPr wrap="square" lIns="0" tIns="0" rIns="0" bIns="0" rtlCol="0" anchor="ctr"/>
          <a:lstStyle/>
          <a:p>
            <a:pPr marL="0" indent="0">
              <a:buNone/>
            </a:pPr>
            <a:r>
              <a:rPr lang="en-US" sz="6000" b="1" dirty="0">
                <a:solidFill>
                  <a:srgbClr val="9E2B25"/>
                </a:solidFill>
                <a:latin typeface="Cambria" pitchFamily="34" charset="0"/>
                <a:ea typeface="Cambria" pitchFamily="34" charset="-122"/>
                <a:cs typeface="Cambria" pitchFamily="34" charset="-120"/>
              </a:rPr>
              <a:t>+1</a:t>
            </a:r>
            <a:endParaRPr lang="en-US" sz="6000" dirty="0"/>
          </a:p>
        </p:txBody>
      </p:sp>
      <p:sp>
        <p:nvSpPr>
          <p:cNvPr id="18" name="S06 TextBox 18"/>
          <p:cNvSpPr txBox="1"/>
          <p:nvPr/>
        </p:nvSpPr>
        <p:spPr>
          <a:xfrm>
            <a:off x="7498080" y="3950208"/>
            <a:ext cx="4142232" cy="1051560"/>
          </a:xfrm>
          <a:prstGeom prst="rect">
            <a:avLst/>
          </a:prstGeom>
          <a:noFill/>
          <a:ln/>
        </p:spPr>
        <p:txBody>
          <a:bodyPr wrap="square" lIns="0" tIns="0" rIns="0" bIns="0" rtlCol="0" anchor="ctr"/>
          <a:lstStyle/>
          <a:p>
            <a:pPr marL="0" indent="0">
              <a:buNone/>
            </a:pPr>
            <a:r>
              <a:rPr lang="en-US" sz="1500" dirty="0">
                <a:solidFill>
                  <a:srgbClr val="1C2B25"/>
                </a:solidFill>
                <a:latin typeface="Segoe UI" pitchFamily="34" charset="0"/>
                <a:ea typeface="Segoe UI" pitchFamily="34" charset="-122"/>
                <a:cs typeface="Segoe UI" pitchFamily="34" charset="-120"/>
              </a:rPr>
              <a:t>chức năng </a:t>
            </a:r>
            <a:r>
              <a:rPr lang="en-US" sz="1500" b="1" dirty="0">
                <a:solidFill>
                  <a:srgbClr val="9E2B25"/>
                </a:solidFill>
                <a:latin typeface="Segoe UI" pitchFamily="34" charset="0"/>
                <a:ea typeface="Segoe UI" pitchFamily="34" charset="-122"/>
                <a:cs typeface="Segoe UI" pitchFamily="34" charset="-120"/>
              </a:rPr>
              <a:t>mở rộng A07</a:t>
            </a:r>
            <a:r>
              <a:rPr lang="en-US" sz="1500" dirty="0">
                <a:solidFill>
                  <a:srgbClr val="1C2B25"/>
                </a:solidFill>
                <a:latin typeface="Segoe UI" pitchFamily="34" charset="0"/>
                <a:ea typeface="Segoe UI" pitchFamily="34" charset="-122"/>
                <a:cs typeface="Segoe UI" pitchFamily="34" charset="-120"/>
              </a:rPr>
              <a:t>: quản lý tài khoản quản trị</a:t>
            </a:r>
            <a:endParaRPr lang="en-US" sz="1500" dirty="0"/>
          </a:p>
        </p:txBody>
      </p:sp>
      <p:sp>
        <p:nvSpPr>
          <p:cNvPr id="19" name="S06 Rectangle 19"/>
          <p:cNvSpPr/>
          <p:nvPr/>
        </p:nvSpPr>
        <p:spPr>
          <a:xfrm>
            <a:off x="6126480" y="5230368"/>
            <a:ext cx="5513832" cy="987552"/>
          </a:xfrm>
          <a:prstGeom prst="rect">
            <a:avLst/>
          </a:prstGeom>
          <a:solidFill>
            <a:srgbClr val="E6E8E1"/>
          </a:solidFill>
          <a:ln/>
        </p:spPr>
        <p:txBody>
          <a:bodyPr wrap="square" lIns="203200" tIns="0" rIns="203200" bIns="0" rtlCol="0" anchor="ctr"/>
          <a:lstStyle/>
          <a:p>
            <a:pPr marL="0" indent="0">
              <a:buNone/>
            </a:pPr>
            <a:r>
              <a:rPr lang="en-US" sz="1350" dirty="0">
                <a:solidFill>
                  <a:srgbClr val="1C2B25"/>
                </a:solidFill>
                <a:latin typeface="Segoe UI" pitchFamily="34" charset="0"/>
                <a:ea typeface="Segoe UI" pitchFamily="34" charset="-122"/>
                <a:cs typeface="Segoe UI" pitchFamily="34" charset="-120"/>
              </a:rPr>
              <a:t>Mỗi chức năng có </a:t>
            </a:r>
            <a:r>
              <a:rPr lang="en-US" sz="1350" b="1" dirty="0">
                <a:solidFill>
                  <a:srgbClr val="9E2B25"/>
                </a:solidFill>
                <a:latin typeface="Segoe UI" pitchFamily="34" charset="0"/>
                <a:ea typeface="Segoe UI" pitchFamily="34" charset="-122"/>
                <a:cs typeface="Segoe UI" pitchFamily="34" charset="-120"/>
              </a:rPr>
              <a:t>một mã riêng</a:t>
            </a:r>
            <a:r>
              <a:rPr lang="en-US" sz="1350" dirty="0">
                <a:solidFill>
                  <a:srgbClr val="1C2B25"/>
                </a:solidFill>
                <a:latin typeface="Segoe UI" pitchFamily="34" charset="0"/>
                <a:ea typeface="Segoe UI" pitchFamily="34" charset="-122"/>
                <a:cs typeface="Segoe UI" pitchFamily="34" charset="-120"/>
              </a:rPr>
              <a:t>; phần cài đặt và các test case đều dẫn về mã này.</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600" fill="hold"/>
                                        <p:tgtEl>
                                          <p:spTgt spid="11"/>
                                        </p:tgtEl>
                                        <p:attrNameLst>
                                          <p:attrName>ppt_w</p:attrName>
                                        </p:attrNameLst>
                                      </p:cBhvr>
                                      <p:tavLst>
                                        <p:tav tm="0">
                                          <p:val>
                                            <p:fltVal val="0"/>
                                          </p:val>
                                        </p:tav>
                                        <p:tav tm="100000">
                                          <p:val>
                                            <p:strVal val="#ppt_w"/>
                                          </p:val>
                                        </p:tav>
                                      </p:tavLst>
                                    </p:anim>
                                    <p:anim calcmode="lin" valueType="num">
                                      <p:cBhvr>
                                        <p:cTn id="8" dur="600" fill="hold"/>
                                        <p:tgtEl>
                                          <p:spTgt spid="11"/>
                                        </p:tgtEl>
                                        <p:attrNameLst>
                                          <p:attrName>ppt_h</p:attrName>
                                        </p:attrNameLst>
                                      </p:cBhvr>
                                      <p:tavLst>
                                        <p:tav tm="0">
                                          <p:val>
                                            <p:fltVal val="0"/>
                                          </p:val>
                                        </p:tav>
                                        <p:tav tm="100000">
                                          <p:val>
                                            <p:strVal val="#ppt_h"/>
                                          </p:val>
                                        </p:tav>
                                      </p:tavLst>
                                    </p:anim>
                                    <p:animEffect transition="in" filter="fade">
                                      <p:cBhvr>
                                        <p:cTn id="9" dur="600"/>
                                        <p:tgtEl>
                                          <p:spTgt spid="11"/>
                                        </p:tgtEl>
                                      </p:cBhvr>
                                    </p:animEffect>
                                  </p:childTnLst>
                                </p:cTn>
                              </p:par>
                              <p:par>
                                <p:cTn id="10" presetID="53" presetClass="entr" presetSubtype="16"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600" fill="hold"/>
                                        <p:tgtEl>
                                          <p:spTgt spid="12"/>
                                        </p:tgtEl>
                                        <p:attrNameLst>
                                          <p:attrName>ppt_w</p:attrName>
                                        </p:attrNameLst>
                                      </p:cBhvr>
                                      <p:tavLst>
                                        <p:tav tm="0">
                                          <p:val>
                                            <p:fltVal val="0"/>
                                          </p:val>
                                        </p:tav>
                                        <p:tav tm="100000">
                                          <p:val>
                                            <p:strVal val="#ppt_w"/>
                                          </p:val>
                                        </p:tav>
                                      </p:tavLst>
                                    </p:anim>
                                    <p:anim calcmode="lin" valueType="num">
                                      <p:cBhvr>
                                        <p:cTn id="13" dur="600" fill="hold"/>
                                        <p:tgtEl>
                                          <p:spTgt spid="12"/>
                                        </p:tgtEl>
                                        <p:attrNameLst>
                                          <p:attrName>ppt_h</p:attrName>
                                        </p:attrNameLst>
                                      </p:cBhvr>
                                      <p:tavLst>
                                        <p:tav tm="0">
                                          <p:val>
                                            <p:fltVal val="0"/>
                                          </p:val>
                                        </p:tav>
                                        <p:tav tm="100000">
                                          <p:val>
                                            <p:strVal val="#ppt_h"/>
                                          </p:val>
                                        </p:tav>
                                      </p:tavLst>
                                    </p:anim>
                                    <p:animEffect transition="in" filter="fade">
                                      <p:cBhvr>
                                        <p:cTn id="14" dur="6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anim calcmode="lin" valueType="num">
                                      <p:cBhvr>
                                        <p:cTn id="23" dur="500" fill="hold"/>
                                        <p:tgtEl>
                                          <p:spTgt spid="14"/>
                                        </p:tgtEl>
                                        <p:attrNameLst>
                                          <p:attrName>ppt_x</p:attrName>
                                        </p:attrNameLst>
                                      </p:cBhvr>
                                      <p:tavLst>
                                        <p:tav tm="0">
                                          <p:val>
                                            <p:strVal val="#ppt_x"/>
                                          </p:val>
                                        </p:tav>
                                        <p:tav tm="100000">
                                          <p:val>
                                            <p:strVal val="#ppt_x"/>
                                          </p:val>
                                        </p:tav>
                                      </p:tavLst>
                                    </p:anim>
                                    <p:anim calcmode="lin" valueType="num">
                                      <p:cBhvr>
                                        <p:cTn id="24" dur="500" fill="hold"/>
                                        <p:tgtEl>
                                          <p:spTgt spid="14"/>
                                        </p:tgtEl>
                                        <p:attrNameLst>
                                          <p:attrName>ppt_y</p:attrName>
                                        </p:attrNameLst>
                                      </p:cBhvr>
                                      <p:tavLst>
                                        <p:tav tm="0">
                                          <p:val>
                                            <p:strVal val="#ppt_y+.1"/>
                                          </p:val>
                                        </p:tav>
                                        <p:tav tm="100000">
                                          <p:val>
                                            <p:strVal val="#ppt_y"/>
                                          </p:val>
                                        </p:tav>
                                      </p:tavLst>
                                    </p:anim>
                                  </p:childTnLst>
                                </p:cTn>
                              </p:par>
                              <p:par>
                                <p:cTn id="25" presetID="10" presetClass="entr" presetSubtype="0" fill="hold" grpId="0" nodeType="withEffect">
                                  <p:stCondLst>
                                    <p:cond delay="12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42" presetClass="entr" presetSubtype="0" fill="hold" grpId="0" nodeType="withEffect">
                                  <p:stCondLst>
                                    <p:cond delay="12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anim calcmode="lin" valueType="num">
                                      <p:cBhvr>
                                        <p:cTn id="31" dur="500" fill="hold"/>
                                        <p:tgtEl>
                                          <p:spTgt spid="16"/>
                                        </p:tgtEl>
                                        <p:attrNameLst>
                                          <p:attrName>ppt_x</p:attrName>
                                        </p:attrNameLst>
                                      </p:cBhvr>
                                      <p:tavLst>
                                        <p:tav tm="0">
                                          <p:val>
                                            <p:strVal val="#ppt_x"/>
                                          </p:val>
                                        </p:tav>
                                        <p:tav tm="100000">
                                          <p:val>
                                            <p:strVal val="#ppt_x"/>
                                          </p:val>
                                        </p:tav>
                                      </p:tavLst>
                                    </p:anim>
                                    <p:anim calcmode="lin" valueType="num">
                                      <p:cBhvr>
                                        <p:cTn id="32" dur="500" fill="hold"/>
                                        <p:tgtEl>
                                          <p:spTgt spid="16"/>
                                        </p:tgtEl>
                                        <p:attrNameLst>
                                          <p:attrName>ppt_y</p:attrName>
                                        </p:attrNameLst>
                                      </p:cBhvr>
                                      <p:tavLst>
                                        <p:tav tm="0">
                                          <p:val>
                                            <p:strVal val="#ppt_y+.1"/>
                                          </p:val>
                                        </p:tav>
                                        <p:tav tm="100000">
                                          <p:val>
                                            <p:strVal val="#ppt_y"/>
                                          </p:val>
                                        </p:tav>
                                      </p:tavLst>
                                    </p:anim>
                                  </p:childTnLst>
                                </p:cTn>
                              </p:par>
                              <p:par>
                                <p:cTn id="33" presetID="10" presetClass="entr" presetSubtype="0" fill="hold" grpId="0" nodeType="withEffect">
                                  <p:stCondLst>
                                    <p:cond delay="24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par>
                                <p:cTn id="36" presetID="42" presetClass="entr" presetSubtype="0" fill="hold" grpId="0" nodeType="withEffect">
                                  <p:stCondLst>
                                    <p:cond delay="24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anim calcmode="lin" valueType="num">
                                      <p:cBhvr>
                                        <p:cTn id="39" dur="500" fill="hold"/>
                                        <p:tgtEl>
                                          <p:spTgt spid="18"/>
                                        </p:tgtEl>
                                        <p:attrNameLst>
                                          <p:attrName>ppt_x</p:attrName>
                                        </p:attrNameLst>
                                      </p:cBhvr>
                                      <p:tavLst>
                                        <p:tav tm="0">
                                          <p:val>
                                            <p:strVal val="#ppt_x"/>
                                          </p:val>
                                        </p:tav>
                                        <p:tav tm="100000">
                                          <p:val>
                                            <p:strVal val="#ppt_x"/>
                                          </p:val>
                                        </p:tav>
                                      </p:tavLst>
                                    </p:anim>
                                    <p:anim calcmode="lin" valueType="num">
                                      <p:cBhvr>
                                        <p:cTn id="40" dur="500" fill="hold"/>
                                        <p:tgtEl>
                                          <p:spTgt spid="18"/>
                                        </p:tgtEl>
                                        <p:attrNameLst>
                                          <p:attrName>ppt_y</p:attrName>
                                        </p:attrNameLst>
                                      </p:cBhvr>
                                      <p:tavLst>
                                        <p:tav tm="0">
                                          <p:val>
                                            <p:strVal val="#ppt_y+.1"/>
                                          </p:val>
                                        </p:tav>
                                        <p:tav tm="100000">
                                          <p:val>
                                            <p:strVal val="#ppt_y"/>
                                          </p:val>
                                        </p:tav>
                                      </p:tavLst>
                                    </p:anim>
                                  </p:childTnLst>
                                </p:cTn>
                              </p:par>
                            </p:childTnLst>
                          </p:cTn>
                        </p:par>
                        <p:par>
                          <p:cTn id="41" fill="hold">
                            <p:stCondLst>
                              <p:cond delay="740"/>
                            </p:stCondLst>
                            <p:childTnLst>
                              <p:par>
                                <p:cTn id="42" presetID="6" presetClass="emph" presetSubtype="0" autoRev="1" fill="hold" grpId="1" nodeType="afterEffect">
                                  <p:stCondLst>
                                    <p:cond delay="50"/>
                                  </p:stCondLst>
                                  <p:childTnLst>
                                    <p:animScale>
                                      <p:cBhvr>
                                        <p:cTn id="43" dur="450" fill="hold"/>
                                        <p:tgtEl>
                                          <p:spTgt spid="17"/>
                                        </p:tgtEl>
                                      </p:cBhvr>
                                      <p:by x="150000" y="150000"/>
                                      <p:to x="108000" y="108000"/>
                                    </p:animScale>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7" grpId="1" animBg="1"/>
      <p:bldP spid="18" grpId="0" animBg="1"/>
      <p:bldP spid="1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8F4"/>
        </a:solidFill>
        <a:effectLst/>
      </p:bgPr>
    </p:bg>
    <p:spTree>
      <p:nvGrpSpPr>
        <p:cNvPr id="1" name=""/>
        <p:cNvGrpSpPr/>
        <p:nvPr/>
      </p:nvGrpSpPr>
      <p:grpSpPr>
        <a:xfrm>
          <a:off x="0" y="0"/>
          <a:ext cx="0" cy="0"/>
          <a:chOff x="0" y="0"/>
          <a:chExt cx="0" cy="0"/>
        </a:xfrm>
      </p:grpSpPr>
      <p:sp>
        <p:nvSpPr>
          <p:cNvPr id="2" name="!!TopBar"/>
          <p:cNvSpPr/>
          <p:nvPr/>
        </p:nvSpPr>
        <p:spPr>
          <a:xfrm>
            <a:off x="0" y="0"/>
            <a:ext cx="12191695" cy="91440"/>
          </a:xfrm>
          <a:prstGeom prst="rect">
            <a:avLst/>
          </a:prstGeom>
          <a:solidFill>
            <a:srgbClr val="12201B"/>
          </a:solidFill>
          <a:ln/>
        </p:spPr>
      </p:sp>
      <p:sp>
        <p:nvSpPr>
          <p:cNvPr id="3" name="!!LogoBg"/>
          <p:cNvSpPr/>
          <p:nvPr/>
        </p:nvSpPr>
        <p:spPr>
          <a:xfrm>
            <a:off x="11256264" y="274320"/>
            <a:ext cx="402336" cy="402336"/>
          </a:xfrm>
          <a:prstGeom prst="ellipse">
            <a:avLst/>
          </a:prstGeom>
          <a:solidFill>
            <a:srgbClr val="FFFFFF"/>
          </a:solidFill>
          <a:ln/>
        </p:spPr>
      </p:sp>
      <p:pic>
        <p:nvPicPr>
          <p:cNvPr id="4" name="!!Logo" descr="Logo Trường Đại học Trà Vinh"/>
          <p:cNvPicPr>
            <a:picLocks noChangeAspect="1"/>
          </p:cNvPicPr>
          <p:nvPr/>
        </p:nvPicPr>
        <p:blipFill>
          <a:blip r:embed="rId3"/>
          <a:stretch>
            <a:fillRect/>
          </a:stretch>
        </p:blipFill>
        <p:spPr>
          <a:xfrm>
            <a:off x="11269980" y="288036"/>
            <a:ext cx="374904" cy="374904"/>
          </a:xfrm>
          <a:prstGeom prst="rect">
            <a:avLst/>
          </a:prstGeom>
        </p:spPr>
      </p:pic>
      <p:sp>
        <p:nvSpPr>
          <p:cNvPr id="5" name="!!Label"/>
          <p:cNvSpPr txBox="1"/>
          <p:nvPr/>
        </p:nvSpPr>
        <p:spPr>
          <a:xfrm>
            <a:off x="8138160" y="365760"/>
            <a:ext cx="2971800" cy="274320"/>
          </a:xfrm>
          <a:prstGeom prst="rect">
            <a:avLst/>
          </a:prstGeom>
          <a:noFill/>
          <a:ln/>
        </p:spPr>
        <p:txBody>
          <a:bodyPr wrap="square" lIns="0" tIns="0" rIns="0" bIns="0" rtlCol="0" anchor="t"/>
          <a:lstStyle/>
          <a:p>
            <a:pPr marL="0" indent="0" algn="r">
              <a:buNone/>
            </a:pPr>
            <a:r>
              <a:rPr lang="en-US" sz="1000" b="1" kern="0" spc="150" dirty="0">
                <a:solidFill>
                  <a:srgbClr val="43705F"/>
                </a:solidFill>
                <a:latin typeface="Segoe UI" pitchFamily="34" charset="0"/>
                <a:ea typeface="Segoe UI" pitchFamily="34" charset="-122"/>
                <a:cs typeface="Segoe UI" pitchFamily="34" charset="-120"/>
              </a:rPr>
              <a:t>KIẾN TRÚC</a:t>
            </a:r>
            <a:endParaRPr lang="en-US" sz="1000" dirty="0"/>
          </a:p>
        </p:txBody>
      </p:sp>
      <p:sp>
        <p:nvSpPr>
          <p:cNvPr id="6" name="!!Title"/>
          <p:cNvSpPr txBox="1"/>
          <p:nvPr/>
        </p:nvSpPr>
        <p:spPr>
          <a:xfrm>
            <a:off x="548640" y="329184"/>
            <a:ext cx="8138160" cy="548640"/>
          </a:xfrm>
          <a:prstGeom prst="rect">
            <a:avLst/>
          </a:prstGeom>
          <a:noFill/>
          <a:ln/>
        </p:spPr>
        <p:txBody>
          <a:bodyPr wrap="square" lIns="0" tIns="0" rIns="0" bIns="0" rtlCol="0" anchor="t"/>
          <a:lstStyle/>
          <a:p>
            <a:pPr marL="0" indent="0">
              <a:buNone/>
            </a:pPr>
            <a:r>
              <a:rPr lang="en-US" sz="2800" b="1" dirty="0">
                <a:solidFill>
                  <a:srgbClr val="1C2B25"/>
                </a:solidFill>
                <a:latin typeface="Cambria" pitchFamily="34" charset="0"/>
                <a:ea typeface="Cambria" pitchFamily="34" charset="-122"/>
                <a:cs typeface="Cambria" pitchFamily="34" charset="-120"/>
              </a:rPr>
              <a:t>Kiến trúc phân lớp</a:t>
            </a:r>
            <a:endParaRPr lang="en-US" sz="2800" dirty="0"/>
          </a:p>
        </p:txBody>
      </p:sp>
      <p:sp>
        <p:nvSpPr>
          <p:cNvPr id="7" name="!!Subtitle"/>
          <p:cNvSpPr txBox="1"/>
          <p:nvPr/>
        </p:nvSpPr>
        <p:spPr>
          <a:xfrm>
            <a:off x="548640" y="914400"/>
            <a:ext cx="10241280" cy="274320"/>
          </a:xfrm>
          <a:prstGeom prst="rect">
            <a:avLst/>
          </a:prstGeom>
          <a:noFill/>
          <a:ln/>
        </p:spPr>
        <p:txBody>
          <a:bodyPr wrap="square" lIns="0" tIns="0" rIns="0" bIns="0" rtlCol="0" anchor="t"/>
          <a:lstStyle/>
          <a:p>
            <a:pPr marL="0" indent="0">
              <a:buNone/>
            </a:pPr>
            <a:r>
              <a:rPr lang="en-US" sz="1250" dirty="0">
                <a:solidFill>
                  <a:srgbClr val="4E5B54"/>
                </a:solidFill>
                <a:latin typeface="Segoe UI" pitchFamily="34" charset="0"/>
                <a:ea typeface="Segoe UI" pitchFamily="34" charset="-122"/>
                <a:cs typeface="Segoe UI" pitchFamily="34" charset="-120"/>
              </a:rPr>
              <a:t>Mô hình MVC có thêm lớp Service, yêu cầu đi một chiều từ trên xuống</a:t>
            </a:r>
            <a:endParaRPr lang="en-US" sz="1250" dirty="0"/>
          </a:p>
        </p:txBody>
      </p:sp>
      <p:sp>
        <p:nvSpPr>
          <p:cNvPr id="8" name="!!Accent"/>
          <p:cNvSpPr/>
          <p:nvPr/>
        </p:nvSpPr>
        <p:spPr>
          <a:xfrm>
            <a:off x="548640" y="1280160"/>
            <a:ext cx="1005840" cy="45720"/>
          </a:xfrm>
          <a:prstGeom prst="rect">
            <a:avLst/>
          </a:prstGeom>
          <a:solidFill>
            <a:srgbClr val="43705F"/>
          </a:solidFill>
          <a:ln/>
        </p:spPr>
      </p:sp>
      <p:sp>
        <p:nvSpPr>
          <p:cNvPr id="9" name="!!Footer"/>
          <p:cNvSpPr txBox="1"/>
          <p:nvPr/>
        </p:nvSpPr>
        <p:spPr>
          <a:xfrm>
            <a:off x="548640" y="6455664"/>
            <a:ext cx="7315200" cy="219456"/>
          </a:xfrm>
          <a:prstGeom prst="rect">
            <a:avLst/>
          </a:prstGeom>
          <a:noFill/>
          <a:ln/>
        </p:spPr>
        <p:txBody>
          <a:bodyPr wrap="square" lIns="0" tIns="0" rIns="0" bIns="0" rtlCol="0" anchor="t"/>
          <a:lstStyle/>
          <a:p>
            <a:pPr marL="0" indent="0">
              <a:buNone/>
            </a:pPr>
            <a:r>
              <a:rPr lang="en-US" sz="900" dirty="0">
                <a:solidFill>
                  <a:srgbClr val="4E5B54"/>
                </a:solidFill>
                <a:latin typeface="Segoe UI" pitchFamily="34" charset="0"/>
                <a:ea typeface="Segoe UI" pitchFamily="34" charset="-122"/>
                <a:cs typeface="Segoe UI" pitchFamily="34" charset="-120"/>
              </a:rPr>
              <a:t>Đồ án thực tập cơ sở ngành · Website di tích Việt Nam</a:t>
            </a:r>
            <a:endParaRPr lang="en-US" sz="900" dirty="0"/>
          </a:p>
        </p:txBody>
      </p:sp>
      <p:sp>
        <p:nvSpPr>
          <p:cNvPr id="10" name="!!PageNum"/>
          <p:cNvSpPr txBox="1"/>
          <p:nvPr/>
        </p:nvSpPr>
        <p:spPr>
          <a:xfrm>
            <a:off x="11091672" y="6455664"/>
            <a:ext cx="548640" cy="219456"/>
          </a:xfrm>
          <a:prstGeom prst="rect">
            <a:avLst/>
          </a:prstGeom>
          <a:noFill/>
          <a:ln/>
        </p:spPr>
        <p:txBody>
          <a:bodyPr wrap="square" lIns="0" tIns="0" rIns="0" bIns="0" rtlCol="0" anchor="t"/>
          <a:lstStyle/>
          <a:p>
            <a:pPr marL="0" indent="0" algn="r">
              <a:buNone/>
            </a:pPr>
            <a:r>
              <a:rPr lang="en-US" sz="900" dirty="0">
                <a:solidFill>
                  <a:srgbClr val="4E5B54"/>
                </a:solidFill>
                <a:latin typeface="Segoe UI" pitchFamily="34" charset="0"/>
                <a:ea typeface="Segoe UI" pitchFamily="34" charset="-122"/>
                <a:cs typeface="Segoe UI" pitchFamily="34" charset="-120"/>
              </a:rPr>
              <a:t>07</a:t>
            </a:r>
            <a:endParaRPr lang="en-US" sz="900" dirty="0"/>
          </a:p>
        </p:txBody>
      </p:sp>
      <p:sp>
        <p:nvSpPr>
          <p:cNvPr id="11" name="S07 Rectangle 11"/>
          <p:cNvSpPr/>
          <p:nvPr/>
        </p:nvSpPr>
        <p:spPr>
          <a:xfrm>
            <a:off x="548640" y="1554480"/>
            <a:ext cx="6949440" cy="4663440"/>
          </a:xfrm>
          <a:prstGeom prst="rect">
            <a:avLst/>
          </a:prstGeom>
          <a:solidFill>
            <a:srgbClr val="FFFFFF"/>
          </a:solidFill>
          <a:ln w="9525">
            <a:solidFill>
              <a:srgbClr val="C9CDC2"/>
            </a:solidFill>
            <a:prstDash val="solid"/>
          </a:ln>
          <a:effectLst>
            <a:outerShdw blurRad="127000" dist="25400" dir="5400000" algn="bl" rotWithShape="0">
              <a:srgbClr val="000000">
                <a:alpha val="12000"/>
              </a:srgbClr>
            </a:outerShdw>
          </a:effectLst>
        </p:spPr>
      </p:sp>
      <p:pic>
        <p:nvPicPr>
          <p:cNvPr id="12" name="S07 Picture 12" descr="Kiến trúc phân lớp của hệ thống"/>
          <p:cNvPicPr>
            <a:picLocks noChangeAspect="1"/>
          </p:cNvPicPr>
          <p:nvPr/>
        </p:nvPicPr>
        <p:blipFill>
          <a:blip r:embed="rId4"/>
          <a:stretch>
            <a:fillRect/>
          </a:stretch>
        </p:blipFill>
        <p:spPr>
          <a:xfrm>
            <a:off x="690372" y="1714500"/>
            <a:ext cx="6665976" cy="4343400"/>
          </a:xfrm>
          <a:prstGeom prst="rect">
            <a:avLst/>
          </a:prstGeom>
        </p:spPr>
      </p:pic>
      <p:sp>
        <p:nvSpPr>
          <p:cNvPr id="13" name="S07 TextBox 13"/>
          <p:cNvSpPr txBox="1"/>
          <p:nvPr/>
        </p:nvSpPr>
        <p:spPr>
          <a:xfrm>
            <a:off x="7818120" y="1600200"/>
            <a:ext cx="384048" cy="411480"/>
          </a:xfrm>
          <a:prstGeom prst="rect">
            <a:avLst/>
          </a:prstGeom>
          <a:noFill/>
          <a:ln/>
        </p:spPr>
        <p:txBody>
          <a:bodyPr wrap="square" lIns="0" tIns="0" rIns="0" bIns="0" rtlCol="0" anchor="t"/>
          <a:lstStyle/>
          <a:p>
            <a:pPr marL="0" indent="0">
              <a:buNone/>
            </a:pPr>
            <a:r>
              <a:rPr lang="en-US" sz="2400" b="1" dirty="0">
                <a:solidFill>
                  <a:srgbClr val="9E2B25"/>
                </a:solidFill>
                <a:latin typeface="Cambria" pitchFamily="34" charset="0"/>
                <a:ea typeface="Cambria" pitchFamily="34" charset="-122"/>
                <a:cs typeface="Cambria" pitchFamily="34" charset="-120"/>
              </a:rPr>
              <a:t>1</a:t>
            </a:r>
            <a:endParaRPr lang="en-US" sz="2400" dirty="0"/>
          </a:p>
        </p:txBody>
      </p:sp>
      <p:sp>
        <p:nvSpPr>
          <p:cNvPr id="14" name="S07 TextBox 14"/>
          <p:cNvSpPr txBox="1"/>
          <p:nvPr/>
        </p:nvSpPr>
        <p:spPr>
          <a:xfrm>
            <a:off x="8275320" y="1645920"/>
            <a:ext cx="3364992" cy="310896"/>
          </a:xfrm>
          <a:prstGeom prst="rect">
            <a:avLst/>
          </a:prstGeom>
          <a:noFill/>
          <a:ln/>
        </p:spPr>
        <p:txBody>
          <a:bodyPr wrap="square" lIns="0" tIns="0" rIns="0" bIns="0" rtlCol="0" anchor="t"/>
          <a:lstStyle/>
          <a:p>
            <a:pPr marL="0" indent="0">
              <a:buNone/>
            </a:pPr>
            <a:r>
              <a:rPr lang="en-US" sz="1500" b="1" dirty="0">
                <a:solidFill>
                  <a:srgbClr val="1C2B25"/>
                </a:solidFill>
                <a:latin typeface="Segoe UI" pitchFamily="34" charset="0"/>
                <a:ea typeface="Segoe UI" pitchFamily="34" charset="-122"/>
                <a:cs typeface="Segoe UI" pitchFamily="34" charset="-120"/>
              </a:rPr>
              <a:t>Luồng một chiều</a:t>
            </a:r>
            <a:endParaRPr lang="en-US" sz="1500" dirty="0"/>
          </a:p>
        </p:txBody>
      </p:sp>
      <p:sp>
        <p:nvSpPr>
          <p:cNvPr id="15" name="S07 TextBox 15"/>
          <p:cNvSpPr txBox="1"/>
          <p:nvPr/>
        </p:nvSpPr>
        <p:spPr>
          <a:xfrm>
            <a:off x="8275320" y="1993392"/>
            <a:ext cx="3364992" cy="731520"/>
          </a:xfrm>
          <a:prstGeom prst="rect">
            <a:avLst/>
          </a:prstGeom>
          <a:noFill/>
          <a:ln/>
        </p:spPr>
        <p:txBody>
          <a:bodyPr wrap="square" lIns="0" tIns="0" rIns="0" bIns="0" rtlCol="0" anchor="t"/>
          <a:lstStyle/>
          <a:p>
            <a:pPr marL="0" indent="0">
              <a:buNone/>
            </a:pPr>
            <a:r>
              <a:rPr lang="en-US" sz="1300" dirty="0">
                <a:solidFill>
                  <a:srgbClr val="4E5B54"/>
                </a:solidFill>
                <a:latin typeface="Segoe UI" pitchFamily="34" charset="0"/>
                <a:ea typeface="Segoe UI" pitchFamily="34" charset="-122"/>
                <a:cs typeface="Segoe UI" pitchFamily="34" charset="-120"/>
              </a:rPr>
              <a:t>Controller, Service, DbContext; lớp nào </a:t>
            </a:r>
            <a:r>
              <a:rPr lang="en-US" sz="1300" b="1" dirty="0">
                <a:solidFill>
                  <a:srgbClr val="1C2B25"/>
                </a:solidFill>
                <a:latin typeface="Segoe UI" pitchFamily="34" charset="0"/>
                <a:ea typeface="Segoe UI" pitchFamily="34" charset="-122"/>
                <a:cs typeface="Segoe UI" pitchFamily="34" charset="-120"/>
              </a:rPr>
              <a:t>chỉ gọi lớp liền kề</a:t>
            </a:r>
            <a:endParaRPr lang="en-US" sz="1300" dirty="0"/>
          </a:p>
        </p:txBody>
      </p:sp>
      <p:sp>
        <p:nvSpPr>
          <p:cNvPr id="16" name="S07 TextBox 16"/>
          <p:cNvSpPr txBox="1"/>
          <p:nvPr/>
        </p:nvSpPr>
        <p:spPr>
          <a:xfrm>
            <a:off x="7818120" y="2761488"/>
            <a:ext cx="384048" cy="411480"/>
          </a:xfrm>
          <a:prstGeom prst="rect">
            <a:avLst/>
          </a:prstGeom>
          <a:noFill/>
          <a:ln/>
        </p:spPr>
        <p:txBody>
          <a:bodyPr wrap="square" lIns="0" tIns="0" rIns="0" bIns="0" rtlCol="0" anchor="t"/>
          <a:lstStyle/>
          <a:p>
            <a:pPr marL="0" indent="0">
              <a:buNone/>
            </a:pPr>
            <a:r>
              <a:rPr lang="en-US" sz="2400" b="1" dirty="0">
                <a:solidFill>
                  <a:srgbClr val="9E2B25"/>
                </a:solidFill>
                <a:latin typeface="Cambria" pitchFamily="34" charset="0"/>
                <a:ea typeface="Cambria" pitchFamily="34" charset="-122"/>
                <a:cs typeface="Cambria" pitchFamily="34" charset="-120"/>
              </a:rPr>
              <a:t>2</a:t>
            </a:r>
            <a:endParaRPr lang="en-US" sz="2400" dirty="0"/>
          </a:p>
        </p:txBody>
      </p:sp>
      <p:sp>
        <p:nvSpPr>
          <p:cNvPr id="17" name="S07 TextBox 17"/>
          <p:cNvSpPr txBox="1"/>
          <p:nvPr/>
        </p:nvSpPr>
        <p:spPr>
          <a:xfrm>
            <a:off x="8275320" y="2807208"/>
            <a:ext cx="3364992" cy="310896"/>
          </a:xfrm>
          <a:prstGeom prst="rect">
            <a:avLst/>
          </a:prstGeom>
          <a:noFill/>
          <a:ln/>
        </p:spPr>
        <p:txBody>
          <a:bodyPr wrap="square" lIns="0" tIns="0" rIns="0" bIns="0" rtlCol="0" anchor="t"/>
          <a:lstStyle/>
          <a:p>
            <a:pPr marL="0" indent="0">
              <a:buNone/>
            </a:pPr>
            <a:r>
              <a:rPr lang="en-US" sz="1500" b="1" dirty="0">
                <a:solidFill>
                  <a:srgbClr val="1C2B25"/>
                </a:solidFill>
                <a:latin typeface="Segoe UI" pitchFamily="34" charset="0"/>
                <a:ea typeface="Segoe UI" pitchFamily="34" charset="-122"/>
                <a:cs typeface="Segoe UI" pitchFamily="34" charset="-120"/>
              </a:rPr>
              <a:t>Bảy thư mục dịch vụ</a:t>
            </a:r>
            <a:endParaRPr lang="en-US" sz="1500" dirty="0"/>
          </a:p>
        </p:txBody>
      </p:sp>
      <p:sp>
        <p:nvSpPr>
          <p:cNvPr id="18" name="S07 TextBox 18"/>
          <p:cNvSpPr txBox="1"/>
          <p:nvPr/>
        </p:nvSpPr>
        <p:spPr>
          <a:xfrm>
            <a:off x="8275320" y="3154680"/>
            <a:ext cx="3364992" cy="731520"/>
          </a:xfrm>
          <a:prstGeom prst="rect">
            <a:avLst/>
          </a:prstGeom>
          <a:noFill/>
          <a:ln/>
        </p:spPr>
        <p:txBody>
          <a:bodyPr wrap="square" lIns="0" tIns="0" rIns="0" bIns="0" rtlCol="0" anchor="t"/>
          <a:lstStyle/>
          <a:p>
            <a:pPr marL="0" indent="0">
              <a:buNone/>
            </a:pPr>
            <a:r>
              <a:rPr lang="en-US" sz="1300" dirty="0">
                <a:solidFill>
                  <a:srgbClr val="4E5B54"/>
                </a:solidFill>
                <a:latin typeface="Segoe UI" pitchFamily="34" charset="0"/>
                <a:ea typeface="Segoe UI" pitchFamily="34" charset="-122"/>
                <a:cs typeface="Segoe UI" pitchFamily="34" charset="-120"/>
              </a:rPr>
              <a:t>Mỗi thư mục có </a:t>
            </a:r>
            <a:r>
              <a:rPr lang="en-US" sz="1300" b="1" dirty="0">
                <a:solidFill>
                  <a:srgbClr val="1C2B25"/>
                </a:solidFill>
                <a:latin typeface="Segoe UI" pitchFamily="34" charset="0"/>
                <a:ea typeface="Segoe UI" pitchFamily="34" charset="-122"/>
                <a:cs typeface="Segoe UI" pitchFamily="34" charset="-120"/>
              </a:rPr>
              <a:t>interface, service, factory, validator</a:t>
            </a:r>
            <a:endParaRPr lang="en-US" sz="1300" dirty="0"/>
          </a:p>
        </p:txBody>
      </p:sp>
      <p:sp>
        <p:nvSpPr>
          <p:cNvPr id="19" name="S07 TextBox 19"/>
          <p:cNvSpPr txBox="1"/>
          <p:nvPr/>
        </p:nvSpPr>
        <p:spPr>
          <a:xfrm>
            <a:off x="7818120" y="3922776"/>
            <a:ext cx="384048" cy="411480"/>
          </a:xfrm>
          <a:prstGeom prst="rect">
            <a:avLst/>
          </a:prstGeom>
          <a:noFill/>
          <a:ln/>
        </p:spPr>
        <p:txBody>
          <a:bodyPr wrap="square" lIns="0" tIns="0" rIns="0" bIns="0" rtlCol="0" anchor="t"/>
          <a:lstStyle/>
          <a:p>
            <a:pPr marL="0" indent="0">
              <a:buNone/>
            </a:pPr>
            <a:r>
              <a:rPr lang="en-US" sz="2400" b="1" dirty="0">
                <a:solidFill>
                  <a:srgbClr val="9E2B25"/>
                </a:solidFill>
                <a:latin typeface="Cambria" pitchFamily="34" charset="0"/>
                <a:ea typeface="Cambria" pitchFamily="34" charset="-122"/>
                <a:cs typeface="Cambria" pitchFamily="34" charset="-120"/>
              </a:rPr>
              <a:t>3</a:t>
            </a:r>
            <a:endParaRPr lang="en-US" sz="2400" dirty="0"/>
          </a:p>
        </p:txBody>
      </p:sp>
      <p:sp>
        <p:nvSpPr>
          <p:cNvPr id="20" name="S07 TextBox 20"/>
          <p:cNvSpPr txBox="1"/>
          <p:nvPr/>
        </p:nvSpPr>
        <p:spPr>
          <a:xfrm>
            <a:off x="8275320" y="3968496"/>
            <a:ext cx="3364992" cy="310896"/>
          </a:xfrm>
          <a:prstGeom prst="rect">
            <a:avLst/>
          </a:prstGeom>
          <a:noFill/>
          <a:ln/>
        </p:spPr>
        <p:txBody>
          <a:bodyPr wrap="square" lIns="0" tIns="0" rIns="0" bIns="0" rtlCol="0" anchor="t"/>
          <a:lstStyle/>
          <a:p>
            <a:pPr marL="0" indent="0">
              <a:buNone/>
            </a:pPr>
            <a:r>
              <a:rPr lang="en-US" sz="1500" b="1" dirty="0">
                <a:solidFill>
                  <a:srgbClr val="1C2B25"/>
                </a:solidFill>
                <a:latin typeface="Segoe UI" pitchFamily="34" charset="0"/>
                <a:ea typeface="Segoe UI" pitchFamily="34" charset="-122"/>
                <a:cs typeface="Segoe UI" pitchFamily="34" charset="-120"/>
              </a:rPr>
              <a:t>Area Admin</a:t>
            </a:r>
            <a:endParaRPr lang="en-US" sz="1500" dirty="0"/>
          </a:p>
        </p:txBody>
      </p:sp>
      <p:sp>
        <p:nvSpPr>
          <p:cNvPr id="21" name="S07 TextBox 21"/>
          <p:cNvSpPr txBox="1"/>
          <p:nvPr/>
        </p:nvSpPr>
        <p:spPr>
          <a:xfrm>
            <a:off x="8275320" y="4315968"/>
            <a:ext cx="3364992" cy="731520"/>
          </a:xfrm>
          <a:prstGeom prst="rect">
            <a:avLst/>
          </a:prstGeom>
          <a:noFill/>
          <a:ln/>
        </p:spPr>
        <p:txBody>
          <a:bodyPr wrap="square" lIns="0" tIns="0" rIns="0" bIns="0" rtlCol="0" anchor="t"/>
          <a:lstStyle/>
          <a:p>
            <a:pPr marL="0" indent="0">
              <a:buNone/>
            </a:pPr>
            <a:r>
              <a:rPr lang="en-US" sz="1300" b="1" dirty="0">
                <a:solidFill>
                  <a:srgbClr val="1C2B25"/>
                </a:solidFill>
                <a:latin typeface="Segoe UI" pitchFamily="34" charset="0"/>
                <a:ea typeface="Segoe UI" pitchFamily="34" charset="-122"/>
                <a:cs typeface="Segoe UI" pitchFamily="34" charset="-120"/>
              </a:rPr>
              <a:t>9 controller</a:t>
            </a:r>
            <a:r>
              <a:rPr lang="en-US" sz="1300" dirty="0">
                <a:solidFill>
                  <a:srgbClr val="4E5B54"/>
                </a:solidFill>
                <a:latin typeface="Segoe UI" pitchFamily="34" charset="0"/>
                <a:ea typeface="Segoe UI" pitchFamily="34" charset="-122"/>
                <a:cs typeface="Segoe UI" pitchFamily="34" charset="-120"/>
              </a:rPr>
              <a:t>, đều đòi vai trò Admin</a:t>
            </a:r>
            <a:endParaRPr lang="en-US" sz="1300" dirty="0"/>
          </a:p>
        </p:txBody>
      </p:sp>
      <p:sp>
        <p:nvSpPr>
          <p:cNvPr id="22" name="S07 TextBox 22"/>
          <p:cNvSpPr txBox="1"/>
          <p:nvPr/>
        </p:nvSpPr>
        <p:spPr>
          <a:xfrm>
            <a:off x="7818120" y="5084064"/>
            <a:ext cx="384048" cy="411480"/>
          </a:xfrm>
          <a:prstGeom prst="rect">
            <a:avLst/>
          </a:prstGeom>
          <a:noFill/>
          <a:ln/>
        </p:spPr>
        <p:txBody>
          <a:bodyPr wrap="square" lIns="0" tIns="0" rIns="0" bIns="0" rtlCol="0" anchor="t"/>
          <a:lstStyle/>
          <a:p>
            <a:pPr marL="0" indent="0">
              <a:buNone/>
            </a:pPr>
            <a:r>
              <a:rPr lang="en-US" sz="2400" b="1" dirty="0">
                <a:solidFill>
                  <a:srgbClr val="9E2B25"/>
                </a:solidFill>
                <a:latin typeface="Cambria" pitchFamily="34" charset="0"/>
                <a:ea typeface="Cambria" pitchFamily="34" charset="-122"/>
                <a:cs typeface="Cambria" pitchFamily="34" charset="-120"/>
              </a:rPr>
              <a:t>4</a:t>
            </a:r>
            <a:endParaRPr lang="en-US" sz="2400" dirty="0"/>
          </a:p>
        </p:txBody>
      </p:sp>
      <p:sp>
        <p:nvSpPr>
          <p:cNvPr id="23" name="S07 TextBox 23"/>
          <p:cNvSpPr txBox="1"/>
          <p:nvPr/>
        </p:nvSpPr>
        <p:spPr>
          <a:xfrm>
            <a:off x="8275320" y="5129784"/>
            <a:ext cx="3364992" cy="310896"/>
          </a:xfrm>
          <a:prstGeom prst="rect">
            <a:avLst/>
          </a:prstGeom>
          <a:noFill/>
          <a:ln/>
        </p:spPr>
        <p:txBody>
          <a:bodyPr wrap="square" lIns="0" tIns="0" rIns="0" bIns="0" rtlCol="0" anchor="t"/>
          <a:lstStyle/>
          <a:p>
            <a:pPr marL="0" indent="0">
              <a:buNone/>
            </a:pPr>
            <a:r>
              <a:rPr lang="en-US" sz="1500" b="1" dirty="0">
                <a:solidFill>
                  <a:srgbClr val="1C2B25"/>
                </a:solidFill>
                <a:latin typeface="Segoe UI" pitchFamily="34" charset="0"/>
                <a:ea typeface="Segoe UI" pitchFamily="34" charset="-122"/>
                <a:cs typeface="Segoe UI" pitchFamily="34" charset="-120"/>
              </a:rPr>
              <a:t>Viết tay, không thêm gói</a:t>
            </a:r>
            <a:endParaRPr lang="en-US" sz="1500" dirty="0"/>
          </a:p>
        </p:txBody>
      </p:sp>
      <p:sp>
        <p:nvSpPr>
          <p:cNvPr id="24" name="S07 TextBox 24"/>
          <p:cNvSpPr txBox="1"/>
          <p:nvPr/>
        </p:nvSpPr>
        <p:spPr>
          <a:xfrm>
            <a:off x="8275320" y="5477256"/>
            <a:ext cx="3364992" cy="731520"/>
          </a:xfrm>
          <a:prstGeom prst="rect">
            <a:avLst/>
          </a:prstGeom>
          <a:noFill/>
          <a:ln/>
        </p:spPr>
        <p:txBody>
          <a:bodyPr wrap="square" lIns="0" tIns="0" rIns="0" bIns="0" rtlCol="0" anchor="t"/>
          <a:lstStyle/>
          <a:p>
            <a:pPr marL="0" indent="0">
              <a:buNone/>
            </a:pPr>
            <a:r>
              <a:rPr lang="en-US" sz="1300" dirty="0">
                <a:solidFill>
                  <a:srgbClr val="4E5B54"/>
                </a:solidFill>
                <a:latin typeface="Segoe UI" pitchFamily="34" charset="0"/>
                <a:ea typeface="Segoe UI" pitchFamily="34" charset="-122"/>
                <a:cs typeface="Segoe UI" pitchFamily="34" charset="-120"/>
              </a:rPr>
              <a:t>Ánh xạ và kiểm tra dữ liệu </a:t>
            </a:r>
            <a:r>
              <a:rPr lang="en-US" sz="1300" b="1" dirty="0">
                <a:solidFill>
                  <a:srgbClr val="1C2B25"/>
                </a:solidFill>
                <a:latin typeface="Segoe UI" pitchFamily="34" charset="0"/>
                <a:ea typeface="Segoe UI" pitchFamily="34" charset="-122"/>
                <a:cs typeface="Segoe UI" pitchFamily="34" charset="-120"/>
              </a:rPr>
              <a:t>hai tầng</a:t>
            </a:r>
            <a:r>
              <a:rPr lang="en-US" sz="1300" dirty="0">
                <a:solidFill>
                  <a:srgbClr val="4E5B54"/>
                </a:solidFill>
                <a:latin typeface="Segoe UI" pitchFamily="34" charset="0"/>
                <a:ea typeface="Segoe UI" pitchFamily="34" charset="-122"/>
                <a:cs typeface="Segoe UI" pitchFamily="34" charset="-120"/>
              </a:rPr>
              <a:t> tự viết</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600" fill="hold"/>
                                        <p:tgtEl>
                                          <p:spTgt spid="11"/>
                                        </p:tgtEl>
                                        <p:attrNameLst>
                                          <p:attrName>ppt_w</p:attrName>
                                        </p:attrNameLst>
                                      </p:cBhvr>
                                      <p:tavLst>
                                        <p:tav tm="0">
                                          <p:val>
                                            <p:fltVal val="0"/>
                                          </p:val>
                                        </p:tav>
                                        <p:tav tm="100000">
                                          <p:val>
                                            <p:strVal val="#ppt_w"/>
                                          </p:val>
                                        </p:tav>
                                      </p:tavLst>
                                    </p:anim>
                                    <p:anim calcmode="lin" valueType="num">
                                      <p:cBhvr>
                                        <p:cTn id="8" dur="600" fill="hold"/>
                                        <p:tgtEl>
                                          <p:spTgt spid="11"/>
                                        </p:tgtEl>
                                        <p:attrNameLst>
                                          <p:attrName>ppt_h</p:attrName>
                                        </p:attrNameLst>
                                      </p:cBhvr>
                                      <p:tavLst>
                                        <p:tav tm="0">
                                          <p:val>
                                            <p:fltVal val="0"/>
                                          </p:val>
                                        </p:tav>
                                        <p:tav tm="100000">
                                          <p:val>
                                            <p:strVal val="#ppt_h"/>
                                          </p:val>
                                        </p:tav>
                                      </p:tavLst>
                                    </p:anim>
                                    <p:animEffect transition="in" filter="fade">
                                      <p:cBhvr>
                                        <p:cTn id="9" dur="600"/>
                                        <p:tgtEl>
                                          <p:spTgt spid="11"/>
                                        </p:tgtEl>
                                      </p:cBhvr>
                                    </p:animEffect>
                                  </p:childTnLst>
                                </p:cTn>
                              </p:par>
                              <p:par>
                                <p:cTn id="10" presetID="53" presetClass="entr" presetSubtype="16"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600" fill="hold"/>
                                        <p:tgtEl>
                                          <p:spTgt spid="12"/>
                                        </p:tgtEl>
                                        <p:attrNameLst>
                                          <p:attrName>ppt_w</p:attrName>
                                        </p:attrNameLst>
                                      </p:cBhvr>
                                      <p:tavLst>
                                        <p:tav tm="0">
                                          <p:val>
                                            <p:fltVal val="0"/>
                                          </p:val>
                                        </p:tav>
                                        <p:tav tm="100000">
                                          <p:val>
                                            <p:strVal val="#ppt_w"/>
                                          </p:val>
                                        </p:tav>
                                      </p:tavLst>
                                    </p:anim>
                                    <p:anim calcmode="lin" valueType="num">
                                      <p:cBhvr>
                                        <p:cTn id="13" dur="600" fill="hold"/>
                                        <p:tgtEl>
                                          <p:spTgt spid="12"/>
                                        </p:tgtEl>
                                        <p:attrNameLst>
                                          <p:attrName>ppt_h</p:attrName>
                                        </p:attrNameLst>
                                      </p:cBhvr>
                                      <p:tavLst>
                                        <p:tav tm="0">
                                          <p:val>
                                            <p:fltVal val="0"/>
                                          </p:val>
                                        </p:tav>
                                        <p:tav tm="100000">
                                          <p:val>
                                            <p:strVal val="#ppt_h"/>
                                          </p:val>
                                        </p:tav>
                                      </p:tavLst>
                                    </p:anim>
                                    <p:animEffect transition="in" filter="fade">
                                      <p:cBhvr>
                                        <p:cTn id="14" dur="6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anim calcmode="lin" valueType="num">
                                      <p:cBhvr>
                                        <p:cTn id="20" dur="500" fill="hold"/>
                                        <p:tgtEl>
                                          <p:spTgt spid="13"/>
                                        </p:tgtEl>
                                        <p:attrNameLst>
                                          <p:attrName>ppt_x</p:attrName>
                                        </p:attrNameLst>
                                      </p:cBhvr>
                                      <p:tavLst>
                                        <p:tav tm="0">
                                          <p:val>
                                            <p:strVal val="#ppt_x"/>
                                          </p:val>
                                        </p:tav>
                                        <p:tav tm="100000">
                                          <p:val>
                                            <p:strVal val="#ppt_x"/>
                                          </p:val>
                                        </p:tav>
                                      </p:tavLst>
                                    </p:anim>
                                    <p:anim calcmode="lin" valueType="num">
                                      <p:cBhvr>
                                        <p:cTn id="21" dur="500" fill="hold"/>
                                        <p:tgtEl>
                                          <p:spTgt spid="13"/>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anim calcmode="lin" valueType="num">
                                      <p:cBhvr>
                                        <p:cTn id="25" dur="500" fill="hold"/>
                                        <p:tgtEl>
                                          <p:spTgt spid="14"/>
                                        </p:tgtEl>
                                        <p:attrNameLst>
                                          <p:attrName>ppt_x</p:attrName>
                                        </p:attrNameLst>
                                      </p:cBhvr>
                                      <p:tavLst>
                                        <p:tav tm="0">
                                          <p:val>
                                            <p:strVal val="#ppt_x"/>
                                          </p:val>
                                        </p:tav>
                                        <p:tav tm="100000">
                                          <p:val>
                                            <p:strVal val="#ppt_x"/>
                                          </p:val>
                                        </p:tav>
                                      </p:tavLst>
                                    </p:anim>
                                    <p:anim calcmode="lin" valueType="num">
                                      <p:cBhvr>
                                        <p:cTn id="26" dur="500" fill="hold"/>
                                        <p:tgtEl>
                                          <p:spTgt spid="14"/>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anim calcmode="lin" valueType="num">
                                      <p:cBhvr>
                                        <p:cTn id="30" dur="500" fill="hold"/>
                                        <p:tgtEl>
                                          <p:spTgt spid="15"/>
                                        </p:tgtEl>
                                        <p:attrNameLst>
                                          <p:attrName>ppt_x</p:attrName>
                                        </p:attrNameLst>
                                      </p:cBhvr>
                                      <p:tavLst>
                                        <p:tav tm="0">
                                          <p:val>
                                            <p:strVal val="#ppt_x"/>
                                          </p:val>
                                        </p:tav>
                                        <p:tav tm="100000">
                                          <p:val>
                                            <p:strVal val="#ppt_x"/>
                                          </p:val>
                                        </p:tav>
                                      </p:tavLst>
                                    </p:anim>
                                    <p:anim calcmode="lin" valueType="num">
                                      <p:cBhvr>
                                        <p:cTn id="31" dur="500" fill="hold"/>
                                        <p:tgtEl>
                                          <p:spTgt spid="15"/>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12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anim calcmode="lin" valueType="num">
                                      <p:cBhvr>
                                        <p:cTn id="35" dur="500" fill="hold"/>
                                        <p:tgtEl>
                                          <p:spTgt spid="16"/>
                                        </p:tgtEl>
                                        <p:attrNameLst>
                                          <p:attrName>ppt_x</p:attrName>
                                        </p:attrNameLst>
                                      </p:cBhvr>
                                      <p:tavLst>
                                        <p:tav tm="0">
                                          <p:val>
                                            <p:strVal val="#ppt_x"/>
                                          </p:val>
                                        </p:tav>
                                        <p:tav tm="100000">
                                          <p:val>
                                            <p:strVal val="#ppt_x"/>
                                          </p:val>
                                        </p:tav>
                                      </p:tavLst>
                                    </p:anim>
                                    <p:anim calcmode="lin" valueType="num">
                                      <p:cBhvr>
                                        <p:cTn id="36" dur="500" fill="hold"/>
                                        <p:tgtEl>
                                          <p:spTgt spid="16"/>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12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anim calcmode="lin" valueType="num">
                                      <p:cBhvr>
                                        <p:cTn id="40" dur="500" fill="hold"/>
                                        <p:tgtEl>
                                          <p:spTgt spid="17"/>
                                        </p:tgtEl>
                                        <p:attrNameLst>
                                          <p:attrName>ppt_x</p:attrName>
                                        </p:attrNameLst>
                                      </p:cBhvr>
                                      <p:tavLst>
                                        <p:tav tm="0">
                                          <p:val>
                                            <p:strVal val="#ppt_x"/>
                                          </p:val>
                                        </p:tav>
                                        <p:tav tm="100000">
                                          <p:val>
                                            <p:strVal val="#ppt_x"/>
                                          </p:val>
                                        </p:tav>
                                      </p:tavLst>
                                    </p:anim>
                                    <p:anim calcmode="lin" valueType="num">
                                      <p:cBhvr>
                                        <p:cTn id="41" dur="500" fill="hold"/>
                                        <p:tgtEl>
                                          <p:spTgt spid="17"/>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12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anim calcmode="lin" valueType="num">
                                      <p:cBhvr>
                                        <p:cTn id="45" dur="500" fill="hold"/>
                                        <p:tgtEl>
                                          <p:spTgt spid="18"/>
                                        </p:tgtEl>
                                        <p:attrNameLst>
                                          <p:attrName>ppt_x</p:attrName>
                                        </p:attrNameLst>
                                      </p:cBhvr>
                                      <p:tavLst>
                                        <p:tav tm="0">
                                          <p:val>
                                            <p:strVal val="#ppt_x"/>
                                          </p:val>
                                        </p:tav>
                                        <p:tav tm="100000">
                                          <p:val>
                                            <p:strVal val="#ppt_x"/>
                                          </p:val>
                                        </p:tav>
                                      </p:tavLst>
                                    </p:anim>
                                    <p:anim calcmode="lin" valueType="num">
                                      <p:cBhvr>
                                        <p:cTn id="46" dur="500" fill="hold"/>
                                        <p:tgtEl>
                                          <p:spTgt spid="18"/>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24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anim calcmode="lin" valueType="num">
                                      <p:cBhvr>
                                        <p:cTn id="50" dur="500" fill="hold"/>
                                        <p:tgtEl>
                                          <p:spTgt spid="19"/>
                                        </p:tgtEl>
                                        <p:attrNameLst>
                                          <p:attrName>ppt_x</p:attrName>
                                        </p:attrNameLst>
                                      </p:cBhvr>
                                      <p:tavLst>
                                        <p:tav tm="0">
                                          <p:val>
                                            <p:strVal val="#ppt_x"/>
                                          </p:val>
                                        </p:tav>
                                        <p:tav tm="100000">
                                          <p:val>
                                            <p:strVal val="#ppt_x"/>
                                          </p:val>
                                        </p:tav>
                                      </p:tavLst>
                                    </p:anim>
                                    <p:anim calcmode="lin" valueType="num">
                                      <p:cBhvr>
                                        <p:cTn id="51" dur="500" fill="hold"/>
                                        <p:tgtEl>
                                          <p:spTgt spid="19"/>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24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anim calcmode="lin" valueType="num">
                                      <p:cBhvr>
                                        <p:cTn id="55" dur="500" fill="hold"/>
                                        <p:tgtEl>
                                          <p:spTgt spid="20"/>
                                        </p:tgtEl>
                                        <p:attrNameLst>
                                          <p:attrName>ppt_x</p:attrName>
                                        </p:attrNameLst>
                                      </p:cBhvr>
                                      <p:tavLst>
                                        <p:tav tm="0">
                                          <p:val>
                                            <p:strVal val="#ppt_x"/>
                                          </p:val>
                                        </p:tav>
                                        <p:tav tm="100000">
                                          <p:val>
                                            <p:strVal val="#ppt_x"/>
                                          </p:val>
                                        </p:tav>
                                      </p:tavLst>
                                    </p:anim>
                                    <p:anim calcmode="lin" valueType="num">
                                      <p:cBhvr>
                                        <p:cTn id="56" dur="500" fill="hold"/>
                                        <p:tgtEl>
                                          <p:spTgt spid="20"/>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24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anim calcmode="lin" valueType="num">
                                      <p:cBhvr>
                                        <p:cTn id="60" dur="500" fill="hold"/>
                                        <p:tgtEl>
                                          <p:spTgt spid="21"/>
                                        </p:tgtEl>
                                        <p:attrNameLst>
                                          <p:attrName>ppt_x</p:attrName>
                                        </p:attrNameLst>
                                      </p:cBhvr>
                                      <p:tavLst>
                                        <p:tav tm="0">
                                          <p:val>
                                            <p:strVal val="#ppt_x"/>
                                          </p:val>
                                        </p:tav>
                                        <p:tav tm="100000">
                                          <p:val>
                                            <p:strVal val="#ppt_x"/>
                                          </p:val>
                                        </p:tav>
                                      </p:tavLst>
                                    </p:anim>
                                    <p:anim calcmode="lin" valueType="num">
                                      <p:cBhvr>
                                        <p:cTn id="61" dur="500" fill="hold"/>
                                        <p:tgtEl>
                                          <p:spTgt spid="21"/>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36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anim calcmode="lin" valueType="num">
                                      <p:cBhvr>
                                        <p:cTn id="65" dur="500" fill="hold"/>
                                        <p:tgtEl>
                                          <p:spTgt spid="22"/>
                                        </p:tgtEl>
                                        <p:attrNameLst>
                                          <p:attrName>ppt_x</p:attrName>
                                        </p:attrNameLst>
                                      </p:cBhvr>
                                      <p:tavLst>
                                        <p:tav tm="0">
                                          <p:val>
                                            <p:strVal val="#ppt_x"/>
                                          </p:val>
                                        </p:tav>
                                        <p:tav tm="100000">
                                          <p:val>
                                            <p:strVal val="#ppt_x"/>
                                          </p:val>
                                        </p:tav>
                                      </p:tavLst>
                                    </p:anim>
                                    <p:anim calcmode="lin" valueType="num">
                                      <p:cBhvr>
                                        <p:cTn id="66" dur="500" fill="hold"/>
                                        <p:tgtEl>
                                          <p:spTgt spid="22"/>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36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anim calcmode="lin" valueType="num">
                                      <p:cBhvr>
                                        <p:cTn id="70" dur="500" fill="hold"/>
                                        <p:tgtEl>
                                          <p:spTgt spid="23"/>
                                        </p:tgtEl>
                                        <p:attrNameLst>
                                          <p:attrName>ppt_x</p:attrName>
                                        </p:attrNameLst>
                                      </p:cBhvr>
                                      <p:tavLst>
                                        <p:tav tm="0">
                                          <p:val>
                                            <p:strVal val="#ppt_x"/>
                                          </p:val>
                                        </p:tav>
                                        <p:tav tm="100000">
                                          <p:val>
                                            <p:strVal val="#ppt_x"/>
                                          </p:val>
                                        </p:tav>
                                      </p:tavLst>
                                    </p:anim>
                                    <p:anim calcmode="lin" valueType="num">
                                      <p:cBhvr>
                                        <p:cTn id="71" dur="500" fill="hold"/>
                                        <p:tgtEl>
                                          <p:spTgt spid="23"/>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36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anim calcmode="lin" valueType="num">
                                      <p:cBhvr>
                                        <p:cTn id="75" dur="500" fill="hold"/>
                                        <p:tgtEl>
                                          <p:spTgt spid="24"/>
                                        </p:tgtEl>
                                        <p:attrNameLst>
                                          <p:attrName>ppt_x</p:attrName>
                                        </p:attrNameLst>
                                      </p:cBhvr>
                                      <p:tavLst>
                                        <p:tav tm="0">
                                          <p:val>
                                            <p:strVal val="#ppt_x"/>
                                          </p:val>
                                        </p:tav>
                                        <p:tav tm="100000">
                                          <p:val>
                                            <p:strVal val="#ppt_x"/>
                                          </p:val>
                                        </p:tav>
                                      </p:tavLst>
                                    </p:anim>
                                    <p:anim calcmode="lin" valueType="num">
                                      <p:cBhvr>
                                        <p:cTn id="76" dur="5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8F4"/>
        </a:solidFill>
        <a:effectLst/>
      </p:bgPr>
    </p:bg>
    <p:spTree>
      <p:nvGrpSpPr>
        <p:cNvPr id="1" name=""/>
        <p:cNvGrpSpPr/>
        <p:nvPr/>
      </p:nvGrpSpPr>
      <p:grpSpPr>
        <a:xfrm>
          <a:off x="0" y="0"/>
          <a:ext cx="0" cy="0"/>
          <a:chOff x="0" y="0"/>
          <a:chExt cx="0" cy="0"/>
        </a:xfrm>
      </p:grpSpPr>
      <p:sp>
        <p:nvSpPr>
          <p:cNvPr id="2" name="!!TopBar"/>
          <p:cNvSpPr/>
          <p:nvPr/>
        </p:nvSpPr>
        <p:spPr>
          <a:xfrm>
            <a:off x="0" y="0"/>
            <a:ext cx="12191695" cy="91440"/>
          </a:xfrm>
          <a:prstGeom prst="rect">
            <a:avLst/>
          </a:prstGeom>
          <a:solidFill>
            <a:srgbClr val="12201B"/>
          </a:solidFill>
          <a:ln/>
        </p:spPr>
      </p:sp>
      <p:sp>
        <p:nvSpPr>
          <p:cNvPr id="3" name="!!LogoBg"/>
          <p:cNvSpPr/>
          <p:nvPr/>
        </p:nvSpPr>
        <p:spPr>
          <a:xfrm>
            <a:off x="11256264" y="274320"/>
            <a:ext cx="402336" cy="402336"/>
          </a:xfrm>
          <a:prstGeom prst="ellipse">
            <a:avLst/>
          </a:prstGeom>
          <a:solidFill>
            <a:srgbClr val="FFFFFF"/>
          </a:solidFill>
          <a:ln/>
        </p:spPr>
      </p:sp>
      <p:pic>
        <p:nvPicPr>
          <p:cNvPr id="4" name="!!Logo" descr="Logo Trường Đại học Trà Vinh"/>
          <p:cNvPicPr>
            <a:picLocks noChangeAspect="1"/>
          </p:cNvPicPr>
          <p:nvPr/>
        </p:nvPicPr>
        <p:blipFill>
          <a:blip r:embed="rId3"/>
          <a:stretch>
            <a:fillRect/>
          </a:stretch>
        </p:blipFill>
        <p:spPr>
          <a:xfrm>
            <a:off x="11269980" y="288036"/>
            <a:ext cx="374904" cy="374904"/>
          </a:xfrm>
          <a:prstGeom prst="rect">
            <a:avLst/>
          </a:prstGeom>
        </p:spPr>
      </p:pic>
      <p:sp>
        <p:nvSpPr>
          <p:cNvPr id="5" name="!!Label"/>
          <p:cNvSpPr txBox="1"/>
          <p:nvPr/>
        </p:nvSpPr>
        <p:spPr>
          <a:xfrm>
            <a:off x="8138160" y="365760"/>
            <a:ext cx="2971800" cy="274320"/>
          </a:xfrm>
          <a:prstGeom prst="rect">
            <a:avLst/>
          </a:prstGeom>
          <a:noFill/>
          <a:ln/>
        </p:spPr>
        <p:txBody>
          <a:bodyPr wrap="square" lIns="0" tIns="0" rIns="0" bIns="0" rtlCol="0" anchor="t"/>
          <a:lstStyle/>
          <a:p>
            <a:pPr marL="0" indent="0" algn="r">
              <a:buNone/>
            </a:pPr>
            <a:r>
              <a:rPr lang="en-US" sz="1000" b="1" kern="0" spc="150" dirty="0">
                <a:solidFill>
                  <a:srgbClr val="43705F"/>
                </a:solidFill>
                <a:latin typeface="Segoe UI" pitchFamily="34" charset="0"/>
                <a:ea typeface="Segoe UI" pitchFamily="34" charset="-122"/>
                <a:cs typeface="Segoe UI" pitchFamily="34" charset="-120"/>
              </a:rPr>
              <a:t>CƠ SỞ DỮ LIỆU</a:t>
            </a:r>
            <a:endParaRPr lang="en-US" sz="1000" dirty="0"/>
          </a:p>
        </p:txBody>
      </p:sp>
      <p:sp>
        <p:nvSpPr>
          <p:cNvPr id="6" name="!!Title"/>
          <p:cNvSpPr txBox="1"/>
          <p:nvPr/>
        </p:nvSpPr>
        <p:spPr>
          <a:xfrm>
            <a:off x="548640" y="329184"/>
            <a:ext cx="8138160" cy="548640"/>
          </a:xfrm>
          <a:prstGeom prst="rect">
            <a:avLst/>
          </a:prstGeom>
          <a:noFill/>
          <a:ln/>
        </p:spPr>
        <p:txBody>
          <a:bodyPr wrap="square" lIns="0" tIns="0" rIns="0" bIns="0" rtlCol="0" anchor="t"/>
          <a:lstStyle/>
          <a:p>
            <a:pPr marL="0" indent="0">
              <a:buNone/>
            </a:pPr>
            <a:r>
              <a:rPr lang="en-US" sz="2800" b="1" dirty="0">
                <a:solidFill>
                  <a:srgbClr val="1C2B25"/>
                </a:solidFill>
                <a:latin typeface="Cambria" pitchFamily="34" charset="0"/>
                <a:ea typeface="Cambria" pitchFamily="34" charset="-122"/>
                <a:cs typeface="Cambria" pitchFamily="34" charset="-120"/>
              </a:rPr>
              <a:t>Thiết kế cơ sở dữ liệu</a:t>
            </a:r>
            <a:endParaRPr lang="en-US" sz="2800" dirty="0"/>
          </a:p>
        </p:txBody>
      </p:sp>
      <p:sp>
        <p:nvSpPr>
          <p:cNvPr id="7" name="!!Subtitle"/>
          <p:cNvSpPr txBox="1"/>
          <p:nvPr/>
        </p:nvSpPr>
        <p:spPr>
          <a:xfrm>
            <a:off x="548640" y="914400"/>
            <a:ext cx="10241280" cy="274320"/>
          </a:xfrm>
          <a:prstGeom prst="rect">
            <a:avLst/>
          </a:prstGeom>
          <a:noFill/>
          <a:ln/>
        </p:spPr>
        <p:txBody>
          <a:bodyPr wrap="square" lIns="0" tIns="0" rIns="0" bIns="0" rtlCol="0" anchor="t"/>
          <a:lstStyle/>
          <a:p>
            <a:pPr marL="0" indent="0">
              <a:buNone/>
            </a:pPr>
            <a:r>
              <a:rPr lang="en-US" sz="1250" dirty="0">
                <a:solidFill>
                  <a:srgbClr val="4E5B54"/>
                </a:solidFill>
                <a:latin typeface="Segoe UI" pitchFamily="34" charset="0"/>
                <a:ea typeface="Segoe UI" pitchFamily="34" charset="-122"/>
                <a:cs typeface="Segoe UI" pitchFamily="34" charset="-120"/>
              </a:rPr>
              <a:t>Bốn bảng nghiệp vụ Relics, Provinces, RelicTypes, RelicImages và ba bảng tài khoản của Identity</a:t>
            </a:r>
            <a:endParaRPr lang="en-US" sz="1250" dirty="0"/>
          </a:p>
        </p:txBody>
      </p:sp>
      <p:sp>
        <p:nvSpPr>
          <p:cNvPr id="8" name="!!Accent"/>
          <p:cNvSpPr/>
          <p:nvPr/>
        </p:nvSpPr>
        <p:spPr>
          <a:xfrm>
            <a:off x="548640" y="1280160"/>
            <a:ext cx="1005840" cy="45720"/>
          </a:xfrm>
          <a:prstGeom prst="rect">
            <a:avLst/>
          </a:prstGeom>
          <a:solidFill>
            <a:srgbClr val="43705F"/>
          </a:solidFill>
          <a:ln/>
        </p:spPr>
      </p:sp>
      <p:sp>
        <p:nvSpPr>
          <p:cNvPr id="9" name="!!Footer"/>
          <p:cNvSpPr txBox="1"/>
          <p:nvPr/>
        </p:nvSpPr>
        <p:spPr>
          <a:xfrm>
            <a:off x="548640" y="6455664"/>
            <a:ext cx="7315200" cy="219456"/>
          </a:xfrm>
          <a:prstGeom prst="rect">
            <a:avLst/>
          </a:prstGeom>
          <a:noFill/>
          <a:ln/>
        </p:spPr>
        <p:txBody>
          <a:bodyPr wrap="square" lIns="0" tIns="0" rIns="0" bIns="0" rtlCol="0" anchor="t"/>
          <a:lstStyle/>
          <a:p>
            <a:pPr marL="0" indent="0">
              <a:buNone/>
            </a:pPr>
            <a:r>
              <a:rPr lang="en-US" sz="900" dirty="0">
                <a:solidFill>
                  <a:srgbClr val="4E5B54"/>
                </a:solidFill>
                <a:latin typeface="Segoe UI" pitchFamily="34" charset="0"/>
                <a:ea typeface="Segoe UI" pitchFamily="34" charset="-122"/>
                <a:cs typeface="Segoe UI" pitchFamily="34" charset="-120"/>
              </a:rPr>
              <a:t>Đồ án thực tập cơ sở ngành · Website di tích Việt Nam</a:t>
            </a:r>
            <a:endParaRPr lang="en-US" sz="900" dirty="0"/>
          </a:p>
        </p:txBody>
      </p:sp>
      <p:sp>
        <p:nvSpPr>
          <p:cNvPr id="10" name="!!PageNum"/>
          <p:cNvSpPr txBox="1"/>
          <p:nvPr/>
        </p:nvSpPr>
        <p:spPr>
          <a:xfrm>
            <a:off x="11091672" y="6455664"/>
            <a:ext cx="548640" cy="219456"/>
          </a:xfrm>
          <a:prstGeom prst="rect">
            <a:avLst/>
          </a:prstGeom>
          <a:noFill/>
          <a:ln/>
        </p:spPr>
        <p:txBody>
          <a:bodyPr wrap="square" lIns="0" tIns="0" rIns="0" bIns="0" rtlCol="0" anchor="t"/>
          <a:lstStyle/>
          <a:p>
            <a:pPr marL="0" indent="0" algn="r">
              <a:buNone/>
            </a:pPr>
            <a:r>
              <a:rPr lang="en-US" sz="900" dirty="0">
                <a:solidFill>
                  <a:srgbClr val="4E5B54"/>
                </a:solidFill>
                <a:latin typeface="Segoe UI" pitchFamily="34" charset="0"/>
                <a:ea typeface="Segoe UI" pitchFamily="34" charset="-122"/>
                <a:cs typeface="Segoe UI" pitchFamily="34" charset="-120"/>
              </a:rPr>
              <a:t>08</a:t>
            </a:r>
            <a:endParaRPr lang="en-US" sz="900" dirty="0"/>
          </a:p>
        </p:txBody>
      </p:sp>
      <p:sp>
        <p:nvSpPr>
          <p:cNvPr id="11" name="S08 Rectangle 11"/>
          <p:cNvSpPr/>
          <p:nvPr/>
        </p:nvSpPr>
        <p:spPr>
          <a:xfrm>
            <a:off x="548640" y="1554480"/>
            <a:ext cx="5120640" cy="4663440"/>
          </a:xfrm>
          <a:prstGeom prst="rect">
            <a:avLst/>
          </a:prstGeom>
          <a:solidFill>
            <a:srgbClr val="FFFFFF"/>
          </a:solidFill>
          <a:ln w="9525">
            <a:solidFill>
              <a:srgbClr val="C9CDC2"/>
            </a:solidFill>
            <a:prstDash val="solid"/>
          </a:ln>
          <a:effectLst>
            <a:outerShdw blurRad="127000" dist="25400" dir="5400000" algn="bl" rotWithShape="0">
              <a:srgbClr val="000000">
                <a:alpha val="12000"/>
              </a:srgbClr>
            </a:outerShdw>
          </a:effectLst>
        </p:spPr>
      </p:sp>
      <p:pic>
        <p:nvPicPr>
          <p:cNvPr id="12" name="S08 Picture 12" descr="Sơ đồ thực thể liên kết"/>
          <p:cNvPicPr>
            <a:picLocks noChangeAspect="1"/>
          </p:cNvPicPr>
          <p:nvPr/>
        </p:nvPicPr>
        <p:blipFill>
          <a:blip r:embed="rId4"/>
          <a:stretch>
            <a:fillRect/>
          </a:stretch>
        </p:blipFill>
        <p:spPr>
          <a:xfrm>
            <a:off x="736092" y="1668780"/>
            <a:ext cx="4745736" cy="4434840"/>
          </a:xfrm>
          <a:prstGeom prst="rect">
            <a:avLst/>
          </a:prstGeom>
        </p:spPr>
      </p:pic>
      <p:sp>
        <p:nvSpPr>
          <p:cNvPr id="13" name="S08 Rectangle 13"/>
          <p:cNvSpPr/>
          <p:nvPr/>
        </p:nvSpPr>
        <p:spPr>
          <a:xfrm>
            <a:off x="5989320" y="1554480"/>
            <a:ext cx="2779776" cy="2267712"/>
          </a:xfrm>
          <a:prstGeom prst="rect">
            <a:avLst/>
          </a:prstGeom>
          <a:solidFill>
            <a:srgbClr val="E6E8E1"/>
          </a:solidFill>
          <a:ln/>
        </p:spPr>
      </p:sp>
      <p:sp>
        <p:nvSpPr>
          <p:cNvPr id="14" name="S08 TextBox 14"/>
          <p:cNvSpPr txBox="1"/>
          <p:nvPr/>
        </p:nvSpPr>
        <p:spPr>
          <a:xfrm>
            <a:off x="6190488" y="1773936"/>
            <a:ext cx="2377440" cy="347472"/>
          </a:xfrm>
          <a:prstGeom prst="rect">
            <a:avLst/>
          </a:prstGeom>
          <a:noFill/>
          <a:ln/>
        </p:spPr>
        <p:txBody>
          <a:bodyPr wrap="square" lIns="0" tIns="0" rIns="0" bIns="0" rtlCol="0" anchor="t"/>
          <a:lstStyle/>
          <a:p>
            <a:pPr marL="0" indent="0">
              <a:buNone/>
            </a:pPr>
            <a:r>
              <a:rPr lang="en-US" sz="1600" b="1" dirty="0">
                <a:solidFill>
                  <a:srgbClr val="1C2B25"/>
                </a:solidFill>
                <a:latin typeface="Segoe UI" pitchFamily="34" charset="0"/>
                <a:ea typeface="Segoe UI" pitchFamily="34" charset="-122"/>
                <a:cs typeface="Segoe UI" pitchFamily="34" charset="-120"/>
              </a:rPr>
              <a:t>Tìm không dấu</a:t>
            </a:r>
            <a:endParaRPr lang="en-US" sz="1600" dirty="0"/>
          </a:p>
        </p:txBody>
      </p:sp>
      <p:sp>
        <p:nvSpPr>
          <p:cNvPr id="15" name="S08 TextBox 15"/>
          <p:cNvSpPr txBox="1"/>
          <p:nvPr/>
        </p:nvSpPr>
        <p:spPr>
          <a:xfrm>
            <a:off x="6190488" y="2249424"/>
            <a:ext cx="2377440" cy="1463040"/>
          </a:xfrm>
          <a:prstGeom prst="rect">
            <a:avLst/>
          </a:prstGeom>
          <a:noFill/>
          <a:ln/>
        </p:spPr>
        <p:txBody>
          <a:bodyPr wrap="square" lIns="0" tIns="0" rIns="0" bIns="0" rtlCol="0" anchor="t"/>
          <a:lstStyle/>
          <a:p>
            <a:pPr marL="0" indent="0">
              <a:buNone/>
            </a:pPr>
            <a:r>
              <a:rPr lang="en-US" sz="1400" dirty="0">
                <a:solidFill>
                  <a:srgbClr val="1C2B25"/>
                </a:solidFill>
                <a:latin typeface="Segoe UI" pitchFamily="34" charset="0"/>
                <a:ea typeface="Segoe UI" pitchFamily="34" charset="-122"/>
                <a:cs typeface="Segoe UI" pitchFamily="34" charset="-120"/>
              </a:rPr>
              <a:t>Lưu sẵn </a:t>
            </a:r>
            <a:r>
              <a:rPr lang="en-US" sz="1400" b="1" dirty="0">
                <a:solidFill>
                  <a:srgbClr val="9E2B25"/>
                </a:solidFill>
                <a:latin typeface="Segoe UI" pitchFamily="34" charset="0"/>
                <a:ea typeface="Segoe UI" pitchFamily="34" charset="-122"/>
                <a:cs typeface="Segoe UI" pitchFamily="34" charset="-120"/>
              </a:rPr>
              <a:t>NameNoAccent</a:t>
            </a:r>
            <a:r>
              <a:rPr lang="en-US" sz="1400" dirty="0">
                <a:solidFill>
                  <a:srgbClr val="1C2B25"/>
                </a:solidFill>
                <a:latin typeface="Segoe UI" pitchFamily="34" charset="0"/>
                <a:ea typeface="Segoe UI" pitchFamily="34" charset="-122"/>
                <a:cs typeface="Segoe UI" pitchFamily="34" charset="-120"/>
              </a:rPr>
              <a:t>, </a:t>
            </a:r>
            <a:r>
              <a:rPr lang="en-US" sz="1400" b="1" dirty="0">
                <a:solidFill>
                  <a:srgbClr val="9E2B25"/>
                </a:solidFill>
                <a:latin typeface="Segoe UI" pitchFamily="34" charset="0"/>
                <a:ea typeface="Segoe UI" pitchFamily="34" charset="-122"/>
                <a:cs typeface="Segoe UI" pitchFamily="34" charset="-120"/>
              </a:rPr>
              <a:t>DescriptionNoAccent</a:t>
            </a:r>
            <a:r>
              <a:rPr lang="en-US" sz="1400" dirty="0">
                <a:solidFill>
                  <a:srgbClr val="1C2B25"/>
                </a:solidFill>
                <a:latin typeface="Segoe UI" pitchFamily="34" charset="0"/>
                <a:ea typeface="Segoe UI" pitchFamily="34" charset="-122"/>
                <a:cs typeface="Segoe UI" pitchFamily="34" charset="-120"/>
              </a:rPr>
              <a:t>, tính lại mỗi lần lưu</a:t>
            </a:r>
            <a:endParaRPr lang="en-US" sz="1400" dirty="0"/>
          </a:p>
        </p:txBody>
      </p:sp>
      <p:sp>
        <p:nvSpPr>
          <p:cNvPr id="16" name="S08 Rectangle 16"/>
          <p:cNvSpPr/>
          <p:nvPr/>
        </p:nvSpPr>
        <p:spPr>
          <a:xfrm>
            <a:off x="8860536" y="1554480"/>
            <a:ext cx="2779776" cy="2267712"/>
          </a:xfrm>
          <a:prstGeom prst="rect">
            <a:avLst/>
          </a:prstGeom>
          <a:solidFill>
            <a:srgbClr val="E6E8E1"/>
          </a:solidFill>
          <a:ln/>
        </p:spPr>
      </p:sp>
      <p:sp>
        <p:nvSpPr>
          <p:cNvPr id="17" name="S08 TextBox 17"/>
          <p:cNvSpPr txBox="1"/>
          <p:nvPr/>
        </p:nvSpPr>
        <p:spPr>
          <a:xfrm>
            <a:off x="9061704" y="1773936"/>
            <a:ext cx="2377440" cy="347472"/>
          </a:xfrm>
          <a:prstGeom prst="rect">
            <a:avLst/>
          </a:prstGeom>
          <a:noFill/>
          <a:ln/>
        </p:spPr>
        <p:txBody>
          <a:bodyPr wrap="square" lIns="0" tIns="0" rIns="0" bIns="0" rtlCol="0" anchor="t"/>
          <a:lstStyle/>
          <a:p>
            <a:pPr marL="0" indent="0">
              <a:buNone/>
            </a:pPr>
            <a:r>
              <a:rPr lang="en-US" sz="1600" b="1" dirty="0">
                <a:solidFill>
                  <a:srgbClr val="1C2B25"/>
                </a:solidFill>
                <a:latin typeface="Segoe UI" pitchFamily="34" charset="0"/>
                <a:ea typeface="Segoe UI" pitchFamily="34" charset="-122"/>
                <a:cs typeface="Segoe UI" pitchFamily="34" charset="-120"/>
              </a:rPr>
              <a:t>Slug làm địa chỉ</a:t>
            </a:r>
            <a:endParaRPr lang="en-US" sz="1600" dirty="0"/>
          </a:p>
        </p:txBody>
      </p:sp>
      <p:sp>
        <p:nvSpPr>
          <p:cNvPr id="18" name="S08 TextBox 18"/>
          <p:cNvSpPr txBox="1"/>
          <p:nvPr/>
        </p:nvSpPr>
        <p:spPr>
          <a:xfrm>
            <a:off x="9061704" y="2249424"/>
            <a:ext cx="2377440" cy="1463040"/>
          </a:xfrm>
          <a:prstGeom prst="rect">
            <a:avLst/>
          </a:prstGeom>
          <a:noFill/>
          <a:ln/>
        </p:spPr>
        <p:txBody>
          <a:bodyPr wrap="square" lIns="0" tIns="0" rIns="0" bIns="0" rtlCol="0" anchor="t"/>
          <a:lstStyle/>
          <a:p>
            <a:pPr marL="0" indent="0">
              <a:buNone/>
            </a:pPr>
            <a:r>
              <a:rPr lang="en-US" sz="1400" dirty="0">
                <a:solidFill>
                  <a:srgbClr val="1C2B25"/>
                </a:solidFill>
                <a:latin typeface="Segoe UI" pitchFamily="34" charset="0"/>
                <a:ea typeface="Segoe UI" pitchFamily="34" charset="-122"/>
                <a:cs typeface="Segoe UI" pitchFamily="34" charset="-120"/>
              </a:rPr>
              <a:t>Ví dụ </a:t>
            </a:r>
            <a:r>
              <a:rPr lang="en-US" sz="1400" b="1" dirty="0">
                <a:solidFill>
                  <a:srgbClr val="9E2B25"/>
                </a:solidFill>
                <a:latin typeface="Segoe UI" pitchFamily="34" charset="0"/>
                <a:ea typeface="Segoe UI" pitchFamily="34" charset="-122"/>
                <a:cs typeface="Segoe UI" pitchFamily="34" charset="-120"/>
              </a:rPr>
              <a:t>/di-tich/van-mieu-quoc-tu-giam</a:t>
            </a:r>
            <a:r>
              <a:rPr lang="en-US" sz="1400" dirty="0">
                <a:solidFill>
                  <a:srgbClr val="1C2B25"/>
                </a:solidFill>
                <a:latin typeface="Segoe UI" pitchFamily="34" charset="0"/>
                <a:ea typeface="Segoe UI" pitchFamily="34" charset="-122"/>
                <a:cs typeface="Segoe UI" pitchFamily="34" charset="-120"/>
              </a:rPr>
              <a:t>, chỉ mục duy nhất</a:t>
            </a:r>
            <a:endParaRPr lang="en-US" sz="1400" dirty="0"/>
          </a:p>
        </p:txBody>
      </p:sp>
      <p:sp>
        <p:nvSpPr>
          <p:cNvPr id="19" name="S08 Rectangle 19"/>
          <p:cNvSpPr/>
          <p:nvPr/>
        </p:nvSpPr>
        <p:spPr>
          <a:xfrm>
            <a:off x="5989320" y="3950208"/>
            <a:ext cx="2779776" cy="2267712"/>
          </a:xfrm>
          <a:prstGeom prst="rect">
            <a:avLst/>
          </a:prstGeom>
          <a:solidFill>
            <a:srgbClr val="E6E8E1"/>
          </a:solidFill>
          <a:ln/>
        </p:spPr>
      </p:sp>
      <p:sp>
        <p:nvSpPr>
          <p:cNvPr id="20" name="S08 TextBox 20"/>
          <p:cNvSpPr txBox="1"/>
          <p:nvPr/>
        </p:nvSpPr>
        <p:spPr>
          <a:xfrm>
            <a:off x="6190488" y="4169664"/>
            <a:ext cx="2377440" cy="347472"/>
          </a:xfrm>
          <a:prstGeom prst="rect">
            <a:avLst/>
          </a:prstGeom>
          <a:noFill/>
          <a:ln/>
        </p:spPr>
        <p:txBody>
          <a:bodyPr wrap="square" lIns="0" tIns="0" rIns="0" bIns="0" rtlCol="0" anchor="t"/>
          <a:lstStyle/>
          <a:p>
            <a:pPr marL="0" indent="0">
              <a:buNone/>
            </a:pPr>
            <a:r>
              <a:rPr lang="en-US" sz="1600" b="1" dirty="0">
                <a:solidFill>
                  <a:srgbClr val="1C2B25"/>
                </a:solidFill>
                <a:latin typeface="Segoe UI" pitchFamily="34" charset="0"/>
                <a:ea typeface="Segoe UI" pitchFamily="34" charset="-122"/>
                <a:cs typeface="Segoe UI" pitchFamily="34" charset="-120"/>
              </a:rPr>
              <a:t>Cấp xếp hạng</a:t>
            </a:r>
            <a:endParaRPr lang="en-US" sz="1600" dirty="0"/>
          </a:p>
        </p:txBody>
      </p:sp>
      <p:sp>
        <p:nvSpPr>
          <p:cNvPr id="21" name="S08 TextBox 21"/>
          <p:cNvSpPr txBox="1"/>
          <p:nvPr/>
        </p:nvSpPr>
        <p:spPr>
          <a:xfrm>
            <a:off x="6190488" y="4645152"/>
            <a:ext cx="2377440" cy="1463040"/>
          </a:xfrm>
          <a:prstGeom prst="rect">
            <a:avLst/>
          </a:prstGeom>
          <a:noFill/>
          <a:ln/>
        </p:spPr>
        <p:txBody>
          <a:bodyPr wrap="square" lIns="0" tIns="0" rIns="0" bIns="0" rtlCol="0" anchor="t"/>
          <a:lstStyle/>
          <a:p>
            <a:pPr marL="0" indent="0">
              <a:buNone/>
            </a:pPr>
            <a:r>
              <a:rPr lang="en-US" sz="1400" b="1" dirty="0">
                <a:solidFill>
                  <a:srgbClr val="9E2B25"/>
                </a:solidFill>
                <a:latin typeface="Segoe UI" pitchFamily="34" charset="0"/>
                <a:ea typeface="Segoe UI" pitchFamily="34" charset="-122"/>
                <a:cs typeface="Segoe UI" pitchFamily="34" charset="-120"/>
              </a:rPr>
              <a:t>Kiểu liệt kê</a:t>
            </a:r>
            <a:r>
              <a:rPr lang="en-US" sz="1400" dirty="0">
                <a:solidFill>
                  <a:srgbClr val="1C2B25"/>
                </a:solidFill>
                <a:latin typeface="Segoe UI" pitchFamily="34" charset="0"/>
                <a:ea typeface="Segoe UI" pitchFamily="34" charset="-122"/>
                <a:cs typeface="Segoe UI" pitchFamily="34" charset="-120"/>
              </a:rPr>
              <a:t> ba mức: cấp tỉnh, quốc gia, quốc gia đặc biệt</a:t>
            </a:r>
            <a:endParaRPr lang="en-US" sz="1400" dirty="0"/>
          </a:p>
        </p:txBody>
      </p:sp>
      <p:sp>
        <p:nvSpPr>
          <p:cNvPr id="22" name="S08 Rectangle 22"/>
          <p:cNvSpPr/>
          <p:nvPr/>
        </p:nvSpPr>
        <p:spPr>
          <a:xfrm>
            <a:off x="8860536" y="3950208"/>
            <a:ext cx="2779776" cy="2267712"/>
          </a:xfrm>
          <a:prstGeom prst="rect">
            <a:avLst/>
          </a:prstGeom>
          <a:solidFill>
            <a:srgbClr val="FFFFFF"/>
          </a:solidFill>
          <a:ln w="19050">
            <a:solidFill>
              <a:srgbClr val="9E2B25"/>
            </a:solidFill>
            <a:prstDash val="solid"/>
          </a:ln>
        </p:spPr>
      </p:sp>
      <p:sp>
        <p:nvSpPr>
          <p:cNvPr id="23" name="S08 TextBox 23"/>
          <p:cNvSpPr txBox="1"/>
          <p:nvPr/>
        </p:nvSpPr>
        <p:spPr>
          <a:xfrm>
            <a:off x="9061704" y="4169664"/>
            <a:ext cx="2377440" cy="347472"/>
          </a:xfrm>
          <a:prstGeom prst="rect">
            <a:avLst/>
          </a:prstGeom>
          <a:noFill/>
          <a:ln/>
        </p:spPr>
        <p:txBody>
          <a:bodyPr wrap="square" lIns="0" tIns="0" rIns="0" bIns="0" rtlCol="0" anchor="t"/>
          <a:lstStyle/>
          <a:p>
            <a:pPr marL="0" indent="0">
              <a:buNone/>
            </a:pPr>
            <a:r>
              <a:rPr lang="en-US" sz="1600" b="1" dirty="0">
                <a:solidFill>
                  <a:srgbClr val="9E2B25"/>
                </a:solidFill>
                <a:latin typeface="Segoe UI" pitchFamily="34" charset="0"/>
                <a:ea typeface="Segoe UI" pitchFamily="34" charset="-122"/>
                <a:cs typeface="Segoe UI" pitchFamily="34" charset="-120"/>
              </a:rPr>
              <a:t>Nguồn bắt buộc</a:t>
            </a:r>
            <a:endParaRPr lang="en-US" sz="1600" dirty="0"/>
          </a:p>
        </p:txBody>
      </p:sp>
      <p:sp>
        <p:nvSpPr>
          <p:cNvPr id="24" name="S08 TextBox 24"/>
          <p:cNvSpPr txBox="1"/>
          <p:nvPr/>
        </p:nvSpPr>
        <p:spPr>
          <a:xfrm>
            <a:off x="9061704" y="4645152"/>
            <a:ext cx="2377440" cy="1463040"/>
          </a:xfrm>
          <a:prstGeom prst="rect">
            <a:avLst/>
          </a:prstGeom>
          <a:noFill/>
          <a:ln/>
        </p:spPr>
        <p:txBody>
          <a:bodyPr wrap="square" lIns="0" tIns="0" rIns="0" bIns="0" rtlCol="0" anchor="t"/>
          <a:lstStyle/>
          <a:p>
            <a:pPr marL="0" indent="0">
              <a:buNone/>
            </a:pPr>
            <a:r>
              <a:rPr lang="en-US" sz="1400" b="1" dirty="0">
                <a:solidFill>
                  <a:srgbClr val="9E2B25"/>
                </a:solidFill>
                <a:latin typeface="Segoe UI" pitchFamily="34" charset="0"/>
                <a:ea typeface="Segoe UI" pitchFamily="34" charset="-122"/>
                <a:cs typeface="Segoe UI" pitchFamily="34" charset="-120"/>
              </a:rPr>
              <a:t>SourceUrl</a:t>
            </a:r>
            <a:r>
              <a:rPr lang="en-US" sz="1400" dirty="0">
                <a:solidFill>
                  <a:srgbClr val="1C2B25"/>
                </a:solidFill>
                <a:latin typeface="Segoe UI" pitchFamily="34" charset="0"/>
                <a:ea typeface="Segoe UI" pitchFamily="34" charset="-122"/>
                <a:cs typeface="Segoe UI" pitchFamily="34" charset="-120"/>
              </a:rPr>
              <a:t> và </a:t>
            </a:r>
            <a:r>
              <a:rPr lang="en-US" sz="1400" b="1" dirty="0">
                <a:solidFill>
                  <a:srgbClr val="9E2B25"/>
                </a:solidFill>
                <a:latin typeface="Segoe UI" pitchFamily="34" charset="0"/>
                <a:ea typeface="Segoe UI" pitchFamily="34" charset="-122"/>
                <a:cs typeface="Segoe UI" pitchFamily="34" charset="-120"/>
              </a:rPr>
              <a:t>ImageSource</a:t>
            </a:r>
            <a:r>
              <a:rPr lang="en-US" sz="1400" dirty="0">
                <a:solidFill>
                  <a:srgbClr val="1C2B25"/>
                </a:solidFill>
                <a:latin typeface="Segoe UI" pitchFamily="34" charset="0"/>
                <a:ea typeface="Segoe UI" pitchFamily="34" charset="-122"/>
                <a:cs typeface="Segoe UI" pitchFamily="34" charset="-120"/>
              </a:rPr>
              <a:t> không được để trống</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600" fill="hold"/>
                                        <p:tgtEl>
                                          <p:spTgt spid="11"/>
                                        </p:tgtEl>
                                        <p:attrNameLst>
                                          <p:attrName>ppt_w</p:attrName>
                                        </p:attrNameLst>
                                      </p:cBhvr>
                                      <p:tavLst>
                                        <p:tav tm="0">
                                          <p:val>
                                            <p:fltVal val="0"/>
                                          </p:val>
                                        </p:tav>
                                        <p:tav tm="100000">
                                          <p:val>
                                            <p:strVal val="#ppt_w"/>
                                          </p:val>
                                        </p:tav>
                                      </p:tavLst>
                                    </p:anim>
                                    <p:anim calcmode="lin" valueType="num">
                                      <p:cBhvr>
                                        <p:cTn id="8" dur="600" fill="hold"/>
                                        <p:tgtEl>
                                          <p:spTgt spid="11"/>
                                        </p:tgtEl>
                                        <p:attrNameLst>
                                          <p:attrName>ppt_h</p:attrName>
                                        </p:attrNameLst>
                                      </p:cBhvr>
                                      <p:tavLst>
                                        <p:tav tm="0">
                                          <p:val>
                                            <p:fltVal val="0"/>
                                          </p:val>
                                        </p:tav>
                                        <p:tav tm="100000">
                                          <p:val>
                                            <p:strVal val="#ppt_h"/>
                                          </p:val>
                                        </p:tav>
                                      </p:tavLst>
                                    </p:anim>
                                    <p:animEffect transition="in" filter="fade">
                                      <p:cBhvr>
                                        <p:cTn id="9" dur="600"/>
                                        <p:tgtEl>
                                          <p:spTgt spid="11"/>
                                        </p:tgtEl>
                                      </p:cBhvr>
                                    </p:animEffect>
                                  </p:childTnLst>
                                </p:cTn>
                              </p:par>
                              <p:par>
                                <p:cTn id="10" presetID="53" presetClass="entr" presetSubtype="16"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600" fill="hold"/>
                                        <p:tgtEl>
                                          <p:spTgt spid="12"/>
                                        </p:tgtEl>
                                        <p:attrNameLst>
                                          <p:attrName>ppt_w</p:attrName>
                                        </p:attrNameLst>
                                      </p:cBhvr>
                                      <p:tavLst>
                                        <p:tav tm="0">
                                          <p:val>
                                            <p:fltVal val="0"/>
                                          </p:val>
                                        </p:tav>
                                        <p:tav tm="100000">
                                          <p:val>
                                            <p:strVal val="#ppt_w"/>
                                          </p:val>
                                        </p:tav>
                                      </p:tavLst>
                                    </p:anim>
                                    <p:anim calcmode="lin" valueType="num">
                                      <p:cBhvr>
                                        <p:cTn id="13" dur="600" fill="hold"/>
                                        <p:tgtEl>
                                          <p:spTgt spid="12"/>
                                        </p:tgtEl>
                                        <p:attrNameLst>
                                          <p:attrName>ppt_h</p:attrName>
                                        </p:attrNameLst>
                                      </p:cBhvr>
                                      <p:tavLst>
                                        <p:tav tm="0">
                                          <p:val>
                                            <p:fltVal val="0"/>
                                          </p:val>
                                        </p:tav>
                                        <p:tav tm="100000">
                                          <p:val>
                                            <p:strVal val="#ppt_h"/>
                                          </p:val>
                                        </p:tav>
                                      </p:tavLst>
                                    </p:anim>
                                    <p:animEffect transition="in" filter="fade">
                                      <p:cBhvr>
                                        <p:cTn id="14" dur="6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anim calcmode="lin" valueType="num">
                                      <p:cBhvr>
                                        <p:cTn id="20" dur="500" fill="hold"/>
                                        <p:tgtEl>
                                          <p:spTgt spid="13"/>
                                        </p:tgtEl>
                                        <p:attrNameLst>
                                          <p:attrName>ppt_x</p:attrName>
                                        </p:attrNameLst>
                                      </p:cBhvr>
                                      <p:tavLst>
                                        <p:tav tm="0">
                                          <p:val>
                                            <p:strVal val="#ppt_x"/>
                                          </p:val>
                                        </p:tav>
                                        <p:tav tm="100000">
                                          <p:val>
                                            <p:strVal val="#ppt_x"/>
                                          </p:val>
                                        </p:tav>
                                      </p:tavLst>
                                    </p:anim>
                                    <p:anim calcmode="lin" valueType="num">
                                      <p:cBhvr>
                                        <p:cTn id="21" dur="500" fill="hold"/>
                                        <p:tgtEl>
                                          <p:spTgt spid="13"/>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anim calcmode="lin" valueType="num">
                                      <p:cBhvr>
                                        <p:cTn id="25" dur="500" fill="hold"/>
                                        <p:tgtEl>
                                          <p:spTgt spid="14"/>
                                        </p:tgtEl>
                                        <p:attrNameLst>
                                          <p:attrName>ppt_x</p:attrName>
                                        </p:attrNameLst>
                                      </p:cBhvr>
                                      <p:tavLst>
                                        <p:tav tm="0">
                                          <p:val>
                                            <p:strVal val="#ppt_x"/>
                                          </p:val>
                                        </p:tav>
                                        <p:tav tm="100000">
                                          <p:val>
                                            <p:strVal val="#ppt_x"/>
                                          </p:val>
                                        </p:tav>
                                      </p:tavLst>
                                    </p:anim>
                                    <p:anim calcmode="lin" valueType="num">
                                      <p:cBhvr>
                                        <p:cTn id="26" dur="500" fill="hold"/>
                                        <p:tgtEl>
                                          <p:spTgt spid="14"/>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anim calcmode="lin" valueType="num">
                                      <p:cBhvr>
                                        <p:cTn id="30" dur="500" fill="hold"/>
                                        <p:tgtEl>
                                          <p:spTgt spid="15"/>
                                        </p:tgtEl>
                                        <p:attrNameLst>
                                          <p:attrName>ppt_x</p:attrName>
                                        </p:attrNameLst>
                                      </p:cBhvr>
                                      <p:tavLst>
                                        <p:tav tm="0">
                                          <p:val>
                                            <p:strVal val="#ppt_x"/>
                                          </p:val>
                                        </p:tav>
                                        <p:tav tm="100000">
                                          <p:val>
                                            <p:strVal val="#ppt_x"/>
                                          </p:val>
                                        </p:tav>
                                      </p:tavLst>
                                    </p:anim>
                                    <p:anim calcmode="lin" valueType="num">
                                      <p:cBhvr>
                                        <p:cTn id="31" dur="500" fill="hold"/>
                                        <p:tgtEl>
                                          <p:spTgt spid="15"/>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12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anim calcmode="lin" valueType="num">
                                      <p:cBhvr>
                                        <p:cTn id="35" dur="500" fill="hold"/>
                                        <p:tgtEl>
                                          <p:spTgt spid="16"/>
                                        </p:tgtEl>
                                        <p:attrNameLst>
                                          <p:attrName>ppt_x</p:attrName>
                                        </p:attrNameLst>
                                      </p:cBhvr>
                                      <p:tavLst>
                                        <p:tav tm="0">
                                          <p:val>
                                            <p:strVal val="#ppt_x"/>
                                          </p:val>
                                        </p:tav>
                                        <p:tav tm="100000">
                                          <p:val>
                                            <p:strVal val="#ppt_x"/>
                                          </p:val>
                                        </p:tav>
                                      </p:tavLst>
                                    </p:anim>
                                    <p:anim calcmode="lin" valueType="num">
                                      <p:cBhvr>
                                        <p:cTn id="36" dur="500" fill="hold"/>
                                        <p:tgtEl>
                                          <p:spTgt spid="16"/>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12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anim calcmode="lin" valueType="num">
                                      <p:cBhvr>
                                        <p:cTn id="40" dur="500" fill="hold"/>
                                        <p:tgtEl>
                                          <p:spTgt spid="17"/>
                                        </p:tgtEl>
                                        <p:attrNameLst>
                                          <p:attrName>ppt_x</p:attrName>
                                        </p:attrNameLst>
                                      </p:cBhvr>
                                      <p:tavLst>
                                        <p:tav tm="0">
                                          <p:val>
                                            <p:strVal val="#ppt_x"/>
                                          </p:val>
                                        </p:tav>
                                        <p:tav tm="100000">
                                          <p:val>
                                            <p:strVal val="#ppt_x"/>
                                          </p:val>
                                        </p:tav>
                                      </p:tavLst>
                                    </p:anim>
                                    <p:anim calcmode="lin" valueType="num">
                                      <p:cBhvr>
                                        <p:cTn id="41" dur="500" fill="hold"/>
                                        <p:tgtEl>
                                          <p:spTgt spid="17"/>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12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anim calcmode="lin" valueType="num">
                                      <p:cBhvr>
                                        <p:cTn id="45" dur="500" fill="hold"/>
                                        <p:tgtEl>
                                          <p:spTgt spid="18"/>
                                        </p:tgtEl>
                                        <p:attrNameLst>
                                          <p:attrName>ppt_x</p:attrName>
                                        </p:attrNameLst>
                                      </p:cBhvr>
                                      <p:tavLst>
                                        <p:tav tm="0">
                                          <p:val>
                                            <p:strVal val="#ppt_x"/>
                                          </p:val>
                                        </p:tav>
                                        <p:tav tm="100000">
                                          <p:val>
                                            <p:strVal val="#ppt_x"/>
                                          </p:val>
                                        </p:tav>
                                      </p:tavLst>
                                    </p:anim>
                                    <p:anim calcmode="lin" valueType="num">
                                      <p:cBhvr>
                                        <p:cTn id="46" dur="500" fill="hold"/>
                                        <p:tgtEl>
                                          <p:spTgt spid="18"/>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24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anim calcmode="lin" valueType="num">
                                      <p:cBhvr>
                                        <p:cTn id="50" dur="500" fill="hold"/>
                                        <p:tgtEl>
                                          <p:spTgt spid="19"/>
                                        </p:tgtEl>
                                        <p:attrNameLst>
                                          <p:attrName>ppt_x</p:attrName>
                                        </p:attrNameLst>
                                      </p:cBhvr>
                                      <p:tavLst>
                                        <p:tav tm="0">
                                          <p:val>
                                            <p:strVal val="#ppt_x"/>
                                          </p:val>
                                        </p:tav>
                                        <p:tav tm="100000">
                                          <p:val>
                                            <p:strVal val="#ppt_x"/>
                                          </p:val>
                                        </p:tav>
                                      </p:tavLst>
                                    </p:anim>
                                    <p:anim calcmode="lin" valueType="num">
                                      <p:cBhvr>
                                        <p:cTn id="51" dur="500" fill="hold"/>
                                        <p:tgtEl>
                                          <p:spTgt spid="19"/>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24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anim calcmode="lin" valueType="num">
                                      <p:cBhvr>
                                        <p:cTn id="55" dur="500" fill="hold"/>
                                        <p:tgtEl>
                                          <p:spTgt spid="20"/>
                                        </p:tgtEl>
                                        <p:attrNameLst>
                                          <p:attrName>ppt_x</p:attrName>
                                        </p:attrNameLst>
                                      </p:cBhvr>
                                      <p:tavLst>
                                        <p:tav tm="0">
                                          <p:val>
                                            <p:strVal val="#ppt_x"/>
                                          </p:val>
                                        </p:tav>
                                        <p:tav tm="100000">
                                          <p:val>
                                            <p:strVal val="#ppt_x"/>
                                          </p:val>
                                        </p:tav>
                                      </p:tavLst>
                                    </p:anim>
                                    <p:anim calcmode="lin" valueType="num">
                                      <p:cBhvr>
                                        <p:cTn id="56" dur="500" fill="hold"/>
                                        <p:tgtEl>
                                          <p:spTgt spid="20"/>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24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anim calcmode="lin" valueType="num">
                                      <p:cBhvr>
                                        <p:cTn id="60" dur="500" fill="hold"/>
                                        <p:tgtEl>
                                          <p:spTgt spid="21"/>
                                        </p:tgtEl>
                                        <p:attrNameLst>
                                          <p:attrName>ppt_x</p:attrName>
                                        </p:attrNameLst>
                                      </p:cBhvr>
                                      <p:tavLst>
                                        <p:tav tm="0">
                                          <p:val>
                                            <p:strVal val="#ppt_x"/>
                                          </p:val>
                                        </p:tav>
                                        <p:tav tm="100000">
                                          <p:val>
                                            <p:strVal val="#ppt_x"/>
                                          </p:val>
                                        </p:tav>
                                      </p:tavLst>
                                    </p:anim>
                                    <p:anim calcmode="lin" valueType="num">
                                      <p:cBhvr>
                                        <p:cTn id="61" dur="500" fill="hold"/>
                                        <p:tgtEl>
                                          <p:spTgt spid="21"/>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36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anim calcmode="lin" valueType="num">
                                      <p:cBhvr>
                                        <p:cTn id="65" dur="500" fill="hold"/>
                                        <p:tgtEl>
                                          <p:spTgt spid="22"/>
                                        </p:tgtEl>
                                        <p:attrNameLst>
                                          <p:attrName>ppt_x</p:attrName>
                                        </p:attrNameLst>
                                      </p:cBhvr>
                                      <p:tavLst>
                                        <p:tav tm="0">
                                          <p:val>
                                            <p:strVal val="#ppt_x"/>
                                          </p:val>
                                        </p:tav>
                                        <p:tav tm="100000">
                                          <p:val>
                                            <p:strVal val="#ppt_x"/>
                                          </p:val>
                                        </p:tav>
                                      </p:tavLst>
                                    </p:anim>
                                    <p:anim calcmode="lin" valueType="num">
                                      <p:cBhvr>
                                        <p:cTn id="66" dur="500" fill="hold"/>
                                        <p:tgtEl>
                                          <p:spTgt spid="22"/>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36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anim calcmode="lin" valueType="num">
                                      <p:cBhvr>
                                        <p:cTn id="70" dur="500" fill="hold"/>
                                        <p:tgtEl>
                                          <p:spTgt spid="23"/>
                                        </p:tgtEl>
                                        <p:attrNameLst>
                                          <p:attrName>ppt_x</p:attrName>
                                        </p:attrNameLst>
                                      </p:cBhvr>
                                      <p:tavLst>
                                        <p:tav tm="0">
                                          <p:val>
                                            <p:strVal val="#ppt_x"/>
                                          </p:val>
                                        </p:tav>
                                        <p:tav tm="100000">
                                          <p:val>
                                            <p:strVal val="#ppt_x"/>
                                          </p:val>
                                        </p:tav>
                                      </p:tavLst>
                                    </p:anim>
                                    <p:anim calcmode="lin" valueType="num">
                                      <p:cBhvr>
                                        <p:cTn id="71" dur="500" fill="hold"/>
                                        <p:tgtEl>
                                          <p:spTgt spid="23"/>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36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anim calcmode="lin" valueType="num">
                                      <p:cBhvr>
                                        <p:cTn id="75" dur="500" fill="hold"/>
                                        <p:tgtEl>
                                          <p:spTgt spid="24"/>
                                        </p:tgtEl>
                                        <p:attrNameLst>
                                          <p:attrName>ppt_x</p:attrName>
                                        </p:attrNameLst>
                                      </p:cBhvr>
                                      <p:tavLst>
                                        <p:tav tm="0">
                                          <p:val>
                                            <p:strVal val="#ppt_x"/>
                                          </p:val>
                                        </p:tav>
                                        <p:tav tm="100000">
                                          <p:val>
                                            <p:strVal val="#ppt_x"/>
                                          </p:val>
                                        </p:tav>
                                      </p:tavLst>
                                    </p:anim>
                                    <p:anim calcmode="lin" valueType="num">
                                      <p:cBhvr>
                                        <p:cTn id="76" dur="5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7" grpId="0" animBg="1"/>
      <p:bldP spid="18" grpId="0" animBg="1"/>
      <p:bldP spid="20" grpId="0" animBg="1"/>
      <p:bldP spid="21" grpId="0" animBg="1"/>
      <p:bldP spid="23" grpId="0" animBg="1"/>
      <p:bldP spid="2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8F4"/>
        </a:solidFill>
        <a:effectLst/>
      </p:bgPr>
    </p:bg>
    <p:spTree>
      <p:nvGrpSpPr>
        <p:cNvPr id="1" name=""/>
        <p:cNvGrpSpPr/>
        <p:nvPr/>
      </p:nvGrpSpPr>
      <p:grpSpPr>
        <a:xfrm>
          <a:off x="0" y="0"/>
          <a:ext cx="0" cy="0"/>
          <a:chOff x="0" y="0"/>
          <a:chExt cx="0" cy="0"/>
        </a:xfrm>
      </p:grpSpPr>
      <p:sp>
        <p:nvSpPr>
          <p:cNvPr id="2" name="!!TopBar"/>
          <p:cNvSpPr/>
          <p:nvPr/>
        </p:nvSpPr>
        <p:spPr>
          <a:xfrm>
            <a:off x="0" y="0"/>
            <a:ext cx="12191695" cy="91440"/>
          </a:xfrm>
          <a:prstGeom prst="rect">
            <a:avLst/>
          </a:prstGeom>
          <a:solidFill>
            <a:srgbClr val="12201B"/>
          </a:solidFill>
          <a:ln/>
        </p:spPr>
      </p:sp>
      <p:sp>
        <p:nvSpPr>
          <p:cNvPr id="3" name="!!LogoBg"/>
          <p:cNvSpPr/>
          <p:nvPr/>
        </p:nvSpPr>
        <p:spPr>
          <a:xfrm>
            <a:off x="11256264" y="274320"/>
            <a:ext cx="402336" cy="402336"/>
          </a:xfrm>
          <a:prstGeom prst="ellipse">
            <a:avLst/>
          </a:prstGeom>
          <a:solidFill>
            <a:srgbClr val="FFFFFF"/>
          </a:solidFill>
          <a:ln/>
        </p:spPr>
      </p:sp>
      <p:pic>
        <p:nvPicPr>
          <p:cNvPr id="4" name="!!Logo" descr="Logo Trường Đại học Trà Vinh"/>
          <p:cNvPicPr>
            <a:picLocks noChangeAspect="1"/>
          </p:cNvPicPr>
          <p:nvPr/>
        </p:nvPicPr>
        <p:blipFill>
          <a:blip r:embed="rId3"/>
          <a:stretch>
            <a:fillRect/>
          </a:stretch>
        </p:blipFill>
        <p:spPr>
          <a:xfrm>
            <a:off x="11269980" y="288036"/>
            <a:ext cx="374904" cy="374904"/>
          </a:xfrm>
          <a:prstGeom prst="rect">
            <a:avLst/>
          </a:prstGeom>
        </p:spPr>
      </p:pic>
      <p:sp>
        <p:nvSpPr>
          <p:cNvPr id="5" name="!!Label"/>
          <p:cNvSpPr txBox="1"/>
          <p:nvPr/>
        </p:nvSpPr>
        <p:spPr>
          <a:xfrm>
            <a:off x="8138160" y="365760"/>
            <a:ext cx="2971800" cy="274320"/>
          </a:xfrm>
          <a:prstGeom prst="rect">
            <a:avLst/>
          </a:prstGeom>
          <a:noFill/>
          <a:ln/>
        </p:spPr>
        <p:txBody>
          <a:bodyPr wrap="square" lIns="0" tIns="0" rIns="0" bIns="0" rtlCol="0" anchor="t"/>
          <a:lstStyle/>
          <a:p>
            <a:pPr marL="0" indent="0" algn="r">
              <a:buNone/>
            </a:pPr>
            <a:r>
              <a:rPr lang="en-US" sz="1000" b="1" kern="0" spc="150" dirty="0">
                <a:solidFill>
                  <a:srgbClr val="43705F"/>
                </a:solidFill>
                <a:latin typeface="Segoe UI" pitchFamily="34" charset="0"/>
                <a:ea typeface="Segoe UI" pitchFamily="34" charset="-122"/>
                <a:cs typeface="Segoe UI" pitchFamily="34" charset="-120"/>
              </a:rPr>
              <a:t>GIAO DIỆN</a:t>
            </a:r>
            <a:endParaRPr lang="en-US" sz="1000" dirty="0"/>
          </a:p>
        </p:txBody>
      </p:sp>
      <p:sp>
        <p:nvSpPr>
          <p:cNvPr id="6" name="!!Title"/>
          <p:cNvSpPr txBox="1"/>
          <p:nvPr/>
        </p:nvSpPr>
        <p:spPr>
          <a:xfrm>
            <a:off x="548640" y="329184"/>
            <a:ext cx="8138160" cy="548640"/>
          </a:xfrm>
          <a:prstGeom prst="rect">
            <a:avLst/>
          </a:prstGeom>
          <a:noFill/>
          <a:ln/>
        </p:spPr>
        <p:txBody>
          <a:bodyPr wrap="square" lIns="0" tIns="0" rIns="0" bIns="0" rtlCol="0" anchor="t"/>
          <a:lstStyle/>
          <a:p>
            <a:pPr marL="0" indent="0">
              <a:buNone/>
            </a:pPr>
            <a:r>
              <a:rPr lang="en-US" sz="2800" b="1" dirty="0">
                <a:solidFill>
                  <a:srgbClr val="1C2B25"/>
                </a:solidFill>
                <a:latin typeface="Cambria" pitchFamily="34" charset="0"/>
                <a:ea typeface="Cambria" pitchFamily="34" charset="-122"/>
                <a:cs typeface="Cambria" pitchFamily="34" charset="-120"/>
              </a:rPr>
              <a:t>Giao diện người xem</a:t>
            </a:r>
            <a:endParaRPr lang="en-US" sz="2800" dirty="0"/>
          </a:p>
        </p:txBody>
      </p:sp>
      <p:sp>
        <p:nvSpPr>
          <p:cNvPr id="7" name="!!Subtitle"/>
          <p:cNvSpPr txBox="1"/>
          <p:nvPr/>
        </p:nvSpPr>
        <p:spPr>
          <a:xfrm>
            <a:off x="548640" y="914400"/>
            <a:ext cx="10241280" cy="274320"/>
          </a:xfrm>
          <a:prstGeom prst="rect">
            <a:avLst/>
          </a:prstGeom>
          <a:noFill/>
          <a:ln/>
        </p:spPr>
        <p:txBody>
          <a:bodyPr wrap="square" lIns="0" tIns="0" rIns="0" bIns="0" rtlCol="0" anchor="t"/>
          <a:lstStyle/>
          <a:p>
            <a:pPr marL="0" indent="0">
              <a:buNone/>
            </a:pPr>
            <a:r>
              <a:rPr lang="en-US" sz="1250" dirty="0">
                <a:solidFill>
                  <a:srgbClr val="4E5B54"/>
                </a:solidFill>
                <a:latin typeface="Segoe UI" pitchFamily="34" charset="0"/>
                <a:ea typeface="Segoe UI" pitchFamily="34" charset="-122"/>
                <a:cs typeface="Segoe UI" pitchFamily="34" charset="-120"/>
              </a:rPr>
              <a:t>Trang chủ và trang chi tiết dùng ảnh thật, trang nào cũng dẫn được nguồn</a:t>
            </a:r>
            <a:endParaRPr lang="en-US" sz="1250" dirty="0"/>
          </a:p>
        </p:txBody>
      </p:sp>
      <p:sp>
        <p:nvSpPr>
          <p:cNvPr id="8" name="!!Accent"/>
          <p:cNvSpPr/>
          <p:nvPr/>
        </p:nvSpPr>
        <p:spPr>
          <a:xfrm>
            <a:off x="548640" y="1280160"/>
            <a:ext cx="1005840" cy="45720"/>
          </a:xfrm>
          <a:prstGeom prst="rect">
            <a:avLst/>
          </a:prstGeom>
          <a:solidFill>
            <a:srgbClr val="43705F"/>
          </a:solidFill>
          <a:ln/>
        </p:spPr>
      </p:sp>
      <p:sp>
        <p:nvSpPr>
          <p:cNvPr id="9" name="!!Footer"/>
          <p:cNvSpPr txBox="1"/>
          <p:nvPr/>
        </p:nvSpPr>
        <p:spPr>
          <a:xfrm>
            <a:off x="548640" y="6455664"/>
            <a:ext cx="7315200" cy="219456"/>
          </a:xfrm>
          <a:prstGeom prst="rect">
            <a:avLst/>
          </a:prstGeom>
          <a:noFill/>
          <a:ln/>
        </p:spPr>
        <p:txBody>
          <a:bodyPr wrap="square" lIns="0" tIns="0" rIns="0" bIns="0" rtlCol="0" anchor="t"/>
          <a:lstStyle/>
          <a:p>
            <a:pPr marL="0" indent="0">
              <a:buNone/>
            </a:pPr>
            <a:r>
              <a:rPr lang="en-US" sz="900" dirty="0">
                <a:solidFill>
                  <a:srgbClr val="4E5B54"/>
                </a:solidFill>
                <a:latin typeface="Segoe UI" pitchFamily="34" charset="0"/>
                <a:ea typeface="Segoe UI" pitchFamily="34" charset="-122"/>
                <a:cs typeface="Segoe UI" pitchFamily="34" charset="-120"/>
              </a:rPr>
              <a:t>Đồ án thực tập cơ sở ngành · Website di tích Việt Nam</a:t>
            </a:r>
            <a:endParaRPr lang="en-US" sz="900" dirty="0"/>
          </a:p>
        </p:txBody>
      </p:sp>
      <p:sp>
        <p:nvSpPr>
          <p:cNvPr id="10" name="!!PageNum"/>
          <p:cNvSpPr txBox="1"/>
          <p:nvPr/>
        </p:nvSpPr>
        <p:spPr>
          <a:xfrm>
            <a:off x="11091672" y="6455664"/>
            <a:ext cx="548640" cy="219456"/>
          </a:xfrm>
          <a:prstGeom prst="rect">
            <a:avLst/>
          </a:prstGeom>
          <a:noFill/>
          <a:ln/>
        </p:spPr>
        <p:txBody>
          <a:bodyPr wrap="square" lIns="0" tIns="0" rIns="0" bIns="0" rtlCol="0" anchor="t"/>
          <a:lstStyle/>
          <a:p>
            <a:pPr marL="0" indent="0" algn="r">
              <a:buNone/>
            </a:pPr>
            <a:r>
              <a:rPr lang="en-US" sz="900" dirty="0">
                <a:solidFill>
                  <a:srgbClr val="4E5B54"/>
                </a:solidFill>
                <a:latin typeface="Segoe UI" pitchFamily="34" charset="0"/>
                <a:ea typeface="Segoe UI" pitchFamily="34" charset="-122"/>
                <a:cs typeface="Segoe UI" pitchFamily="34" charset="-120"/>
              </a:rPr>
              <a:t>09</a:t>
            </a:r>
            <a:endParaRPr lang="en-US" sz="900" dirty="0"/>
          </a:p>
        </p:txBody>
      </p:sp>
      <p:sp>
        <p:nvSpPr>
          <p:cNvPr id="11" name="S09 TextBox 11"/>
          <p:cNvSpPr txBox="1"/>
          <p:nvPr/>
        </p:nvSpPr>
        <p:spPr>
          <a:xfrm>
            <a:off x="548640" y="1691640"/>
            <a:ext cx="3657600" cy="329184"/>
          </a:xfrm>
          <a:prstGeom prst="rect">
            <a:avLst/>
          </a:prstGeom>
          <a:noFill/>
          <a:ln/>
        </p:spPr>
        <p:txBody>
          <a:bodyPr wrap="square" lIns="0" tIns="0" rIns="0" bIns="0" rtlCol="0" anchor="t"/>
          <a:lstStyle/>
          <a:p>
            <a:pPr marL="0" indent="0">
              <a:buNone/>
            </a:pPr>
            <a:r>
              <a:rPr lang="en-US" sz="1600" b="1" dirty="0">
                <a:solidFill>
                  <a:srgbClr val="1C2B25"/>
                </a:solidFill>
                <a:latin typeface="Segoe UI" pitchFamily="34" charset="0"/>
                <a:ea typeface="Segoe UI" pitchFamily="34" charset="-122"/>
                <a:cs typeface="Segoe UI" pitchFamily="34" charset="-120"/>
              </a:rPr>
              <a:t>Trang chủ</a:t>
            </a:r>
            <a:endParaRPr lang="en-US" sz="1600" dirty="0"/>
          </a:p>
        </p:txBody>
      </p:sp>
      <p:sp>
        <p:nvSpPr>
          <p:cNvPr id="12" name="S09 TextBox 12"/>
          <p:cNvSpPr txBox="1"/>
          <p:nvPr/>
        </p:nvSpPr>
        <p:spPr>
          <a:xfrm>
            <a:off x="548640" y="2075688"/>
            <a:ext cx="3657600" cy="914400"/>
          </a:xfrm>
          <a:prstGeom prst="rect">
            <a:avLst/>
          </a:prstGeom>
          <a:noFill/>
          <a:ln/>
        </p:spPr>
        <p:txBody>
          <a:bodyPr wrap="square" lIns="0" tIns="0" rIns="0" bIns="0" rtlCol="0" anchor="t"/>
          <a:lstStyle/>
          <a:p>
            <a:pPr marL="0" indent="0">
              <a:buNone/>
            </a:pPr>
            <a:r>
              <a:rPr lang="en-US" sz="1350" dirty="0">
                <a:solidFill>
                  <a:srgbClr val="4E5B54"/>
                </a:solidFill>
                <a:latin typeface="Segoe UI" pitchFamily="34" charset="0"/>
                <a:ea typeface="Segoe UI" pitchFamily="34" charset="-122"/>
                <a:cs typeface="Segoe UI" pitchFamily="34" charset="-120"/>
              </a:rPr>
              <a:t>Di tích tiêu biểu có </a:t>
            </a:r>
            <a:r>
              <a:rPr lang="en-US" sz="1350" b="1" dirty="0">
                <a:solidFill>
                  <a:srgbClr val="9E2B25"/>
                </a:solidFill>
                <a:latin typeface="Segoe UI" pitchFamily="34" charset="0"/>
                <a:ea typeface="Segoe UI" pitchFamily="34" charset="-122"/>
                <a:cs typeface="Segoe UI" pitchFamily="34" charset="-120"/>
              </a:rPr>
              <a:t>ảnh thật</a:t>
            </a:r>
            <a:r>
              <a:rPr lang="en-US" sz="1350" dirty="0">
                <a:solidFill>
                  <a:srgbClr val="4E5B54"/>
                </a:solidFill>
                <a:latin typeface="Segoe UI" pitchFamily="34" charset="0"/>
                <a:ea typeface="Segoe UI" pitchFamily="34" charset="-122"/>
                <a:cs typeface="Segoe UI" pitchFamily="34" charset="-120"/>
              </a:rPr>
              <a:t>, </a:t>
            </a:r>
            <a:r>
              <a:rPr lang="en-US" sz="1350" b="1" dirty="0">
                <a:solidFill>
                  <a:srgbClr val="9E2B25"/>
                </a:solidFill>
                <a:latin typeface="Segoe UI" pitchFamily="34" charset="0"/>
                <a:ea typeface="Segoe UI" pitchFamily="34" charset="-122"/>
                <a:cs typeface="Segoe UI" pitchFamily="34" charset="-120"/>
              </a:rPr>
              <a:t>ô tìm kiếm</a:t>
            </a:r>
            <a:r>
              <a:rPr lang="en-US" sz="1350" dirty="0">
                <a:solidFill>
                  <a:srgbClr val="4E5B54"/>
                </a:solidFill>
                <a:latin typeface="Segoe UI" pitchFamily="34" charset="0"/>
                <a:ea typeface="Segoe UI" pitchFamily="34" charset="-122"/>
                <a:cs typeface="Segoe UI" pitchFamily="34" charset="-120"/>
              </a:rPr>
              <a:t>, bản đồ tỉnh thành</a:t>
            </a:r>
            <a:endParaRPr lang="en-US" sz="1350" dirty="0"/>
          </a:p>
        </p:txBody>
      </p:sp>
      <p:sp>
        <p:nvSpPr>
          <p:cNvPr id="13" name="S09 TextBox 13"/>
          <p:cNvSpPr txBox="1"/>
          <p:nvPr/>
        </p:nvSpPr>
        <p:spPr>
          <a:xfrm>
            <a:off x="548640" y="3246120"/>
            <a:ext cx="3657600" cy="329184"/>
          </a:xfrm>
          <a:prstGeom prst="rect">
            <a:avLst/>
          </a:prstGeom>
          <a:noFill/>
          <a:ln/>
        </p:spPr>
        <p:txBody>
          <a:bodyPr wrap="square" lIns="0" tIns="0" rIns="0" bIns="0" rtlCol="0" anchor="t"/>
          <a:lstStyle/>
          <a:p>
            <a:pPr marL="0" indent="0">
              <a:buNone/>
            </a:pPr>
            <a:r>
              <a:rPr lang="en-US" sz="1600" b="1" dirty="0">
                <a:solidFill>
                  <a:srgbClr val="1C2B25"/>
                </a:solidFill>
                <a:latin typeface="Segoe UI" pitchFamily="34" charset="0"/>
                <a:ea typeface="Segoe UI" pitchFamily="34" charset="-122"/>
                <a:cs typeface="Segoe UI" pitchFamily="34" charset="-120"/>
              </a:rPr>
              <a:t>Trang chi tiết</a:t>
            </a:r>
            <a:endParaRPr lang="en-US" sz="1600" dirty="0"/>
          </a:p>
        </p:txBody>
      </p:sp>
      <p:sp>
        <p:nvSpPr>
          <p:cNvPr id="14" name="S09 TextBox 14"/>
          <p:cNvSpPr txBox="1"/>
          <p:nvPr/>
        </p:nvSpPr>
        <p:spPr>
          <a:xfrm>
            <a:off x="548640" y="3630168"/>
            <a:ext cx="3657600" cy="914400"/>
          </a:xfrm>
          <a:prstGeom prst="rect">
            <a:avLst/>
          </a:prstGeom>
          <a:noFill/>
          <a:ln/>
        </p:spPr>
        <p:txBody>
          <a:bodyPr wrap="square" lIns="0" tIns="0" rIns="0" bIns="0" rtlCol="0" anchor="t"/>
          <a:lstStyle/>
          <a:p>
            <a:pPr marL="0" indent="0">
              <a:buNone/>
            </a:pPr>
            <a:r>
              <a:rPr lang="en-US" sz="1350" b="1" dirty="0">
                <a:solidFill>
                  <a:srgbClr val="9E2B25"/>
                </a:solidFill>
                <a:latin typeface="Segoe UI" pitchFamily="34" charset="0"/>
                <a:ea typeface="Segoe UI" pitchFamily="34" charset="-122"/>
                <a:cs typeface="Segoe UI" pitchFamily="34" charset="-120"/>
              </a:rPr>
              <a:t>Thanh mục</a:t>
            </a:r>
            <a:r>
              <a:rPr lang="en-US" sz="1350" dirty="0">
                <a:solidFill>
                  <a:srgbClr val="4E5B54"/>
                </a:solidFill>
                <a:latin typeface="Segoe UI" pitchFamily="34" charset="0"/>
                <a:ea typeface="Segoe UI" pitchFamily="34" charset="-122"/>
                <a:cs typeface="Segoe UI" pitchFamily="34" charset="-120"/>
              </a:rPr>
              <a:t>, mốc thời gian, </a:t>
            </a:r>
            <a:r>
              <a:rPr lang="en-US" sz="1350" b="1" dirty="0">
                <a:solidFill>
                  <a:srgbClr val="9E2B25"/>
                </a:solidFill>
                <a:latin typeface="Segoe UI" pitchFamily="34" charset="0"/>
                <a:ea typeface="Segoe UI" pitchFamily="34" charset="-122"/>
                <a:cs typeface="Segoe UI" pitchFamily="34" charset="-120"/>
              </a:rPr>
              <a:t>sơ đồ vị trí</a:t>
            </a:r>
            <a:r>
              <a:rPr lang="en-US" sz="1350" dirty="0">
                <a:solidFill>
                  <a:srgbClr val="4E5B54"/>
                </a:solidFill>
                <a:latin typeface="Segoe UI" pitchFamily="34" charset="0"/>
                <a:ea typeface="Segoe UI" pitchFamily="34" charset="-122"/>
                <a:cs typeface="Segoe UI" pitchFamily="34" charset="-120"/>
              </a:rPr>
              <a:t>, ảnh kèm nguồn</a:t>
            </a:r>
            <a:endParaRPr lang="en-US" sz="1350" dirty="0"/>
          </a:p>
        </p:txBody>
      </p:sp>
      <p:sp>
        <p:nvSpPr>
          <p:cNvPr id="15" name="S09 TextBox 15"/>
          <p:cNvSpPr txBox="1"/>
          <p:nvPr/>
        </p:nvSpPr>
        <p:spPr>
          <a:xfrm>
            <a:off x="548640" y="4800600"/>
            <a:ext cx="3657600" cy="329184"/>
          </a:xfrm>
          <a:prstGeom prst="rect">
            <a:avLst/>
          </a:prstGeom>
          <a:noFill/>
          <a:ln/>
        </p:spPr>
        <p:txBody>
          <a:bodyPr wrap="square" lIns="0" tIns="0" rIns="0" bIns="0" rtlCol="0" anchor="t"/>
          <a:lstStyle/>
          <a:p>
            <a:pPr marL="0" indent="0">
              <a:buNone/>
            </a:pPr>
            <a:r>
              <a:rPr lang="en-US" sz="1600" b="1" dirty="0">
                <a:solidFill>
                  <a:srgbClr val="1C2B25"/>
                </a:solidFill>
                <a:latin typeface="Segoe UI" pitchFamily="34" charset="0"/>
                <a:ea typeface="Segoe UI" pitchFamily="34" charset="-122"/>
                <a:cs typeface="Segoe UI" pitchFamily="34" charset="-120"/>
              </a:rPr>
              <a:t>Di sản phi vật thể</a:t>
            </a:r>
            <a:endParaRPr lang="en-US" sz="1600" dirty="0"/>
          </a:p>
        </p:txBody>
      </p:sp>
      <p:sp>
        <p:nvSpPr>
          <p:cNvPr id="16" name="S09 TextBox 16"/>
          <p:cNvSpPr txBox="1"/>
          <p:nvPr/>
        </p:nvSpPr>
        <p:spPr>
          <a:xfrm>
            <a:off x="548640" y="5184648"/>
            <a:ext cx="3657600" cy="914400"/>
          </a:xfrm>
          <a:prstGeom prst="rect">
            <a:avLst/>
          </a:prstGeom>
          <a:noFill/>
          <a:ln/>
        </p:spPr>
        <p:txBody>
          <a:bodyPr wrap="square" lIns="0" tIns="0" rIns="0" bIns="0" rtlCol="0" anchor="t"/>
          <a:lstStyle/>
          <a:p>
            <a:pPr marL="0" indent="0">
              <a:buNone/>
            </a:pPr>
            <a:r>
              <a:rPr lang="en-US" sz="1350" b="1" dirty="0">
                <a:solidFill>
                  <a:srgbClr val="9E2B25"/>
                </a:solidFill>
                <a:latin typeface="Segoe UI" pitchFamily="34" charset="0"/>
                <a:ea typeface="Segoe UI" pitchFamily="34" charset="-122"/>
                <a:cs typeface="Segoe UI" pitchFamily="34" charset="-120"/>
              </a:rPr>
              <a:t>36 trang</a:t>
            </a:r>
            <a:r>
              <a:rPr lang="en-US" sz="1350" dirty="0">
                <a:solidFill>
                  <a:srgbClr val="4E5B54"/>
                </a:solidFill>
                <a:latin typeface="Segoe UI" pitchFamily="34" charset="0"/>
                <a:ea typeface="Segoe UI" pitchFamily="34" charset="-122"/>
                <a:cs typeface="Segoe UI" pitchFamily="34" charset="-120"/>
              </a:rPr>
              <a:t> có nhãn ghi danh, thay thẻ vé bằng nơi thực hành</a:t>
            </a:r>
            <a:endParaRPr lang="en-US" sz="1350" dirty="0"/>
          </a:p>
        </p:txBody>
      </p:sp>
      <p:pic>
        <p:nvPicPr>
          <p:cNvPr id="17" name="S09 Picture 17" descr="Trang chủ"/>
          <p:cNvPicPr>
            <a:picLocks noChangeAspect="1"/>
          </p:cNvPicPr>
          <p:nvPr/>
        </p:nvPicPr>
        <p:blipFill>
          <a:blip r:embed="rId4"/>
          <a:stretch>
            <a:fillRect/>
          </a:stretch>
        </p:blipFill>
        <p:spPr>
          <a:xfrm>
            <a:off x="4507992" y="1572768"/>
            <a:ext cx="3429000" cy="1927871"/>
          </a:xfrm>
          <a:prstGeom prst="rect">
            <a:avLst/>
          </a:prstGeom>
        </p:spPr>
      </p:pic>
      <p:sp>
        <p:nvSpPr>
          <p:cNvPr id="18" name="S09 Rectangle 18"/>
          <p:cNvSpPr/>
          <p:nvPr/>
        </p:nvSpPr>
        <p:spPr>
          <a:xfrm>
            <a:off x="4507992" y="1572768"/>
            <a:ext cx="3429000" cy="1927871"/>
          </a:xfrm>
          <a:prstGeom prst="rect">
            <a:avLst/>
          </a:prstGeom>
          <a:ln w="9525">
            <a:solidFill>
              <a:srgbClr val="C9CDC2"/>
            </a:solidFill>
            <a:prstDash val="solid"/>
          </a:ln>
        </p:spPr>
      </p:sp>
      <p:sp>
        <p:nvSpPr>
          <p:cNvPr id="19" name="S09 Rounded Rectangle 19"/>
          <p:cNvSpPr/>
          <p:nvPr/>
        </p:nvSpPr>
        <p:spPr>
          <a:xfrm>
            <a:off x="5032815" y="3345184"/>
            <a:ext cx="2379354" cy="155455"/>
          </a:xfrm>
          <a:prstGeom prst="roundRect">
            <a:avLst>
              <a:gd name="adj" fmla="val 17646"/>
            </a:avLst>
          </a:prstGeom>
          <a:ln w="25400">
            <a:solidFill>
              <a:srgbClr val="9E2B25"/>
            </a:solidFill>
            <a:prstDash val="solid"/>
          </a:ln>
        </p:spPr>
      </p:sp>
      <p:sp>
        <p:nvSpPr>
          <p:cNvPr id="20" name="S09 TextBox 20"/>
          <p:cNvSpPr txBox="1"/>
          <p:nvPr/>
        </p:nvSpPr>
        <p:spPr>
          <a:xfrm>
            <a:off x="4507992" y="3537215"/>
            <a:ext cx="3429000" cy="237744"/>
          </a:xfrm>
          <a:prstGeom prst="rect">
            <a:avLst/>
          </a:prstGeom>
          <a:noFill/>
          <a:ln/>
        </p:spPr>
        <p:txBody>
          <a:bodyPr wrap="square" lIns="0" tIns="0" rIns="0" bIns="0" rtlCol="0" anchor="t"/>
          <a:lstStyle/>
          <a:p>
            <a:pPr marL="0" indent="0">
              <a:buNone/>
            </a:pPr>
            <a:r>
              <a:rPr lang="en-US" sz="1050" b="1" dirty="0">
                <a:solidFill>
                  <a:srgbClr val="9E2B25"/>
                </a:solidFill>
                <a:latin typeface="Segoe UI" pitchFamily="34" charset="0"/>
                <a:ea typeface="Segoe UI" pitchFamily="34" charset="-122"/>
                <a:cs typeface="Segoe UI" pitchFamily="34" charset="-120"/>
              </a:rPr>
              <a:t>1  </a:t>
            </a:r>
            <a:r>
              <a:rPr lang="en-US" sz="1050" dirty="0">
                <a:solidFill>
                  <a:srgbClr val="4E5B54"/>
                </a:solidFill>
                <a:latin typeface="Segoe UI" pitchFamily="34" charset="0"/>
                <a:ea typeface="Segoe UI" pitchFamily="34" charset="-122"/>
                <a:cs typeface="Segoe UI" pitchFamily="34" charset="-120"/>
              </a:rPr>
              <a:t>Ô tìm kiếm trên trang chủ</a:t>
            </a:r>
            <a:endParaRPr lang="en-US" sz="1050" dirty="0"/>
          </a:p>
        </p:txBody>
      </p:sp>
      <p:pic>
        <p:nvPicPr>
          <p:cNvPr id="21" name="S09 Picture 21" descr="Trang chi tiết Văn Miếu - Quốc Tử Giám"/>
          <p:cNvPicPr>
            <a:picLocks noChangeAspect="1"/>
          </p:cNvPicPr>
          <p:nvPr/>
        </p:nvPicPr>
        <p:blipFill>
          <a:blip r:embed="rId5"/>
          <a:stretch>
            <a:fillRect/>
          </a:stretch>
        </p:blipFill>
        <p:spPr>
          <a:xfrm>
            <a:off x="8211312" y="1572768"/>
            <a:ext cx="3429000" cy="1927871"/>
          </a:xfrm>
          <a:prstGeom prst="rect">
            <a:avLst/>
          </a:prstGeom>
        </p:spPr>
      </p:pic>
      <p:sp>
        <p:nvSpPr>
          <p:cNvPr id="22" name="S09 Rectangle 22"/>
          <p:cNvSpPr/>
          <p:nvPr/>
        </p:nvSpPr>
        <p:spPr>
          <a:xfrm>
            <a:off x="8211312" y="1572768"/>
            <a:ext cx="3429000" cy="1927871"/>
          </a:xfrm>
          <a:prstGeom prst="rect">
            <a:avLst/>
          </a:prstGeom>
          <a:ln w="9525">
            <a:solidFill>
              <a:srgbClr val="C9CDC2"/>
            </a:solidFill>
            <a:prstDash val="solid"/>
          </a:ln>
        </p:spPr>
      </p:sp>
      <p:sp>
        <p:nvSpPr>
          <p:cNvPr id="23" name="S09 Rounded Rectangle 23"/>
          <p:cNvSpPr/>
          <p:nvPr/>
        </p:nvSpPr>
        <p:spPr>
          <a:xfrm>
            <a:off x="8497661" y="3262346"/>
            <a:ext cx="2856302" cy="195438"/>
          </a:xfrm>
          <a:prstGeom prst="roundRect">
            <a:avLst>
              <a:gd name="adj" fmla="val 14036"/>
            </a:avLst>
          </a:prstGeom>
          <a:ln w="25400">
            <a:solidFill>
              <a:srgbClr val="9E2B25"/>
            </a:solidFill>
            <a:prstDash val="solid"/>
          </a:ln>
        </p:spPr>
      </p:sp>
      <p:sp>
        <p:nvSpPr>
          <p:cNvPr id="24" name="S09 TextBox 24"/>
          <p:cNvSpPr txBox="1"/>
          <p:nvPr/>
        </p:nvSpPr>
        <p:spPr>
          <a:xfrm>
            <a:off x="8211312" y="3537215"/>
            <a:ext cx="3429000" cy="237744"/>
          </a:xfrm>
          <a:prstGeom prst="rect">
            <a:avLst/>
          </a:prstGeom>
          <a:noFill/>
          <a:ln/>
        </p:spPr>
        <p:txBody>
          <a:bodyPr wrap="square" lIns="0" tIns="0" rIns="0" bIns="0" rtlCol="0" anchor="t"/>
          <a:lstStyle/>
          <a:p>
            <a:pPr marL="0" indent="0">
              <a:buNone/>
            </a:pPr>
            <a:r>
              <a:rPr lang="en-US" sz="1050" b="1" dirty="0">
                <a:solidFill>
                  <a:srgbClr val="9E2B25"/>
                </a:solidFill>
                <a:latin typeface="Segoe UI" pitchFamily="34" charset="0"/>
                <a:ea typeface="Segoe UI" pitchFamily="34" charset="-122"/>
                <a:cs typeface="Segoe UI" pitchFamily="34" charset="-120"/>
              </a:rPr>
              <a:t>2  </a:t>
            </a:r>
            <a:r>
              <a:rPr lang="en-US" sz="1050" dirty="0">
                <a:solidFill>
                  <a:srgbClr val="4E5B54"/>
                </a:solidFill>
                <a:latin typeface="Segoe UI" pitchFamily="34" charset="0"/>
                <a:ea typeface="Segoe UI" pitchFamily="34" charset="-122"/>
                <a:cs typeface="Segoe UI" pitchFamily="34" charset="-120"/>
              </a:rPr>
              <a:t>Thanh mục của trang chi tiết</a:t>
            </a:r>
            <a:endParaRPr lang="en-US" sz="1050" dirty="0"/>
          </a:p>
        </p:txBody>
      </p:sp>
      <p:pic>
        <p:nvPicPr>
          <p:cNvPr id="25" name="S09 Picture 25" descr="Mốc thời gian và sơ đồ vị trí"/>
          <p:cNvPicPr>
            <a:picLocks noChangeAspect="1"/>
          </p:cNvPicPr>
          <p:nvPr/>
        </p:nvPicPr>
        <p:blipFill>
          <a:blip r:embed="rId6"/>
          <a:stretch>
            <a:fillRect/>
          </a:stretch>
        </p:blipFill>
        <p:spPr>
          <a:xfrm>
            <a:off x="4507992" y="3931920"/>
            <a:ext cx="3429000" cy="1927871"/>
          </a:xfrm>
          <a:prstGeom prst="rect">
            <a:avLst/>
          </a:prstGeom>
        </p:spPr>
      </p:pic>
      <p:sp>
        <p:nvSpPr>
          <p:cNvPr id="26" name="S09 Rectangle 26"/>
          <p:cNvSpPr/>
          <p:nvPr/>
        </p:nvSpPr>
        <p:spPr>
          <a:xfrm>
            <a:off x="4507992" y="3931920"/>
            <a:ext cx="3429000" cy="1927871"/>
          </a:xfrm>
          <a:prstGeom prst="rect">
            <a:avLst/>
          </a:prstGeom>
          <a:ln w="9525">
            <a:solidFill>
              <a:srgbClr val="C9CDC2"/>
            </a:solidFill>
            <a:prstDash val="solid"/>
          </a:ln>
        </p:spPr>
      </p:sp>
      <p:sp>
        <p:nvSpPr>
          <p:cNvPr id="27" name="S09 Rounded Rectangle 27"/>
          <p:cNvSpPr/>
          <p:nvPr/>
        </p:nvSpPr>
        <p:spPr>
          <a:xfrm>
            <a:off x="6651925" y="4419089"/>
            <a:ext cx="757734" cy="983656"/>
          </a:xfrm>
          <a:prstGeom prst="roundRect">
            <a:avLst>
              <a:gd name="adj" fmla="val 3620"/>
            </a:avLst>
          </a:prstGeom>
          <a:ln w="25400">
            <a:solidFill>
              <a:srgbClr val="9E2B25"/>
            </a:solidFill>
            <a:prstDash val="solid"/>
          </a:ln>
        </p:spPr>
      </p:sp>
      <p:sp>
        <p:nvSpPr>
          <p:cNvPr id="28" name="S09 TextBox 28"/>
          <p:cNvSpPr txBox="1"/>
          <p:nvPr/>
        </p:nvSpPr>
        <p:spPr>
          <a:xfrm>
            <a:off x="4507992" y="5896367"/>
            <a:ext cx="3429000" cy="237744"/>
          </a:xfrm>
          <a:prstGeom prst="rect">
            <a:avLst/>
          </a:prstGeom>
          <a:noFill/>
          <a:ln/>
        </p:spPr>
        <p:txBody>
          <a:bodyPr wrap="square" lIns="0" tIns="0" rIns="0" bIns="0" rtlCol="0" anchor="t"/>
          <a:lstStyle/>
          <a:p>
            <a:pPr marL="0" indent="0">
              <a:buNone/>
            </a:pPr>
            <a:r>
              <a:rPr lang="en-US" sz="1050" b="1" dirty="0">
                <a:solidFill>
                  <a:srgbClr val="9E2B25"/>
                </a:solidFill>
                <a:latin typeface="Segoe UI" pitchFamily="34" charset="0"/>
                <a:ea typeface="Segoe UI" pitchFamily="34" charset="-122"/>
                <a:cs typeface="Segoe UI" pitchFamily="34" charset="-120"/>
              </a:rPr>
              <a:t>3  </a:t>
            </a:r>
            <a:r>
              <a:rPr lang="en-US" sz="1050" dirty="0">
                <a:solidFill>
                  <a:srgbClr val="4E5B54"/>
                </a:solidFill>
                <a:latin typeface="Segoe UI" pitchFamily="34" charset="0"/>
                <a:ea typeface="Segoe UI" pitchFamily="34" charset="-122"/>
                <a:cs typeface="Segoe UI" pitchFamily="34" charset="-120"/>
              </a:rPr>
              <a:t>Mốc thời gian và sơ đồ vị trí</a:t>
            </a:r>
            <a:endParaRPr lang="en-US" sz="1050" dirty="0"/>
          </a:p>
        </p:txBody>
      </p:sp>
      <p:pic>
        <p:nvPicPr>
          <p:cNvPr id="29" name="S09 Picture 29" descr="Trang chi tiết di sản phi vật thể"/>
          <p:cNvPicPr>
            <a:picLocks noChangeAspect="1"/>
          </p:cNvPicPr>
          <p:nvPr/>
        </p:nvPicPr>
        <p:blipFill>
          <a:blip r:embed="rId7"/>
          <a:stretch>
            <a:fillRect/>
          </a:stretch>
        </p:blipFill>
        <p:spPr>
          <a:xfrm>
            <a:off x="8211312" y="3931920"/>
            <a:ext cx="3429000" cy="1927871"/>
          </a:xfrm>
          <a:prstGeom prst="rect">
            <a:avLst/>
          </a:prstGeom>
        </p:spPr>
      </p:pic>
      <p:sp>
        <p:nvSpPr>
          <p:cNvPr id="30" name="S09 Rectangle 30"/>
          <p:cNvSpPr/>
          <p:nvPr/>
        </p:nvSpPr>
        <p:spPr>
          <a:xfrm>
            <a:off x="8211312" y="3931920"/>
            <a:ext cx="3429000" cy="1927871"/>
          </a:xfrm>
          <a:prstGeom prst="rect">
            <a:avLst/>
          </a:prstGeom>
          <a:ln w="9525">
            <a:solidFill>
              <a:srgbClr val="C9CDC2"/>
            </a:solidFill>
            <a:prstDash val="solid"/>
          </a:ln>
        </p:spPr>
      </p:sp>
      <p:sp>
        <p:nvSpPr>
          <p:cNvPr id="31" name="S09 Rounded Rectangle 31"/>
          <p:cNvSpPr/>
          <p:nvPr/>
        </p:nvSpPr>
        <p:spPr>
          <a:xfrm>
            <a:off x="8487620" y="4527030"/>
            <a:ext cx="772795" cy="132682"/>
          </a:xfrm>
          <a:prstGeom prst="roundRect">
            <a:avLst>
              <a:gd name="adj" fmla="val 20675"/>
            </a:avLst>
          </a:prstGeom>
          <a:ln w="25400">
            <a:solidFill>
              <a:srgbClr val="9E2B25"/>
            </a:solidFill>
            <a:prstDash val="solid"/>
          </a:ln>
        </p:spPr>
      </p:sp>
      <p:sp>
        <p:nvSpPr>
          <p:cNvPr id="32" name="S09 TextBox 32"/>
          <p:cNvSpPr txBox="1"/>
          <p:nvPr/>
        </p:nvSpPr>
        <p:spPr>
          <a:xfrm>
            <a:off x="8211312" y="5896367"/>
            <a:ext cx="3429000" cy="237744"/>
          </a:xfrm>
          <a:prstGeom prst="rect">
            <a:avLst/>
          </a:prstGeom>
          <a:noFill/>
          <a:ln/>
        </p:spPr>
        <p:txBody>
          <a:bodyPr wrap="square" lIns="0" tIns="0" rIns="0" bIns="0" rtlCol="0" anchor="t"/>
          <a:lstStyle/>
          <a:p>
            <a:pPr marL="0" indent="0">
              <a:buNone/>
            </a:pPr>
            <a:r>
              <a:rPr lang="en-US" sz="1050" b="1" dirty="0">
                <a:solidFill>
                  <a:srgbClr val="9E2B25"/>
                </a:solidFill>
                <a:latin typeface="Segoe UI" pitchFamily="34" charset="0"/>
                <a:ea typeface="Segoe UI" pitchFamily="34" charset="-122"/>
                <a:cs typeface="Segoe UI" pitchFamily="34" charset="-120"/>
              </a:rPr>
              <a:t>4  </a:t>
            </a:r>
            <a:r>
              <a:rPr lang="en-US" sz="1050" dirty="0">
                <a:solidFill>
                  <a:srgbClr val="4E5B54"/>
                </a:solidFill>
                <a:latin typeface="Segoe UI" pitchFamily="34" charset="0"/>
                <a:ea typeface="Segoe UI" pitchFamily="34" charset="-122"/>
                <a:cs typeface="Segoe UI" pitchFamily="34" charset="-120"/>
              </a:rPr>
              <a:t>Nhãn UNESCO ghi danh, Danh mục quốc gia</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anim calcmode="lin" valueType="num">
                                      <p:cBhvr>
                                        <p:cTn id="8" dur="500" fill="hold"/>
                                        <p:tgtEl>
                                          <p:spTgt spid="11"/>
                                        </p:tgtEl>
                                        <p:attrNameLst>
                                          <p:attrName>ppt_x</p:attrName>
                                        </p:attrNameLst>
                                      </p:cBhvr>
                                      <p:tavLst>
                                        <p:tav tm="0">
                                          <p:val>
                                            <p:strVal val="#ppt_x"/>
                                          </p:val>
                                        </p:tav>
                                        <p:tav tm="100000">
                                          <p:val>
                                            <p:strVal val="#ppt_x"/>
                                          </p:val>
                                        </p:tav>
                                      </p:tavLst>
                                    </p:anim>
                                    <p:anim calcmode="lin" valueType="num">
                                      <p:cBhvr>
                                        <p:cTn id="9" dur="5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anim calcmode="lin" valueType="num">
                                      <p:cBhvr>
                                        <p:cTn id="13" dur="500" fill="hold"/>
                                        <p:tgtEl>
                                          <p:spTgt spid="12"/>
                                        </p:tgtEl>
                                        <p:attrNameLst>
                                          <p:attrName>ppt_x</p:attrName>
                                        </p:attrNameLst>
                                      </p:cBhvr>
                                      <p:tavLst>
                                        <p:tav tm="0">
                                          <p:val>
                                            <p:strVal val="#ppt_x"/>
                                          </p:val>
                                        </p:tav>
                                        <p:tav tm="100000">
                                          <p:val>
                                            <p:strVal val="#ppt_x"/>
                                          </p:val>
                                        </p:tav>
                                      </p:tavLst>
                                    </p:anim>
                                    <p:anim calcmode="lin" valueType="num">
                                      <p:cBhvr>
                                        <p:cTn id="14" dur="500" fill="hold"/>
                                        <p:tgtEl>
                                          <p:spTgt spid="12"/>
                                        </p:tgtEl>
                                        <p:attrNameLst>
                                          <p:attrName>ppt_y</p:attrName>
                                        </p:attrNameLst>
                                      </p:cBhvr>
                                      <p:tavLst>
                                        <p:tav tm="0">
                                          <p:val>
                                            <p:strVal val="#ppt_y+.1"/>
                                          </p:val>
                                        </p:tav>
                                        <p:tav tm="100000">
                                          <p:val>
                                            <p:strVal val="#ppt_y"/>
                                          </p:val>
                                        </p:tav>
                                      </p:tavLst>
                                    </p:anim>
                                  </p:childTnLst>
                                </p:cTn>
                              </p:par>
                              <p:par>
                                <p:cTn id="15" presetID="53" presetClass="entr" presetSubtype="16" fill="hold" nodeType="withEffect">
                                  <p:stCondLst>
                                    <p:cond delay="120"/>
                                  </p:stCondLst>
                                  <p:childTnLst>
                                    <p:set>
                                      <p:cBhvr>
                                        <p:cTn id="16" dur="1" fill="hold">
                                          <p:stCondLst>
                                            <p:cond delay="0"/>
                                          </p:stCondLst>
                                        </p:cTn>
                                        <p:tgtEl>
                                          <p:spTgt spid="17"/>
                                        </p:tgtEl>
                                        <p:attrNameLst>
                                          <p:attrName>style.visibility</p:attrName>
                                        </p:attrNameLst>
                                      </p:cBhvr>
                                      <p:to>
                                        <p:strVal val="visible"/>
                                      </p:to>
                                    </p:set>
                                    <p:anim calcmode="lin" valueType="num">
                                      <p:cBhvr>
                                        <p:cTn id="17" dur="600" fill="hold"/>
                                        <p:tgtEl>
                                          <p:spTgt spid="17"/>
                                        </p:tgtEl>
                                        <p:attrNameLst>
                                          <p:attrName>ppt_w</p:attrName>
                                        </p:attrNameLst>
                                      </p:cBhvr>
                                      <p:tavLst>
                                        <p:tav tm="0">
                                          <p:val>
                                            <p:fltVal val="0"/>
                                          </p:val>
                                        </p:tav>
                                        <p:tav tm="100000">
                                          <p:val>
                                            <p:strVal val="#ppt_w"/>
                                          </p:val>
                                        </p:tav>
                                      </p:tavLst>
                                    </p:anim>
                                    <p:anim calcmode="lin" valueType="num">
                                      <p:cBhvr>
                                        <p:cTn id="18" dur="600" fill="hold"/>
                                        <p:tgtEl>
                                          <p:spTgt spid="17"/>
                                        </p:tgtEl>
                                        <p:attrNameLst>
                                          <p:attrName>ppt_h</p:attrName>
                                        </p:attrNameLst>
                                      </p:cBhvr>
                                      <p:tavLst>
                                        <p:tav tm="0">
                                          <p:val>
                                            <p:fltVal val="0"/>
                                          </p:val>
                                        </p:tav>
                                        <p:tav tm="100000">
                                          <p:val>
                                            <p:strVal val="#ppt_h"/>
                                          </p:val>
                                        </p:tav>
                                      </p:tavLst>
                                    </p:anim>
                                    <p:animEffect transition="in" filter="fade">
                                      <p:cBhvr>
                                        <p:cTn id="19" dur="600"/>
                                        <p:tgtEl>
                                          <p:spTgt spid="17"/>
                                        </p:tgtEl>
                                      </p:cBhvr>
                                    </p:animEffect>
                                  </p:childTnLst>
                                </p:cTn>
                              </p:par>
                              <p:par>
                                <p:cTn id="20" presetID="53" presetClass="entr" presetSubtype="16" fill="hold" nodeType="withEffect">
                                  <p:stCondLst>
                                    <p:cond delay="120"/>
                                  </p:stCondLst>
                                  <p:childTnLst>
                                    <p:set>
                                      <p:cBhvr>
                                        <p:cTn id="21" dur="1" fill="hold">
                                          <p:stCondLst>
                                            <p:cond delay="0"/>
                                          </p:stCondLst>
                                        </p:cTn>
                                        <p:tgtEl>
                                          <p:spTgt spid="18"/>
                                        </p:tgtEl>
                                        <p:attrNameLst>
                                          <p:attrName>style.visibility</p:attrName>
                                        </p:attrNameLst>
                                      </p:cBhvr>
                                      <p:to>
                                        <p:strVal val="visible"/>
                                      </p:to>
                                    </p:set>
                                    <p:anim calcmode="lin" valueType="num">
                                      <p:cBhvr>
                                        <p:cTn id="22" dur="600" fill="hold"/>
                                        <p:tgtEl>
                                          <p:spTgt spid="18"/>
                                        </p:tgtEl>
                                        <p:attrNameLst>
                                          <p:attrName>ppt_w</p:attrName>
                                        </p:attrNameLst>
                                      </p:cBhvr>
                                      <p:tavLst>
                                        <p:tav tm="0">
                                          <p:val>
                                            <p:fltVal val="0"/>
                                          </p:val>
                                        </p:tav>
                                        <p:tav tm="100000">
                                          <p:val>
                                            <p:strVal val="#ppt_w"/>
                                          </p:val>
                                        </p:tav>
                                      </p:tavLst>
                                    </p:anim>
                                    <p:anim calcmode="lin" valueType="num">
                                      <p:cBhvr>
                                        <p:cTn id="23" dur="600" fill="hold"/>
                                        <p:tgtEl>
                                          <p:spTgt spid="18"/>
                                        </p:tgtEl>
                                        <p:attrNameLst>
                                          <p:attrName>ppt_h</p:attrName>
                                        </p:attrNameLst>
                                      </p:cBhvr>
                                      <p:tavLst>
                                        <p:tav tm="0">
                                          <p:val>
                                            <p:fltVal val="0"/>
                                          </p:val>
                                        </p:tav>
                                        <p:tav tm="100000">
                                          <p:val>
                                            <p:strVal val="#ppt_h"/>
                                          </p:val>
                                        </p:tav>
                                      </p:tavLst>
                                    </p:anim>
                                    <p:animEffect transition="in" filter="fade">
                                      <p:cBhvr>
                                        <p:cTn id="24" dur="600"/>
                                        <p:tgtEl>
                                          <p:spTgt spid="18"/>
                                        </p:tgtEl>
                                      </p:cBhvr>
                                    </p:animEffect>
                                  </p:childTnLst>
                                </p:cTn>
                              </p:par>
                              <p:par>
                                <p:cTn id="25" presetID="10" presetClass="entr" presetSubtype="0" fill="hold" nodeType="withEffect">
                                  <p:stCondLst>
                                    <p:cond delay="94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400"/>
                                        <p:tgtEl>
                                          <p:spTgt spid="19"/>
                                        </p:tgtEl>
                                      </p:cBhvr>
                                    </p:animEffect>
                                  </p:childTnLst>
                                </p:cTn>
                              </p:par>
                              <p:par>
                                <p:cTn id="28" presetID="10" presetClass="entr" presetSubtype="0" fill="hold" grpId="0" nodeType="withEffect">
                                  <p:stCondLst>
                                    <p:cond delay="24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anim calcmode="lin" valueType="num">
                                      <p:cBhvr>
                                        <p:cTn id="36" dur="500" fill="hold"/>
                                        <p:tgtEl>
                                          <p:spTgt spid="13"/>
                                        </p:tgtEl>
                                        <p:attrNameLst>
                                          <p:attrName>ppt_x</p:attrName>
                                        </p:attrNameLst>
                                      </p:cBhvr>
                                      <p:tavLst>
                                        <p:tav tm="0">
                                          <p:val>
                                            <p:strVal val="#ppt_x"/>
                                          </p:val>
                                        </p:tav>
                                        <p:tav tm="100000">
                                          <p:val>
                                            <p:strVal val="#ppt_x"/>
                                          </p:val>
                                        </p:tav>
                                      </p:tavLst>
                                    </p:anim>
                                    <p:anim calcmode="lin" valueType="num">
                                      <p:cBhvr>
                                        <p:cTn id="37" dur="500" fill="hold"/>
                                        <p:tgtEl>
                                          <p:spTgt spid="13"/>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anim calcmode="lin" valueType="num">
                                      <p:cBhvr>
                                        <p:cTn id="41" dur="500" fill="hold"/>
                                        <p:tgtEl>
                                          <p:spTgt spid="14"/>
                                        </p:tgtEl>
                                        <p:attrNameLst>
                                          <p:attrName>ppt_x</p:attrName>
                                        </p:attrNameLst>
                                      </p:cBhvr>
                                      <p:tavLst>
                                        <p:tav tm="0">
                                          <p:val>
                                            <p:strVal val="#ppt_x"/>
                                          </p:val>
                                        </p:tav>
                                        <p:tav tm="100000">
                                          <p:val>
                                            <p:strVal val="#ppt_x"/>
                                          </p:val>
                                        </p:tav>
                                      </p:tavLst>
                                    </p:anim>
                                    <p:anim calcmode="lin" valueType="num">
                                      <p:cBhvr>
                                        <p:cTn id="42" dur="500" fill="hold"/>
                                        <p:tgtEl>
                                          <p:spTgt spid="14"/>
                                        </p:tgtEl>
                                        <p:attrNameLst>
                                          <p:attrName>ppt_y</p:attrName>
                                        </p:attrNameLst>
                                      </p:cBhvr>
                                      <p:tavLst>
                                        <p:tav tm="0">
                                          <p:val>
                                            <p:strVal val="#ppt_y+.1"/>
                                          </p:val>
                                        </p:tav>
                                        <p:tav tm="100000">
                                          <p:val>
                                            <p:strVal val="#ppt_y"/>
                                          </p:val>
                                        </p:tav>
                                      </p:tavLst>
                                    </p:anim>
                                  </p:childTnLst>
                                </p:cTn>
                              </p:par>
                              <p:par>
                                <p:cTn id="43" presetID="53" presetClass="entr" presetSubtype="16" fill="hold" nodeType="withEffect">
                                  <p:stCondLst>
                                    <p:cond delay="120"/>
                                  </p:stCondLst>
                                  <p:childTnLst>
                                    <p:set>
                                      <p:cBhvr>
                                        <p:cTn id="44" dur="1" fill="hold">
                                          <p:stCondLst>
                                            <p:cond delay="0"/>
                                          </p:stCondLst>
                                        </p:cTn>
                                        <p:tgtEl>
                                          <p:spTgt spid="21"/>
                                        </p:tgtEl>
                                        <p:attrNameLst>
                                          <p:attrName>style.visibility</p:attrName>
                                        </p:attrNameLst>
                                      </p:cBhvr>
                                      <p:to>
                                        <p:strVal val="visible"/>
                                      </p:to>
                                    </p:set>
                                    <p:anim calcmode="lin" valueType="num">
                                      <p:cBhvr>
                                        <p:cTn id="45" dur="600" fill="hold"/>
                                        <p:tgtEl>
                                          <p:spTgt spid="21"/>
                                        </p:tgtEl>
                                        <p:attrNameLst>
                                          <p:attrName>ppt_w</p:attrName>
                                        </p:attrNameLst>
                                      </p:cBhvr>
                                      <p:tavLst>
                                        <p:tav tm="0">
                                          <p:val>
                                            <p:fltVal val="0"/>
                                          </p:val>
                                        </p:tav>
                                        <p:tav tm="100000">
                                          <p:val>
                                            <p:strVal val="#ppt_w"/>
                                          </p:val>
                                        </p:tav>
                                      </p:tavLst>
                                    </p:anim>
                                    <p:anim calcmode="lin" valueType="num">
                                      <p:cBhvr>
                                        <p:cTn id="46" dur="600" fill="hold"/>
                                        <p:tgtEl>
                                          <p:spTgt spid="21"/>
                                        </p:tgtEl>
                                        <p:attrNameLst>
                                          <p:attrName>ppt_h</p:attrName>
                                        </p:attrNameLst>
                                      </p:cBhvr>
                                      <p:tavLst>
                                        <p:tav tm="0">
                                          <p:val>
                                            <p:fltVal val="0"/>
                                          </p:val>
                                        </p:tav>
                                        <p:tav tm="100000">
                                          <p:val>
                                            <p:strVal val="#ppt_h"/>
                                          </p:val>
                                        </p:tav>
                                      </p:tavLst>
                                    </p:anim>
                                    <p:animEffect transition="in" filter="fade">
                                      <p:cBhvr>
                                        <p:cTn id="47" dur="600"/>
                                        <p:tgtEl>
                                          <p:spTgt spid="21"/>
                                        </p:tgtEl>
                                      </p:cBhvr>
                                    </p:animEffect>
                                  </p:childTnLst>
                                </p:cTn>
                              </p:par>
                              <p:par>
                                <p:cTn id="48" presetID="53" presetClass="entr" presetSubtype="16" fill="hold" nodeType="withEffect">
                                  <p:stCondLst>
                                    <p:cond delay="120"/>
                                  </p:stCondLst>
                                  <p:childTnLst>
                                    <p:set>
                                      <p:cBhvr>
                                        <p:cTn id="49" dur="1" fill="hold">
                                          <p:stCondLst>
                                            <p:cond delay="0"/>
                                          </p:stCondLst>
                                        </p:cTn>
                                        <p:tgtEl>
                                          <p:spTgt spid="22"/>
                                        </p:tgtEl>
                                        <p:attrNameLst>
                                          <p:attrName>style.visibility</p:attrName>
                                        </p:attrNameLst>
                                      </p:cBhvr>
                                      <p:to>
                                        <p:strVal val="visible"/>
                                      </p:to>
                                    </p:set>
                                    <p:anim calcmode="lin" valueType="num">
                                      <p:cBhvr>
                                        <p:cTn id="50" dur="600" fill="hold"/>
                                        <p:tgtEl>
                                          <p:spTgt spid="22"/>
                                        </p:tgtEl>
                                        <p:attrNameLst>
                                          <p:attrName>ppt_w</p:attrName>
                                        </p:attrNameLst>
                                      </p:cBhvr>
                                      <p:tavLst>
                                        <p:tav tm="0">
                                          <p:val>
                                            <p:fltVal val="0"/>
                                          </p:val>
                                        </p:tav>
                                        <p:tav tm="100000">
                                          <p:val>
                                            <p:strVal val="#ppt_w"/>
                                          </p:val>
                                        </p:tav>
                                      </p:tavLst>
                                    </p:anim>
                                    <p:anim calcmode="lin" valueType="num">
                                      <p:cBhvr>
                                        <p:cTn id="51" dur="600" fill="hold"/>
                                        <p:tgtEl>
                                          <p:spTgt spid="22"/>
                                        </p:tgtEl>
                                        <p:attrNameLst>
                                          <p:attrName>ppt_h</p:attrName>
                                        </p:attrNameLst>
                                      </p:cBhvr>
                                      <p:tavLst>
                                        <p:tav tm="0">
                                          <p:val>
                                            <p:fltVal val="0"/>
                                          </p:val>
                                        </p:tav>
                                        <p:tav tm="100000">
                                          <p:val>
                                            <p:strVal val="#ppt_h"/>
                                          </p:val>
                                        </p:tav>
                                      </p:tavLst>
                                    </p:anim>
                                    <p:animEffect transition="in" filter="fade">
                                      <p:cBhvr>
                                        <p:cTn id="52" dur="600"/>
                                        <p:tgtEl>
                                          <p:spTgt spid="22"/>
                                        </p:tgtEl>
                                      </p:cBhvr>
                                    </p:animEffect>
                                  </p:childTnLst>
                                </p:cTn>
                              </p:par>
                              <p:par>
                                <p:cTn id="53" presetID="53" presetClass="entr" presetSubtype="16" fill="hold" nodeType="withEffect">
                                  <p:stCondLst>
                                    <p:cond delay="120"/>
                                  </p:stCondLst>
                                  <p:childTnLst>
                                    <p:set>
                                      <p:cBhvr>
                                        <p:cTn id="54" dur="1" fill="hold">
                                          <p:stCondLst>
                                            <p:cond delay="0"/>
                                          </p:stCondLst>
                                        </p:cTn>
                                        <p:tgtEl>
                                          <p:spTgt spid="25"/>
                                        </p:tgtEl>
                                        <p:attrNameLst>
                                          <p:attrName>style.visibility</p:attrName>
                                        </p:attrNameLst>
                                      </p:cBhvr>
                                      <p:to>
                                        <p:strVal val="visible"/>
                                      </p:to>
                                    </p:set>
                                    <p:anim calcmode="lin" valueType="num">
                                      <p:cBhvr>
                                        <p:cTn id="55" dur="600" fill="hold"/>
                                        <p:tgtEl>
                                          <p:spTgt spid="25"/>
                                        </p:tgtEl>
                                        <p:attrNameLst>
                                          <p:attrName>ppt_w</p:attrName>
                                        </p:attrNameLst>
                                      </p:cBhvr>
                                      <p:tavLst>
                                        <p:tav tm="0">
                                          <p:val>
                                            <p:fltVal val="0"/>
                                          </p:val>
                                        </p:tav>
                                        <p:tav tm="100000">
                                          <p:val>
                                            <p:strVal val="#ppt_w"/>
                                          </p:val>
                                        </p:tav>
                                      </p:tavLst>
                                    </p:anim>
                                    <p:anim calcmode="lin" valueType="num">
                                      <p:cBhvr>
                                        <p:cTn id="56" dur="600" fill="hold"/>
                                        <p:tgtEl>
                                          <p:spTgt spid="25"/>
                                        </p:tgtEl>
                                        <p:attrNameLst>
                                          <p:attrName>ppt_h</p:attrName>
                                        </p:attrNameLst>
                                      </p:cBhvr>
                                      <p:tavLst>
                                        <p:tav tm="0">
                                          <p:val>
                                            <p:fltVal val="0"/>
                                          </p:val>
                                        </p:tav>
                                        <p:tav tm="100000">
                                          <p:val>
                                            <p:strVal val="#ppt_h"/>
                                          </p:val>
                                        </p:tav>
                                      </p:tavLst>
                                    </p:anim>
                                    <p:animEffect transition="in" filter="fade">
                                      <p:cBhvr>
                                        <p:cTn id="57" dur="600"/>
                                        <p:tgtEl>
                                          <p:spTgt spid="25"/>
                                        </p:tgtEl>
                                      </p:cBhvr>
                                    </p:animEffect>
                                  </p:childTnLst>
                                </p:cTn>
                              </p:par>
                              <p:par>
                                <p:cTn id="58" presetID="53" presetClass="entr" presetSubtype="16" fill="hold" nodeType="withEffect">
                                  <p:stCondLst>
                                    <p:cond delay="120"/>
                                  </p:stCondLst>
                                  <p:childTnLst>
                                    <p:set>
                                      <p:cBhvr>
                                        <p:cTn id="59" dur="1" fill="hold">
                                          <p:stCondLst>
                                            <p:cond delay="0"/>
                                          </p:stCondLst>
                                        </p:cTn>
                                        <p:tgtEl>
                                          <p:spTgt spid="26"/>
                                        </p:tgtEl>
                                        <p:attrNameLst>
                                          <p:attrName>style.visibility</p:attrName>
                                        </p:attrNameLst>
                                      </p:cBhvr>
                                      <p:to>
                                        <p:strVal val="visible"/>
                                      </p:to>
                                    </p:set>
                                    <p:anim calcmode="lin" valueType="num">
                                      <p:cBhvr>
                                        <p:cTn id="60" dur="600" fill="hold"/>
                                        <p:tgtEl>
                                          <p:spTgt spid="26"/>
                                        </p:tgtEl>
                                        <p:attrNameLst>
                                          <p:attrName>ppt_w</p:attrName>
                                        </p:attrNameLst>
                                      </p:cBhvr>
                                      <p:tavLst>
                                        <p:tav tm="0">
                                          <p:val>
                                            <p:fltVal val="0"/>
                                          </p:val>
                                        </p:tav>
                                        <p:tav tm="100000">
                                          <p:val>
                                            <p:strVal val="#ppt_w"/>
                                          </p:val>
                                        </p:tav>
                                      </p:tavLst>
                                    </p:anim>
                                    <p:anim calcmode="lin" valueType="num">
                                      <p:cBhvr>
                                        <p:cTn id="61" dur="600" fill="hold"/>
                                        <p:tgtEl>
                                          <p:spTgt spid="26"/>
                                        </p:tgtEl>
                                        <p:attrNameLst>
                                          <p:attrName>ppt_h</p:attrName>
                                        </p:attrNameLst>
                                      </p:cBhvr>
                                      <p:tavLst>
                                        <p:tav tm="0">
                                          <p:val>
                                            <p:fltVal val="0"/>
                                          </p:val>
                                        </p:tav>
                                        <p:tav tm="100000">
                                          <p:val>
                                            <p:strVal val="#ppt_h"/>
                                          </p:val>
                                        </p:tav>
                                      </p:tavLst>
                                    </p:anim>
                                    <p:animEffect transition="in" filter="fade">
                                      <p:cBhvr>
                                        <p:cTn id="62" dur="600"/>
                                        <p:tgtEl>
                                          <p:spTgt spid="26"/>
                                        </p:tgtEl>
                                      </p:cBhvr>
                                    </p:animEffect>
                                  </p:childTnLst>
                                </p:cTn>
                              </p:par>
                              <p:par>
                                <p:cTn id="63" presetID="10" presetClass="entr" presetSubtype="0" fill="hold" nodeType="withEffect">
                                  <p:stCondLst>
                                    <p:cond delay="94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400"/>
                                        <p:tgtEl>
                                          <p:spTgt spid="23"/>
                                        </p:tgtEl>
                                      </p:cBhvr>
                                    </p:animEffect>
                                  </p:childTnLst>
                                </p:cTn>
                              </p:par>
                              <p:par>
                                <p:cTn id="66" presetID="10" presetClass="entr" presetSubtype="0" fill="hold" grpId="0" nodeType="withEffect">
                                  <p:stCondLst>
                                    <p:cond delay="24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par>
                                <p:cTn id="69" presetID="10" presetClass="entr" presetSubtype="0" fill="hold" nodeType="withEffect">
                                  <p:stCondLst>
                                    <p:cond delay="94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400"/>
                                        <p:tgtEl>
                                          <p:spTgt spid="27"/>
                                        </p:tgtEl>
                                      </p:cBhvr>
                                    </p:animEffect>
                                  </p:childTnLst>
                                </p:cTn>
                              </p:par>
                              <p:par>
                                <p:cTn id="72" presetID="10" presetClass="entr" presetSubtype="0" fill="hold" grpId="0" nodeType="withEffect">
                                  <p:stCondLst>
                                    <p:cond delay="24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500"/>
                                        <p:tgtEl>
                                          <p:spTgt spid="28"/>
                                        </p:tgtEl>
                                      </p:cBhvr>
                                    </p:animEffect>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500"/>
                                        <p:tgtEl>
                                          <p:spTgt spid="15"/>
                                        </p:tgtEl>
                                      </p:cBhvr>
                                    </p:animEffect>
                                    <p:anim calcmode="lin" valueType="num">
                                      <p:cBhvr>
                                        <p:cTn id="80" dur="500" fill="hold"/>
                                        <p:tgtEl>
                                          <p:spTgt spid="15"/>
                                        </p:tgtEl>
                                        <p:attrNameLst>
                                          <p:attrName>ppt_x</p:attrName>
                                        </p:attrNameLst>
                                      </p:cBhvr>
                                      <p:tavLst>
                                        <p:tav tm="0">
                                          <p:val>
                                            <p:strVal val="#ppt_x"/>
                                          </p:val>
                                        </p:tav>
                                        <p:tav tm="100000">
                                          <p:val>
                                            <p:strVal val="#ppt_x"/>
                                          </p:val>
                                        </p:tav>
                                      </p:tavLst>
                                    </p:anim>
                                    <p:anim calcmode="lin" valueType="num">
                                      <p:cBhvr>
                                        <p:cTn id="81" dur="500" fill="hold"/>
                                        <p:tgtEl>
                                          <p:spTgt spid="15"/>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6"/>
                                        </p:tgtEl>
                                        <p:attrNameLst>
                                          <p:attrName>style.visibility</p:attrName>
                                        </p:attrNameLst>
                                      </p:cBhvr>
                                      <p:to>
                                        <p:strVal val="visible"/>
                                      </p:to>
                                    </p:set>
                                    <p:animEffect transition="in" filter="fade">
                                      <p:cBhvr>
                                        <p:cTn id="84" dur="500"/>
                                        <p:tgtEl>
                                          <p:spTgt spid="16"/>
                                        </p:tgtEl>
                                      </p:cBhvr>
                                    </p:animEffect>
                                    <p:anim calcmode="lin" valueType="num">
                                      <p:cBhvr>
                                        <p:cTn id="85" dur="500" fill="hold"/>
                                        <p:tgtEl>
                                          <p:spTgt spid="16"/>
                                        </p:tgtEl>
                                        <p:attrNameLst>
                                          <p:attrName>ppt_x</p:attrName>
                                        </p:attrNameLst>
                                      </p:cBhvr>
                                      <p:tavLst>
                                        <p:tav tm="0">
                                          <p:val>
                                            <p:strVal val="#ppt_x"/>
                                          </p:val>
                                        </p:tav>
                                        <p:tav tm="100000">
                                          <p:val>
                                            <p:strVal val="#ppt_x"/>
                                          </p:val>
                                        </p:tav>
                                      </p:tavLst>
                                    </p:anim>
                                    <p:anim calcmode="lin" valueType="num">
                                      <p:cBhvr>
                                        <p:cTn id="86" dur="500" fill="hold"/>
                                        <p:tgtEl>
                                          <p:spTgt spid="16"/>
                                        </p:tgtEl>
                                        <p:attrNameLst>
                                          <p:attrName>ppt_y</p:attrName>
                                        </p:attrNameLst>
                                      </p:cBhvr>
                                      <p:tavLst>
                                        <p:tav tm="0">
                                          <p:val>
                                            <p:strVal val="#ppt_y+.1"/>
                                          </p:val>
                                        </p:tav>
                                        <p:tav tm="100000">
                                          <p:val>
                                            <p:strVal val="#ppt_y"/>
                                          </p:val>
                                        </p:tav>
                                      </p:tavLst>
                                    </p:anim>
                                  </p:childTnLst>
                                </p:cTn>
                              </p:par>
                              <p:par>
                                <p:cTn id="87" presetID="53" presetClass="entr" presetSubtype="16" fill="hold" nodeType="withEffect">
                                  <p:stCondLst>
                                    <p:cond delay="120"/>
                                  </p:stCondLst>
                                  <p:childTnLst>
                                    <p:set>
                                      <p:cBhvr>
                                        <p:cTn id="88" dur="1" fill="hold">
                                          <p:stCondLst>
                                            <p:cond delay="0"/>
                                          </p:stCondLst>
                                        </p:cTn>
                                        <p:tgtEl>
                                          <p:spTgt spid="29"/>
                                        </p:tgtEl>
                                        <p:attrNameLst>
                                          <p:attrName>style.visibility</p:attrName>
                                        </p:attrNameLst>
                                      </p:cBhvr>
                                      <p:to>
                                        <p:strVal val="visible"/>
                                      </p:to>
                                    </p:set>
                                    <p:anim calcmode="lin" valueType="num">
                                      <p:cBhvr>
                                        <p:cTn id="89" dur="600" fill="hold"/>
                                        <p:tgtEl>
                                          <p:spTgt spid="29"/>
                                        </p:tgtEl>
                                        <p:attrNameLst>
                                          <p:attrName>ppt_w</p:attrName>
                                        </p:attrNameLst>
                                      </p:cBhvr>
                                      <p:tavLst>
                                        <p:tav tm="0">
                                          <p:val>
                                            <p:fltVal val="0"/>
                                          </p:val>
                                        </p:tav>
                                        <p:tav tm="100000">
                                          <p:val>
                                            <p:strVal val="#ppt_w"/>
                                          </p:val>
                                        </p:tav>
                                      </p:tavLst>
                                    </p:anim>
                                    <p:anim calcmode="lin" valueType="num">
                                      <p:cBhvr>
                                        <p:cTn id="90" dur="600" fill="hold"/>
                                        <p:tgtEl>
                                          <p:spTgt spid="29"/>
                                        </p:tgtEl>
                                        <p:attrNameLst>
                                          <p:attrName>ppt_h</p:attrName>
                                        </p:attrNameLst>
                                      </p:cBhvr>
                                      <p:tavLst>
                                        <p:tav tm="0">
                                          <p:val>
                                            <p:fltVal val="0"/>
                                          </p:val>
                                        </p:tav>
                                        <p:tav tm="100000">
                                          <p:val>
                                            <p:strVal val="#ppt_h"/>
                                          </p:val>
                                        </p:tav>
                                      </p:tavLst>
                                    </p:anim>
                                    <p:animEffect transition="in" filter="fade">
                                      <p:cBhvr>
                                        <p:cTn id="91" dur="600"/>
                                        <p:tgtEl>
                                          <p:spTgt spid="29"/>
                                        </p:tgtEl>
                                      </p:cBhvr>
                                    </p:animEffect>
                                  </p:childTnLst>
                                </p:cTn>
                              </p:par>
                              <p:par>
                                <p:cTn id="92" presetID="53" presetClass="entr" presetSubtype="16" fill="hold" nodeType="withEffect">
                                  <p:stCondLst>
                                    <p:cond delay="120"/>
                                  </p:stCondLst>
                                  <p:childTnLst>
                                    <p:set>
                                      <p:cBhvr>
                                        <p:cTn id="93" dur="1" fill="hold">
                                          <p:stCondLst>
                                            <p:cond delay="0"/>
                                          </p:stCondLst>
                                        </p:cTn>
                                        <p:tgtEl>
                                          <p:spTgt spid="30"/>
                                        </p:tgtEl>
                                        <p:attrNameLst>
                                          <p:attrName>style.visibility</p:attrName>
                                        </p:attrNameLst>
                                      </p:cBhvr>
                                      <p:to>
                                        <p:strVal val="visible"/>
                                      </p:to>
                                    </p:set>
                                    <p:anim calcmode="lin" valueType="num">
                                      <p:cBhvr>
                                        <p:cTn id="94" dur="600" fill="hold"/>
                                        <p:tgtEl>
                                          <p:spTgt spid="30"/>
                                        </p:tgtEl>
                                        <p:attrNameLst>
                                          <p:attrName>ppt_w</p:attrName>
                                        </p:attrNameLst>
                                      </p:cBhvr>
                                      <p:tavLst>
                                        <p:tav tm="0">
                                          <p:val>
                                            <p:fltVal val="0"/>
                                          </p:val>
                                        </p:tav>
                                        <p:tav tm="100000">
                                          <p:val>
                                            <p:strVal val="#ppt_w"/>
                                          </p:val>
                                        </p:tav>
                                      </p:tavLst>
                                    </p:anim>
                                    <p:anim calcmode="lin" valueType="num">
                                      <p:cBhvr>
                                        <p:cTn id="95" dur="600" fill="hold"/>
                                        <p:tgtEl>
                                          <p:spTgt spid="30"/>
                                        </p:tgtEl>
                                        <p:attrNameLst>
                                          <p:attrName>ppt_h</p:attrName>
                                        </p:attrNameLst>
                                      </p:cBhvr>
                                      <p:tavLst>
                                        <p:tav tm="0">
                                          <p:val>
                                            <p:fltVal val="0"/>
                                          </p:val>
                                        </p:tav>
                                        <p:tav tm="100000">
                                          <p:val>
                                            <p:strVal val="#ppt_h"/>
                                          </p:val>
                                        </p:tav>
                                      </p:tavLst>
                                    </p:anim>
                                    <p:animEffect transition="in" filter="fade">
                                      <p:cBhvr>
                                        <p:cTn id="96" dur="600"/>
                                        <p:tgtEl>
                                          <p:spTgt spid="30"/>
                                        </p:tgtEl>
                                      </p:cBhvr>
                                    </p:animEffect>
                                  </p:childTnLst>
                                </p:cTn>
                              </p:par>
                              <p:par>
                                <p:cTn id="97" presetID="10" presetClass="entr" presetSubtype="0" fill="hold" nodeType="withEffect">
                                  <p:stCondLst>
                                    <p:cond delay="94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400"/>
                                        <p:tgtEl>
                                          <p:spTgt spid="31"/>
                                        </p:tgtEl>
                                      </p:cBhvr>
                                    </p:animEffect>
                                  </p:childTnLst>
                                </p:cTn>
                              </p:par>
                              <p:par>
                                <p:cTn id="100" presetID="10" presetClass="entr" presetSubtype="0" fill="hold" grpId="0" nodeType="withEffect">
                                  <p:stCondLst>
                                    <p:cond delay="240"/>
                                  </p:stCondLst>
                                  <p:childTnLst>
                                    <p:set>
                                      <p:cBhvr>
                                        <p:cTn id="101" dur="1" fill="hold">
                                          <p:stCondLst>
                                            <p:cond delay="0"/>
                                          </p:stCondLst>
                                        </p:cTn>
                                        <p:tgtEl>
                                          <p:spTgt spid="32"/>
                                        </p:tgtEl>
                                        <p:attrNameLst>
                                          <p:attrName>style.visibility</p:attrName>
                                        </p:attrNameLst>
                                      </p:cBhvr>
                                      <p:to>
                                        <p:strVal val="visible"/>
                                      </p:to>
                                    </p:set>
                                    <p:animEffect transition="in" filter="fade">
                                      <p:cBhvr>
                                        <p:cTn id="10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20" grpId="0" animBg="1"/>
      <p:bldP spid="24" grpId="0" animBg="1"/>
      <p:bldP spid="28" grpId="0" animBg="1"/>
      <p:bldP spid="3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8F4"/>
        </a:solidFill>
        <a:effectLst/>
      </p:bgPr>
    </p:bg>
    <p:spTree>
      <p:nvGrpSpPr>
        <p:cNvPr id="1" name=""/>
        <p:cNvGrpSpPr/>
        <p:nvPr/>
      </p:nvGrpSpPr>
      <p:grpSpPr>
        <a:xfrm>
          <a:off x="0" y="0"/>
          <a:ext cx="0" cy="0"/>
          <a:chOff x="0" y="0"/>
          <a:chExt cx="0" cy="0"/>
        </a:xfrm>
      </p:grpSpPr>
      <p:sp>
        <p:nvSpPr>
          <p:cNvPr id="2" name="!!TopBar"/>
          <p:cNvSpPr/>
          <p:nvPr/>
        </p:nvSpPr>
        <p:spPr>
          <a:xfrm>
            <a:off x="0" y="0"/>
            <a:ext cx="12191695" cy="91440"/>
          </a:xfrm>
          <a:prstGeom prst="rect">
            <a:avLst/>
          </a:prstGeom>
          <a:solidFill>
            <a:srgbClr val="12201B"/>
          </a:solidFill>
          <a:ln/>
        </p:spPr>
      </p:sp>
      <p:sp>
        <p:nvSpPr>
          <p:cNvPr id="3" name="!!LogoBg"/>
          <p:cNvSpPr/>
          <p:nvPr/>
        </p:nvSpPr>
        <p:spPr>
          <a:xfrm>
            <a:off x="11256264" y="274320"/>
            <a:ext cx="402336" cy="402336"/>
          </a:xfrm>
          <a:prstGeom prst="ellipse">
            <a:avLst/>
          </a:prstGeom>
          <a:solidFill>
            <a:srgbClr val="FFFFFF"/>
          </a:solidFill>
          <a:ln/>
        </p:spPr>
      </p:sp>
      <p:pic>
        <p:nvPicPr>
          <p:cNvPr id="4" name="!!Logo" descr="Logo Trường Đại học Trà Vinh"/>
          <p:cNvPicPr>
            <a:picLocks noChangeAspect="1"/>
          </p:cNvPicPr>
          <p:nvPr/>
        </p:nvPicPr>
        <p:blipFill>
          <a:blip r:embed="rId3"/>
          <a:stretch>
            <a:fillRect/>
          </a:stretch>
        </p:blipFill>
        <p:spPr>
          <a:xfrm>
            <a:off x="11269980" y="288036"/>
            <a:ext cx="374904" cy="374904"/>
          </a:xfrm>
          <a:prstGeom prst="rect">
            <a:avLst/>
          </a:prstGeom>
        </p:spPr>
      </p:pic>
      <p:sp>
        <p:nvSpPr>
          <p:cNvPr id="5" name="!!Label"/>
          <p:cNvSpPr txBox="1"/>
          <p:nvPr/>
        </p:nvSpPr>
        <p:spPr>
          <a:xfrm>
            <a:off x="8138160" y="365760"/>
            <a:ext cx="2971800" cy="274320"/>
          </a:xfrm>
          <a:prstGeom prst="rect">
            <a:avLst/>
          </a:prstGeom>
          <a:noFill/>
          <a:ln/>
        </p:spPr>
        <p:txBody>
          <a:bodyPr wrap="square" lIns="0" tIns="0" rIns="0" bIns="0" rtlCol="0" anchor="t"/>
          <a:lstStyle/>
          <a:p>
            <a:pPr marL="0" indent="0" algn="r">
              <a:buNone/>
            </a:pPr>
            <a:r>
              <a:rPr lang="en-US" sz="1000" b="1" kern="0" spc="150" dirty="0">
                <a:solidFill>
                  <a:srgbClr val="43705F"/>
                </a:solidFill>
                <a:latin typeface="Segoe UI" pitchFamily="34" charset="0"/>
                <a:ea typeface="Segoe UI" pitchFamily="34" charset="-122"/>
                <a:cs typeface="Segoe UI" pitchFamily="34" charset="-120"/>
              </a:rPr>
              <a:t>TÌM KIẾM</a:t>
            </a:r>
            <a:endParaRPr lang="en-US" sz="1000" dirty="0"/>
          </a:p>
        </p:txBody>
      </p:sp>
      <p:sp>
        <p:nvSpPr>
          <p:cNvPr id="6" name="!!Title"/>
          <p:cNvSpPr txBox="1"/>
          <p:nvPr/>
        </p:nvSpPr>
        <p:spPr>
          <a:xfrm>
            <a:off x="548640" y="329184"/>
            <a:ext cx="8138160" cy="548640"/>
          </a:xfrm>
          <a:prstGeom prst="rect">
            <a:avLst/>
          </a:prstGeom>
          <a:noFill/>
          <a:ln/>
        </p:spPr>
        <p:txBody>
          <a:bodyPr wrap="square" lIns="0" tIns="0" rIns="0" bIns="0" rtlCol="0" anchor="t"/>
          <a:lstStyle/>
          <a:p>
            <a:pPr marL="0" indent="0">
              <a:buNone/>
            </a:pPr>
            <a:r>
              <a:rPr lang="en-US" sz="2800" b="1" dirty="0">
                <a:solidFill>
                  <a:srgbClr val="1C2B25"/>
                </a:solidFill>
                <a:latin typeface="Cambria" pitchFamily="34" charset="0"/>
                <a:ea typeface="Cambria" pitchFamily="34" charset="-122"/>
                <a:cs typeface="Cambria" pitchFamily="34" charset="-120"/>
              </a:rPr>
              <a:t>Tìm kiếm không dấu và bản đồ tỉnh thành</a:t>
            </a:r>
            <a:endParaRPr lang="en-US" sz="2800" dirty="0"/>
          </a:p>
        </p:txBody>
      </p:sp>
      <p:sp>
        <p:nvSpPr>
          <p:cNvPr id="7" name="!!Subtitle"/>
          <p:cNvSpPr txBox="1"/>
          <p:nvPr/>
        </p:nvSpPr>
        <p:spPr>
          <a:xfrm>
            <a:off x="548640" y="914400"/>
            <a:ext cx="10241280" cy="274320"/>
          </a:xfrm>
          <a:prstGeom prst="rect">
            <a:avLst/>
          </a:prstGeom>
          <a:noFill/>
          <a:ln/>
        </p:spPr>
        <p:txBody>
          <a:bodyPr wrap="square" lIns="0" tIns="0" rIns="0" bIns="0" rtlCol="0" anchor="t"/>
          <a:lstStyle/>
          <a:p>
            <a:pPr marL="0" indent="0">
              <a:buNone/>
            </a:pPr>
            <a:r>
              <a:rPr lang="en-US" sz="1250" dirty="0">
                <a:solidFill>
                  <a:srgbClr val="4E5B54"/>
                </a:solidFill>
                <a:latin typeface="Segoe UI" pitchFamily="34" charset="0"/>
                <a:ea typeface="Segoe UI" pitchFamily="34" charset="-122"/>
                <a:cs typeface="Segoe UI" pitchFamily="34" charset="-120"/>
              </a:rPr>
              <a:t>Gõ có dấu hay không dấu đều ra cùng kết quả, lọc được nhiều tiêu chí cùng lúc</a:t>
            </a:r>
            <a:endParaRPr lang="en-US" sz="1250" dirty="0"/>
          </a:p>
        </p:txBody>
      </p:sp>
      <p:sp>
        <p:nvSpPr>
          <p:cNvPr id="8" name="!!Accent"/>
          <p:cNvSpPr/>
          <p:nvPr/>
        </p:nvSpPr>
        <p:spPr>
          <a:xfrm>
            <a:off x="548640" y="1280160"/>
            <a:ext cx="1005840" cy="45720"/>
          </a:xfrm>
          <a:prstGeom prst="rect">
            <a:avLst/>
          </a:prstGeom>
          <a:solidFill>
            <a:srgbClr val="43705F"/>
          </a:solidFill>
          <a:ln/>
        </p:spPr>
      </p:sp>
      <p:sp>
        <p:nvSpPr>
          <p:cNvPr id="9" name="!!Footer"/>
          <p:cNvSpPr txBox="1"/>
          <p:nvPr/>
        </p:nvSpPr>
        <p:spPr>
          <a:xfrm>
            <a:off x="548640" y="6455664"/>
            <a:ext cx="7315200" cy="219456"/>
          </a:xfrm>
          <a:prstGeom prst="rect">
            <a:avLst/>
          </a:prstGeom>
          <a:noFill/>
          <a:ln/>
        </p:spPr>
        <p:txBody>
          <a:bodyPr wrap="square" lIns="0" tIns="0" rIns="0" bIns="0" rtlCol="0" anchor="t"/>
          <a:lstStyle/>
          <a:p>
            <a:pPr marL="0" indent="0">
              <a:buNone/>
            </a:pPr>
            <a:r>
              <a:rPr lang="en-US" sz="900" dirty="0">
                <a:solidFill>
                  <a:srgbClr val="4E5B54"/>
                </a:solidFill>
                <a:latin typeface="Segoe UI" pitchFamily="34" charset="0"/>
                <a:ea typeface="Segoe UI" pitchFamily="34" charset="-122"/>
                <a:cs typeface="Segoe UI" pitchFamily="34" charset="-120"/>
              </a:rPr>
              <a:t>Đồ án thực tập cơ sở ngành · Website di tích Việt Nam</a:t>
            </a:r>
            <a:endParaRPr lang="en-US" sz="900" dirty="0"/>
          </a:p>
        </p:txBody>
      </p:sp>
      <p:sp>
        <p:nvSpPr>
          <p:cNvPr id="10" name="!!PageNum"/>
          <p:cNvSpPr txBox="1"/>
          <p:nvPr/>
        </p:nvSpPr>
        <p:spPr>
          <a:xfrm>
            <a:off x="11091672" y="6455664"/>
            <a:ext cx="548640" cy="219456"/>
          </a:xfrm>
          <a:prstGeom prst="rect">
            <a:avLst/>
          </a:prstGeom>
          <a:noFill/>
          <a:ln/>
        </p:spPr>
        <p:txBody>
          <a:bodyPr wrap="square" lIns="0" tIns="0" rIns="0" bIns="0" rtlCol="0" anchor="t"/>
          <a:lstStyle/>
          <a:p>
            <a:pPr marL="0" indent="0" algn="r">
              <a:buNone/>
            </a:pPr>
            <a:r>
              <a:rPr lang="en-US" sz="900" dirty="0">
                <a:solidFill>
                  <a:srgbClr val="4E5B54"/>
                </a:solidFill>
                <a:latin typeface="Segoe UI" pitchFamily="34" charset="0"/>
                <a:ea typeface="Segoe UI" pitchFamily="34" charset="-122"/>
                <a:cs typeface="Segoe UI" pitchFamily="34" charset="-120"/>
              </a:rPr>
              <a:t>10</a:t>
            </a:r>
            <a:endParaRPr lang="en-US" sz="900" dirty="0"/>
          </a:p>
        </p:txBody>
      </p:sp>
      <p:pic>
        <p:nvPicPr>
          <p:cNvPr id="11" name="S10 Picture 11" descr="Kết quả tìm kiếm Văn Miếu"/>
          <p:cNvPicPr>
            <a:picLocks noChangeAspect="1"/>
          </p:cNvPicPr>
          <p:nvPr/>
        </p:nvPicPr>
        <p:blipFill>
          <a:blip r:embed="rId4"/>
          <a:stretch>
            <a:fillRect/>
          </a:stretch>
        </p:blipFill>
        <p:spPr>
          <a:xfrm>
            <a:off x="548640" y="1572768"/>
            <a:ext cx="3931920" cy="2212848"/>
          </a:xfrm>
          <a:prstGeom prst="rect">
            <a:avLst/>
          </a:prstGeom>
        </p:spPr>
      </p:pic>
      <p:sp>
        <p:nvSpPr>
          <p:cNvPr id="12" name="S10 Rectangle 12"/>
          <p:cNvSpPr/>
          <p:nvPr/>
        </p:nvSpPr>
        <p:spPr>
          <a:xfrm>
            <a:off x="548640" y="1572768"/>
            <a:ext cx="3931920" cy="2212848"/>
          </a:xfrm>
          <a:prstGeom prst="rect">
            <a:avLst/>
          </a:prstGeom>
          <a:ln w="9525">
            <a:solidFill>
              <a:srgbClr val="C9CDC2"/>
            </a:solidFill>
            <a:prstDash val="solid"/>
          </a:ln>
        </p:spPr>
      </p:sp>
      <p:sp>
        <p:nvSpPr>
          <p:cNvPr id="13" name="S10 Rounded Rectangle 13"/>
          <p:cNvSpPr/>
          <p:nvPr/>
        </p:nvSpPr>
        <p:spPr>
          <a:xfrm>
            <a:off x="860861" y="2518242"/>
            <a:ext cx="998985" cy="146973"/>
          </a:xfrm>
          <a:prstGeom prst="roundRect">
            <a:avLst>
              <a:gd name="adj" fmla="val 18665"/>
            </a:avLst>
          </a:prstGeom>
          <a:ln w="25400">
            <a:solidFill>
              <a:srgbClr val="9E2B25"/>
            </a:solidFill>
            <a:prstDash val="solid"/>
          </a:ln>
        </p:spPr>
      </p:sp>
      <p:sp>
        <p:nvSpPr>
          <p:cNvPr id="14" name="S10 Oval 14"/>
          <p:cNvSpPr/>
          <p:nvPr/>
        </p:nvSpPr>
        <p:spPr>
          <a:xfrm>
            <a:off x="548640" y="3931920"/>
            <a:ext cx="274320" cy="274320"/>
          </a:xfrm>
          <a:prstGeom prst="ellipse">
            <a:avLst/>
          </a:prstGeom>
          <a:solidFill>
            <a:srgbClr val="9E2B25"/>
          </a:solidFill>
          <a:ln/>
        </p:spPr>
        <p:txBody>
          <a:bodyPr wrap="square" lIns="0" tIns="0" rIns="0" bIns="0" rtlCol="0" anchor="ctr"/>
          <a:lstStyle/>
          <a:p>
            <a:pPr marL="0" indent="0" algn="ctr">
              <a:buNone/>
            </a:pPr>
            <a:r>
              <a:rPr lang="en-US" sz="1100" b="1" dirty="0">
                <a:solidFill>
                  <a:srgbClr val="F8F8F4"/>
                </a:solidFill>
                <a:latin typeface="Segoe UI" pitchFamily="34" charset="0"/>
                <a:ea typeface="Segoe UI" pitchFamily="34" charset="-122"/>
                <a:cs typeface="Segoe UI" pitchFamily="34" charset="-120"/>
              </a:rPr>
              <a:t>1</a:t>
            </a:r>
            <a:endParaRPr lang="en-US" sz="1100" dirty="0"/>
          </a:p>
        </p:txBody>
      </p:sp>
      <p:sp>
        <p:nvSpPr>
          <p:cNvPr id="15" name="S10 TextBox 15"/>
          <p:cNvSpPr txBox="1"/>
          <p:nvPr/>
        </p:nvSpPr>
        <p:spPr>
          <a:xfrm>
            <a:off x="932688" y="3877056"/>
            <a:ext cx="3547872" cy="365760"/>
          </a:xfrm>
          <a:prstGeom prst="rect">
            <a:avLst/>
          </a:prstGeom>
          <a:noFill/>
          <a:ln/>
        </p:spPr>
        <p:txBody>
          <a:bodyPr wrap="square" lIns="0" tIns="0" rIns="0" bIns="0" rtlCol="0" anchor="t"/>
          <a:lstStyle/>
          <a:p>
            <a:pPr marL="0" indent="0">
              <a:buNone/>
            </a:pPr>
            <a:r>
              <a:rPr lang="en-US" sz="1600" b="1" dirty="0">
                <a:solidFill>
                  <a:srgbClr val="1C2B25"/>
                </a:solidFill>
                <a:latin typeface="Cambria" pitchFamily="34" charset="0"/>
                <a:ea typeface="Cambria" pitchFamily="34" charset="-122"/>
                <a:cs typeface="Cambria" pitchFamily="34" charset="-120"/>
              </a:rPr>
              <a:t>Gõ không dấu vẫn ra đúng</a:t>
            </a:r>
            <a:endParaRPr lang="en-US" sz="1600" dirty="0"/>
          </a:p>
        </p:txBody>
      </p:sp>
      <p:sp>
        <p:nvSpPr>
          <p:cNvPr id="16" name="S10 TextBox 16"/>
          <p:cNvSpPr txBox="1"/>
          <p:nvPr/>
        </p:nvSpPr>
        <p:spPr>
          <a:xfrm>
            <a:off x="548640" y="4297680"/>
            <a:ext cx="3931920" cy="658368"/>
          </a:xfrm>
          <a:prstGeom prst="rect">
            <a:avLst/>
          </a:prstGeom>
          <a:noFill/>
          <a:ln/>
        </p:spPr>
        <p:txBody>
          <a:bodyPr wrap="square" lIns="0" tIns="0" rIns="0" bIns="0" rtlCol="0" anchor="t"/>
          <a:lstStyle/>
          <a:p>
            <a:pPr marL="0" indent="0">
              <a:buNone/>
            </a:pPr>
            <a:r>
              <a:rPr lang="en-US" sz="1300" dirty="0">
                <a:solidFill>
                  <a:srgbClr val="4E5B54"/>
                </a:solidFill>
                <a:latin typeface="Segoe UI" pitchFamily="34" charset="0"/>
                <a:ea typeface="Segoe UI" pitchFamily="34" charset="-122"/>
                <a:cs typeface="Segoe UI" pitchFamily="34" charset="-120"/>
              </a:rPr>
              <a:t>Gõ “van mieu” hay “Văn Miếu” đều ra </a:t>
            </a:r>
            <a:r>
              <a:rPr lang="en-US" sz="1300" b="1" dirty="0">
                <a:solidFill>
                  <a:srgbClr val="9E2B25"/>
                </a:solidFill>
                <a:latin typeface="Segoe UI" pitchFamily="34" charset="0"/>
                <a:ea typeface="Segoe UI" pitchFamily="34" charset="-122"/>
                <a:cs typeface="Segoe UI" pitchFamily="34" charset="-120"/>
              </a:rPr>
              <a:t>5 kết quả</a:t>
            </a:r>
            <a:r>
              <a:rPr lang="en-US" sz="1300" dirty="0">
                <a:solidFill>
                  <a:srgbClr val="4E5B54"/>
                </a:solidFill>
                <a:latin typeface="Segoe UI" pitchFamily="34" charset="0"/>
                <a:ea typeface="Segoe UI" pitchFamily="34" charset="-122"/>
                <a:cs typeface="Segoe UI" pitchFamily="34" charset="-120"/>
              </a:rPr>
              <a:t>, cùng thứ tự</a:t>
            </a:r>
            <a:endParaRPr lang="en-US" sz="1300" dirty="0"/>
          </a:p>
        </p:txBody>
      </p:sp>
      <p:pic>
        <p:nvPicPr>
          <p:cNvPr id="17" name="S10 Picture 17" descr="Lọc kết hợp ba tiêu chí"/>
          <p:cNvPicPr>
            <a:picLocks noChangeAspect="1"/>
          </p:cNvPicPr>
          <p:nvPr/>
        </p:nvPicPr>
        <p:blipFill>
          <a:blip r:embed="rId5"/>
          <a:stretch>
            <a:fillRect/>
          </a:stretch>
        </p:blipFill>
        <p:spPr>
          <a:xfrm>
            <a:off x="4681728" y="1572768"/>
            <a:ext cx="3931920" cy="2212848"/>
          </a:xfrm>
          <a:prstGeom prst="rect">
            <a:avLst/>
          </a:prstGeom>
        </p:spPr>
      </p:pic>
      <p:sp>
        <p:nvSpPr>
          <p:cNvPr id="18" name="S10 Rectangle 18"/>
          <p:cNvSpPr/>
          <p:nvPr/>
        </p:nvSpPr>
        <p:spPr>
          <a:xfrm>
            <a:off x="4681728" y="1572768"/>
            <a:ext cx="3931920" cy="2212848"/>
          </a:xfrm>
          <a:prstGeom prst="rect">
            <a:avLst/>
          </a:prstGeom>
          <a:ln w="9525">
            <a:solidFill>
              <a:srgbClr val="C9CDC2"/>
            </a:solidFill>
            <a:prstDash val="solid"/>
          </a:ln>
        </p:spPr>
      </p:sp>
      <p:sp>
        <p:nvSpPr>
          <p:cNvPr id="19" name="S10 Rounded Rectangle 19"/>
          <p:cNvSpPr/>
          <p:nvPr/>
        </p:nvSpPr>
        <p:spPr>
          <a:xfrm>
            <a:off x="6001396" y="2316752"/>
            <a:ext cx="1764645" cy="256353"/>
          </a:xfrm>
          <a:prstGeom prst="roundRect">
            <a:avLst>
              <a:gd name="adj" fmla="val 10701"/>
            </a:avLst>
          </a:prstGeom>
          <a:ln w="25400">
            <a:solidFill>
              <a:srgbClr val="9E2B25"/>
            </a:solidFill>
            <a:prstDash val="solid"/>
          </a:ln>
        </p:spPr>
      </p:sp>
      <p:sp>
        <p:nvSpPr>
          <p:cNvPr id="20" name="S10 Oval 20"/>
          <p:cNvSpPr/>
          <p:nvPr/>
        </p:nvSpPr>
        <p:spPr>
          <a:xfrm>
            <a:off x="4681728" y="3931920"/>
            <a:ext cx="274320" cy="274320"/>
          </a:xfrm>
          <a:prstGeom prst="ellipse">
            <a:avLst/>
          </a:prstGeom>
          <a:solidFill>
            <a:srgbClr val="9E2B25"/>
          </a:solidFill>
          <a:ln/>
        </p:spPr>
        <p:txBody>
          <a:bodyPr wrap="square" lIns="0" tIns="0" rIns="0" bIns="0" rtlCol="0" anchor="ctr"/>
          <a:lstStyle/>
          <a:p>
            <a:pPr marL="0" indent="0" algn="ctr">
              <a:buNone/>
            </a:pPr>
            <a:r>
              <a:rPr lang="en-US" sz="1100" b="1" dirty="0">
                <a:solidFill>
                  <a:srgbClr val="F8F8F4"/>
                </a:solidFill>
                <a:latin typeface="Segoe UI" pitchFamily="34" charset="0"/>
                <a:ea typeface="Segoe UI" pitchFamily="34" charset="-122"/>
                <a:cs typeface="Segoe UI" pitchFamily="34" charset="-120"/>
              </a:rPr>
              <a:t>2</a:t>
            </a:r>
            <a:endParaRPr lang="en-US" sz="1100" dirty="0"/>
          </a:p>
        </p:txBody>
      </p:sp>
      <p:sp>
        <p:nvSpPr>
          <p:cNvPr id="21" name="S10 TextBox 21"/>
          <p:cNvSpPr txBox="1"/>
          <p:nvPr/>
        </p:nvSpPr>
        <p:spPr>
          <a:xfrm>
            <a:off x="5065776" y="3877056"/>
            <a:ext cx="3547872" cy="365760"/>
          </a:xfrm>
          <a:prstGeom prst="rect">
            <a:avLst/>
          </a:prstGeom>
          <a:noFill/>
          <a:ln/>
        </p:spPr>
        <p:txBody>
          <a:bodyPr wrap="square" lIns="0" tIns="0" rIns="0" bIns="0" rtlCol="0" anchor="t"/>
          <a:lstStyle/>
          <a:p>
            <a:pPr marL="0" indent="0">
              <a:buNone/>
            </a:pPr>
            <a:r>
              <a:rPr lang="en-US" sz="1600" b="1" dirty="0">
                <a:solidFill>
                  <a:srgbClr val="1C2B25"/>
                </a:solidFill>
                <a:latin typeface="Cambria" pitchFamily="34" charset="0"/>
                <a:ea typeface="Cambria" pitchFamily="34" charset="-122"/>
                <a:cs typeface="Cambria" pitchFamily="34" charset="-120"/>
              </a:rPr>
              <a:t>Lọc ba tiêu chí cùng lúc</a:t>
            </a:r>
            <a:endParaRPr lang="en-US" sz="1600" dirty="0"/>
          </a:p>
        </p:txBody>
      </p:sp>
      <p:sp>
        <p:nvSpPr>
          <p:cNvPr id="22" name="S10 TextBox 22"/>
          <p:cNvSpPr txBox="1"/>
          <p:nvPr/>
        </p:nvSpPr>
        <p:spPr>
          <a:xfrm>
            <a:off x="4681728" y="4297680"/>
            <a:ext cx="3931920" cy="658368"/>
          </a:xfrm>
          <a:prstGeom prst="rect">
            <a:avLst/>
          </a:prstGeom>
          <a:noFill/>
          <a:ln/>
        </p:spPr>
        <p:txBody>
          <a:bodyPr wrap="square" lIns="0" tIns="0" rIns="0" bIns="0" rtlCol="0" anchor="t"/>
          <a:lstStyle/>
          <a:p>
            <a:pPr marL="0" indent="0">
              <a:buNone/>
            </a:pPr>
            <a:r>
              <a:rPr lang="en-US" sz="1300" dirty="0">
                <a:solidFill>
                  <a:srgbClr val="4E5B54"/>
                </a:solidFill>
                <a:latin typeface="Segoe UI" pitchFamily="34" charset="0"/>
                <a:ea typeface="Segoe UI" pitchFamily="34" charset="-122"/>
                <a:cs typeface="Segoe UI" pitchFamily="34" charset="-120"/>
              </a:rPr>
              <a:t>Hà Nội, lịch sử, quốc gia đặc biệt: </a:t>
            </a:r>
            <a:r>
              <a:rPr lang="en-US" sz="1300" b="1" dirty="0">
                <a:solidFill>
                  <a:srgbClr val="9E2B25"/>
                </a:solidFill>
                <a:latin typeface="Segoe UI" pitchFamily="34" charset="0"/>
                <a:ea typeface="Segoe UI" pitchFamily="34" charset="-122"/>
                <a:cs typeface="Segoe UI" pitchFamily="34" charset="-120"/>
              </a:rPr>
              <a:t>12 kết quả</a:t>
            </a:r>
            <a:r>
              <a:rPr lang="en-US" sz="1300" dirty="0">
                <a:solidFill>
                  <a:srgbClr val="4E5B54"/>
                </a:solidFill>
                <a:latin typeface="Segoe UI" pitchFamily="34" charset="0"/>
                <a:ea typeface="Segoe UI" pitchFamily="34" charset="-122"/>
                <a:cs typeface="Segoe UI" pitchFamily="34" charset="-120"/>
              </a:rPr>
              <a:t>, khớp SQL</a:t>
            </a:r>
            <a:endParaRPr lang="en-US" sz="1300" dirty="0"/>
          </a:p>
        </p:txBody>
      </p:sp>
      <p:sp>
        <p:nvSpPr>
          <p:cNvPr id="23" name="S10 Rectangle 23"/>
          <p:cNvSpPr/>
          <p:nvPr/>
        </p:nvSpPr>
        <p:spPr>
          <a:xfrm>
            <a:off x="548640" y="5120640"/>
            <a:ext cx="8065008" cy="1097280"/>
          </a:xfrm>
          <a:prstGeom prst="rect">
            <a:avLst/>
          </a:prstGeom>
          <a:solidFill>
            <a:srgbClr val="E6E8E1"/>
          </a:solidFill>
          <a:ln/>
        </p:spPr>
      </p:sp>
      <p:sp>
        <p:nvSpPr>
          <p:cNvPr id="24" name="S10 TextBox 24"/>
          <p:cNvSpPr txBox="1"/>
          <p:nvPr/>
        </p:nvSpPr>
        <p:spPr>
          <a:xfrm>
            <a:off x="777240" y="5230368"/>
            <a:ext cx="7589520" cy="256032"/>
          </a:xfrm>
          <a:prstGeom prst="rect">
            <a:avLst/>
          </a:prstGeom>
          <a:noFill/>
          <a:ln/>
        </p:spPr>
        <p:txBody>
          <a:bodyPr wrap="square" lIns="0" tIns="0" rIns="0" bIns="0" rtlCol="0" anchor="t"/>
          <a:lstStyle/>
          <a:p>
            <a:pPr marL="0" indent="0">
              <a:buNone/>
            </a:pPr>
            <a:r>
              <a:rPr lang="en-US" sz="1050" b="1" kern="0" spc="150" dirty="0">
                <a:solidFill>
                  <a:srgbClr val="43705F"/>
                </a:solidFill>
                <a:latin typeface="Segoe UI" pitchFamily="34" charset="0"/>
                <a:ea typeface="Segoe UI" pitchFamily="34" charset="-122"/>
                <a:cs typeface="Segoe UI" pitchFamily="34" charset="-120"/>
              </a:rPr>
              <a:t>CÁCH LÀM</a:t>
            </a:r>
            <a:endParaRPr lang="en-US" sz="1050" dirty="0"/>
          </a:p>
        </p:txBody>
      </p:sp>
      <p:sp>
        <p:nvSpPr>
          <p:cNvPr id="25" name="S10 TextBox 25"/>
          <p:cNvSpPr txBox="1"/>
          <p:nvPr/>
        </p:nvSpPr>
        <p:spPr>
          <a:xfrm>
            <a:off x="777240" y="5504688"/>
            <a:ext cx="7635240" cy="658368"/>
          </a:xfrm>
          <a:prstGeom prst="rect">
            <a:avLst/>
          </a:prstGeom>
          <a:noFill/>
          <a:ln/>
        </p:spPr>
        <p:txBody>
          <a:bodyPr wrap="square" lIns="0" tIns="0" rIns="0" bIns="0" rtlCol="0" anchor="t"/>
          <a:lstStyle/>
          <a:p>
            <a:pPr marL="0" indent="0">
              <a:buNone/>
            </a:pPr>
            <a:r>
              <a:rPr lang="en-US" sz="1300" dirty="0">
                <a:solidFill>
                  <a:srgbClr val="1C2B25"/>
                </a:solidFill>
                <a:latin typeface="Segoe UI" pitchFamily="34" charset="0"/>
                <a:ea typeface="Segoe UI" pitchFamily="34" charset="-122"/>
                <a:cs typeface="Segoe UI" pitchFamily="34" charset="-120"/>
              </a:rPr>
              <a:t>SQLite không so khớp được chữ có dấu, nên tên và mô tả được </a:t>
            </a:r>
            <a:r>
              <a:rPr lang="en-US" sz="1300" b="1" dirty="0">
                <a:solidFill>
                  <a:srgbClr val="9E2B25"/>
                </a:solidFill>
                <a:latin typeface="Segoe UI" pitchFamily="34" charset="0"/>
                <a:ea typeface="Segoe UI" pitchFamily="34" charset="-122"/>
                <a:cs typeface="Segoe UI" pitchFamily="34" charset="-120"/>
              </a:rPr>
              <a:t>lưu sẵn bản không dấu</a:t>
            </a:r>
            <a:r>
              <a:rPr lang="en-US" sz="1300" dirty="0">
                <a:solidFill>
                  <a:srgbClr val="1C2B25"/>
                </a:solidFill>
                <a:latin typeface="Segoe UI" pitchFamily="34" charset="0"/>
                <a:ea typeface="Segoe UI" pitchFamily="34" charset="-122"/>
                <a:cs typeface="Segoe UI" pitchFamily="34" charset="-120"/>
              </a:rPr>
              <a:t>. Kết quả sắp theo văn hóa vi-VN để </a:t>
            </a:r>
            <a:r>
              <a:rPr lang="en-US" sz="1300" b="1" dirty="0">
                <a:solidFill>
                  <a:srgbClr val="9E2B25"/>
                </a:solidFill>
                <a:latin typeface="Segoe UI" pitchFamily="34" charset="0"/>
                <a:ea typeface="Segoe UI" pitchFamily="34" charset="-122"/>
                <a:cs typeface="Segoe UI" pitchFamily="34" charset="-120"/>
              </a:rPr>
              <a:t>chữ Đ đứng ngay sau chữ D</a:t>
            </a:r>
            <a:r>
              <a:rPr lang="en-US" sz="1300" dirty="0">
                <a:solidFill>
                  <a:srgbClr val="1C2B25"/>
                </a:solidFill>
                <a:latin typeface="Segoe UI" pitchFamily="34" charset="0"/>
                <a:ea typeface="Segoe UI" pitchFamily="34" charset="-122"/>
                <a:cs typeface="Segoe UI" pitchFamily="34" charset="-120"/>
              </a:rPr>
              <a:t>.</a:t>
            </a:r>
            <a:endParaRPr lang="en-US" sz="1300" dirty="0"/>
          </a:p>
        </p:txBody>
      </p:sp>
      <p:pic>
        <p:nvPicPr>
          <p:cNvPr id="26" name="S10 Picture 26" descr="Bản đồ các tỉnh thành trên trang chủ"/>
          <p:cNvPicPr>
            <a:picLocks noChangeAspect="1"/>
          </p:cNvPicPr>
          <p:nvPr/>
        </p:nvPicPr>
        <p:blipFill>
          <a:blip r:embed="rId6"/>
          <a:stretch>
            <a:fillRect/>
          </a:stretch>
        </p:blipFill>
        <p:spPr>
          <a:xfrm>
            <a:off x="8814816" y="1572768"/>
            <a:ext cx="2825496" cy="3227832"/>
          </a:xfrm>
          <a:prstGeom prst="rect">
            <a:avLst/>
          </a:prstGeom>
        </p:spPr>
      </p:pic>
      <p:sp>
        <p:nvSpPr>
          <p:cNvPr id="27" name="S10 Rectangle 27"/>
          <p:cNvSpPr/>
          <p:nvPr/>
        </p:nvSpPr>
        <p:spPr>
          <a:xfrm>
            <a:off x="8814816" y="1572768"/>
            <a:ext cx="2825496" cy="3227832"/>
          </a:xfrm>
          <a:prstGeom prst="rect">
            <a:avLst/>
          </a:prstGeom>
          <a:ln w="9525">
            <a:solidFill>
              <a:srgbClr val="C9CDC2"/>
            </a:solidFill>
            <a:prstDash val="solid"/>
          </a:ln>
        </p:spPr>
      </p:sp>
      <p:sp>
        <p:nvSpPr>
          <p:cNvPr id="28" name="S10 Rounded Rectangle 28"/>
          <p:cNvSpPr/>
          <p:nvPr/>
        </p:nvSpPr>
        <p:spPr>
          <a:xfrm>
            <a:off x="10275094" y="1591467"/>
            <a:ext cx="556534" cy="885214"/>
          </a:xfrm>
          <a:prstGeom prst="roundRect">
            <a:avLst>
              <a:gd name="adj" fmla="val 4929"/>
            </a:avLst>
          </a:prstGeom>
          <a:ln w="25400">
            <a:solidFill>
              <a:srgbClr val="9E2B25"/>
            </a:solidFill>
            <a:prstDash val="solid"/>
          </a:ln>
        </p:spPr>
      </p:sp>
      <p:sp>
        <p:nvSpPr>
          <p:cNvPr id="29" name="S10 Oval 29"/>
          <p:cNvSpPr/>
          <p:nvPr/>
        </p:nvSpPr>
        <p:spPr>
          <a:xfrm>
            <a:off x="8814816" y="4974336"/>
            <a:ext cx="274320" cy="274320"/>
          </a:xfrm>
          <a:prstGeom prst="ellipse">
            <a:avLst/>
          </a:prstGeom>
          <a:solidFill>
            <a:srgbClr val="9E2B25"/>
          </a:solidFill>
          <a:ln/>
        </p:spPr>
        <p:txBody>
          <a:bodyPr wrap="square" lIns="0" tIns="0" rIns="0" bIns="0" rtlCol="0" anchor="ctr"/>
          <a:lstStyle/>
          <a:p>
            <a:pPr marL="0" indent="0" algn="ctr">
              <a:buNone/>
            </a:pPr>
            <a:r>
              <a:rPr lang="en-US" sz="1100" b="1" dirty="0">
                <a:solidFill>
                  <a:srgbClr val="F8F8F4"/>
                </a:solidFill>
                <a:latin typeface="Segoe UI" pitchFamily="34" charset="0"/>
                <a:ea typeface="Segoe UI" pitchFamily="34" charset="-122"/>
                <a:cs typeface="Segoe UI" pitchFamily="34" charset="-120"/>
              </a:rPr>
              <a:t>3</a:t>
            </a:r>
            <a:endParaRPr lang="en-US" sz="1100" dirty="0"/>
          </a:p>
        </p:txBody>
      </p:sp>
      <p:sp>
        <p:nvSpPr>
          <p:cNvPr id="30" name="S10 TextBox 30"/>
          <p:cNvSpPr txBox="1"/>
          <p:nvPr/>
        </p:nvSpPr>
        <p:spPr>
          <a:xfrm>
            <a:off x="9198864" y="4919472"/>
            <a:ext cx="2441448" cy="365760"/>
          </a:xfrm>
          <a:prstGeom prst="rect">
            <a:avLst/>
          </a:prstGeom>
          <a:noFill/>
          <a:ln/>
        </p:spPr>
        <p:txBody>
          <a:bodyPr wrap="square" lIns="0" tIns="0" rIns="0" bIns="0" rtlCol="0" anchor="t"/>
          <a:lstStyle/>
          <a:p>
            <a:pPr marL="0" indent="0">
              <a:buNone/>
            </a:pPr>
            <a:r>
              <a:rPr lang="en-US" sz="1600" b="1" dirty="0">
                <a:solidFill>
                  <a:srgbClr val="1C2B25"/>
                </a:solidFill>
                <a:latin typeface="Cambria" pitchFamily="34" charset="0"/>
                <a:ea typeface="Cambria" pitchFamily="34" charset="-122"/>
                <a:cs typeface="Cambria" pitchFamily="34" charset="-120"/>
              </a:rPr>
              <a:t>Bản đồ 34 tỉnh thành</a:t>
            </a:r>
            <a:endParaRPr lang="en-US" sz="1600" dirty="0"/>
          </a:p>
        </p:txBody>
      </p:sp>
      <p:sp>
        <p:nvSpPr>
          <p:cNvPr id="31" name="S10 TextBox 31"/>
          <p:cNvSpPr txBox="1"/>
          <p:nvPr/>
        </p:nvSpPr>
        <p:spPr>
          <a:xfrm>
            <a:off x="8814816" y="5349240"/>
            <a:ext cx="2825496" cy="731520"/>
          </a:xfrm>
          <a:prstGeom prst="rect">
            <a:avLst/>
          </a:prstGeom>
          <a:noFill/>
          <a:ln/>
        </p:spPr>
        <p:txBody>
          <a:bodyPr wrap="square" lIns="0" tIns="0" rIns="0" bIns="0" rtlCol="0" anchor="t"/>
          <a:lstStyle/>
          <a:p>
            <a:pPr marL="0" indent="0">
              <a:buNone/>
            </a:pPr>
            <a:r>
              <a:rPr lang="en-US" sz="1300" dirty="0">
                <a:solidFill>
                  <a:srgbClr val="4E5B54"/>
                </a:solidFill>
                <a:latin typeface="Segoe UI" pitchFamily="34" charset="0"/>
                <a:ea typeface="Segoe UI" pitchFamily="34" charset="-122"/>
                <a:cs typeface="Segoe UI" pitchFamily="34" charset="-120"/>
              </a:rPr>
              <a:t>Màu đậm dần theo </a:t>
            </a:r>
            <a:r>
              <a:rPr lang="en-US" sz="1300" b="1" dirty="0">
                <a:solidFill>
                  <a:srgbClr val="9E2B25"/>
                </a:solidFill>
                <a:latin typeface="Segoe UI" pitchFamily="34" charset="0"/>
                <a:ea typeface="Segoe UI" pitchFamily="34" charset="-122"/>
                <a:cs typeface="Segoe UI" pitchFamily="34" charset="-120"/>
              </a:rPr>
              <a:t>số di tích</a:t>
            </a:r>
            <a:r>
              <a:rPr lang="en-US" sz="1300" dirty="0">
                <a:solidFill>
                  <a:srgbClr val="4E5B54"/>
                </a:solidFill>
                <a:latin typeface="Segoe UI" pitchFamily="34" charset="0"/>
                <a:ea typeface="Segoe UI" pitchFamily="34" charset="-122"/>
                <a:cs typeface="Segoe UI" pitchFamily="34" charset="-120"/>
              </a:rPr>
              <a:t>; có Hoàng Sa, Trường Sa</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600" fill="hold"/>
                                        <p:tgtEl>
                                          <p:spTgt spid="11"/>
                                        </p:tgtEl>
                                        <p:attrNameLst>
                                          <p:attrName>ppt_w</p:attrName>
                                        </p:attrNameLst>
                                      </p:cBhvr>
                                      <p:tavLst>
                                        <p:tav tm="0">
                                          <p:val>
                                            <p:fltVal val="0"/>
                                          </p:val>
                                        </p:tav>
                                        <p:tav tm="100000">
                                          <p:val>
                                            <p:strVal val="#ppt_w"/>
                                          </p:val>
                                        </p:tav>
                                      </p:tavLst>
                                    </p:anim>
                                    <p:anim calcmode="lin" valueType="num">
                                      <p:cBhvr>
                                        <p:cTn id="8" dur="600" fill="hold"/>
                                        <p:tgtEl>
                                          <p:spTgt spid="11"/>
                                        </p:tgtEl>
                                        <p:attrNameLst>
                                          <p:attrName>ppt_h</p:attrName>
                                        </p:attrNameLst>
                                      </p:cBhvr>
                                      <p:tavLst>
                                        <p:tav tm="0">
                                          <p:val>
                                            <p:fltVal val="0"/>
                                          </p:val>
                                        </p:tav>
                                        <p:tav tm="100000">
                                          <p:val>
                                            <p:strVal val="#ppt_h"/>
                                          </p:val>
                                        </p:tav>
                                      </p:tavLst>
                                    </p:anim>
                                    <p:animEffect transition="in" filter="fade">
                                      <p:cBhvr>
                                        <p:cTn id="9" dur="600"/>
                                        <p:tgtEl>
                                          <p:spTgt spid="11"/>
                                        </p:tgtEl>
                                      </p:cBhvr>
                                    </p:animEffect>
                                  </p:childTnLst>
                                </p:cTn>
                              </p:par>
                              <p:par>
                                <p:cTn id="10" presetID="53" presetClass="entr" presetSubtype="16"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600" fill="hold"/>
                                        <p:tgtEl>
                                          <p:spTgt spid="12"/>
                                        </p:tgtEl>
                                        <p:attrNameLst>
                                          <p:attrName>ppt_w</p:attrName>
                                        </p:attrNameLst>
                                      </p:cBhvr>
                                      <p:tavLst>
                                        <p:tav tm="0">
                                          <p:val>
                                            <p:fltVal val="0"/>
                                          </p:val>
                                        </p:tav>
                                        <p:tav tm="100000">
                                          <p:val>
                                            <p:strVal val="#ppt_w"/>
                                          </p:val>
                                        </p:tav>
                                      </p:tavLst>
                                    </p:anim>
                                    <p:anim calcmode="lin" valueType="num">
                                      <p:cBhvr>
                                        <p:cTn id="13" dur="600" fill="hold"/>
                                        <p:tgtEl>
                                          <p:spTgt spid="12"/>
                                        </p:tgtEl>
                                        <p:attrNameLst>
                                          <p:attrName>ppt_h</p:attrName>
                                        </p:attrNameLst>
                                      </p:cBhvr>
                                      <p:tavLst>
                                        <p:tav tm="0">
                                          <p:val>
                                            <p:fltVal val="0"/>
                                          </p:val>
                                        </p:tav>
                                        <p:tav tm="100000">
                                          <p:val>
                                            <p:strVal val="#ppt_h"/>
                                          </p:val>
                                        </p:tav>
                                      </p:tavLst>
                                    </p:anim>
                                    <p:animEffect transition="in" filter="fade">
                                      <p:cBhvr>
                                        <p:cTn id="14" dur="600"/>
                                        <p:tgtEl>
                                          <p:spTgt spid="12"/>
                                        </p:tgtEl>
                                      </p:cBhvr>
                                    </p:animEffect>
                                  </p:childTnLst>
                                </p:cTn>
                              </p:par>
                              <p:par>
                                <p:cTn id="15" presetID="10" presetClass="entr" presetSubtype="0" fill="hold" nodeType="withEffect">
                                  <p:stCondLst>
                                    <p:cond delay="82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par>
                                <p:cTn id="18" presetID="42" presetClass="entr" presetSubtype="0" fill="hold" grpId="0" nodeType="withEffect">
                                  <p:stCondLst>
                                    <p:cond delay="24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anim calcmode="lin" valueType="num">
                                      <p:cBhvr>
                                        <p:cTn id="21" dur="500" fill="hold"/>
                                        <p:tgtEl>
                                          <p:spTgt spid="14"/>
                                        </p:tgtEl>
                                        <p:attrNameLst>
                                          <p:attrName>ppt_x</p:attrName>
                                        </p:attrNameLst>
                                      </p:cBhvr>
                                      <p:tavLst>
                                        <p:tav tm="0">
                                          <p:val>
                                            <p:strVal val="#ppt_x"/>
                                          </p:val>
                                        </p:tav>
                                        <p:tav tm="100000">
                                          <p:val>
                                            <p:strVal val="#ppt_x"/>
                                          </p:val>
                                        </p:tav>
                                      </p:tavLst>
                                    </p:anim>
                                    <p:anim calcmode="lin" valueType="num">
                                      <p:cBhvr>
                                        <p:cTn id="22" dur="500" fill="hold"/>
                                        <p:tgtEl>
                                          <p:spTgt spid="14"/>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24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anim calcmode="lin" valueType="num">
                                      <p:cBhvr>
                                        <p:cTn id="26" dur="500" fill="hold"/>
                                        <p:tgtEl>
                                          <p:spTgt spid="15"/>
                                        </p:tgtEl>
                                        <p:attrNameLst>
                                          <p:attrName>ppt_x</p:attrName>
                                        </p:attrNameLst>
                                      </p:cBhvr>
                                      <p:tavLst>
                                        <p:tav tm="0">
                                          <p:val>
                                            <p:strVal val="#ppt_x"/>
                                          </p:val>
                                        </p:tav>
                                        <p:tav tm="100000">
                                          <p:val>
                                            <p:strVal val="#ppt_x"/>
                                          </p:val>
                                        </p:tav>
                                      </p:tavLst>
                                    </p:anim>
                                    <p:anim calcmode="lin" valueType="num">
                                      <p:cBhvr>
                                        <p:cTn id="27" dur="500" fill="hold"/>
                                        <p:tgtEl>
                                          <p:spTgt spid="15"/>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24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anim calcmode="lin" valueType="num">
                                      <p:cBhvr>
                                        <p:cTn id="31" dur="500" fill="hold"/>
                                        <p:tgtEl>
                                          <p:spTgt spid="16"/>
                                        </p:tgtEl>
                                        <p:attrNameLst>
                                          <p:attrName>ppt_x</p:attrName>
                                        </p:attrNameLst>
                                      </p:cBhvr>
                                      <p:tavLst>
                                        <p:tav tm="0">
                                          <p:val>
                                            <p:strVal val="#ppt_x"/>
                                          </p:val>
                                        </p:tav>
                                        <p:tav tm="100000">
                                          <p:val>
                                            <p:strVal val="#ppt_x"/>
                                          </p:val>
                                        </p:tav>
                                      </p:tavLst>
                                    </p:anim>
                                    <p:anim calcmode="lin" valueType="num">
                                      <p:cBhvr>
                                        <p:cTn id="32"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p:cTn id="37" dur="600" fill="hold"/>
                                        <p:tgtEl>
                                          <p:spTgt spid="17"/>
                                        </p:tgtEl>
                                        <p:attrNameLst>
                                          <p:attrName>ppt_w</p:attrName>
                                        </p:attrNameLst>
                                      </p:cBhvr>
                                      <p:tavLst>
                                        <p:tav tm="0">
                                          <p:val>
                                            <p:fltVal val="0"/>
                                          </p:val>
                                        </p:tav>
                                        <p:tav tm="100000">
                                          <p:val>
                                            <p:strVal val="#ppt_w"/>
                                          </p:val>
                                        </p:tav>
                                      </p:tavLst>
                                    </p:anim>
                                    <p:anim calcmode="lin" valueType="num">
                                      <p:cBhvr>
                                        <p:cTn id="38" dur="600" fill="hold"/>
                                        <p:tgtEl>
                                          <p:spTgt spid="17"/>
                                        </p:tgtEl>
                                        <p:attrNameLst>
                                          <p:attrName>ppt_h</p:attrName>
                                        </p:attrNameLst>
                                      </p:cBhvr>
                                      <p:tavLst>
                                        <p:tav tm="0">
                                          <p:val>
                                            <p:fltVal val="0"/>
                                          </p:val>
                                        </p:tav>
                                        <p:tav tm="100000">
                                          <p:val>
                                            <p:strVal val="#ppt_h"/>
                                          </p:val>
                                        </p:tav>
                                      </p:tavLst>
                                    </p:anim>
                                    <p:animEffect transition="in" filter="fade">
                                      <p:cBhvr>
                                        <p:cTn id="39" dur="600"/>
                                        <p:tgtEl>
                                          <p:spTgt spid="17"/>
                                        </p:tgtEl>
                                      </p:cBhvr>
                                    </p:animEffect>
                                  </p:childTnLst>
                                </p:cTn>
                              </p:par>
                              <p:par>
                                <p:cTn id="40" presetID="53" presetClass="entr" presetSubtype="16"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p:cTn id="42" dur="600" fill="hold"/>
                                        <p:tgtEl>
                                          <p:spTgt spid="18"/>
                                        </p:tgtEl>
                                        <p:attrNameLst>
                                          <p:attrName>ppt_w</p:attrName>
                                        </p:attrNameLst>
                                      </p:cBhvr>
                                      <p:tavLst>
                                        <p:tav tm="0">
                                          <p:val>
                                            <p:fltVal val="0"/>
                                          </p:val>
                                        </p:tav>
                                        <p:tav tm="100000">
                                          <p:val>
                                            <p:strVal val="#ppt_w"/>
                                          </p:val>
                                        </p:tav>
                                      </p:tavLst>
                                    </p:anim>
                                    <p:anim calcmode="lin" valueType="num">
                                      <p:cBhvr>
                                        <p:cTn id="43" dur="600" fill="hold"/>
                                        <p:tgtEl>
                                          <p:spTgt spid="18"/>
                                        </p:tgtEl>
                                        <p:attrNameLst>
                                          <p:attrName>ppt_h</p:attrName>
                                        </p:attrNameLst>
                                      </p:cBhvr>
                                      <p:tavLst>
                                        <p:tav tm="0">
                                          <p:val>
                                            <p:fltVal val="0"/>
                                          </p:val>
                                        </p:tav>
                                        <p:tav tm="100000">
                                          <p:val>
                                            <p:strVal val="#ppt_h"/>
                                          </p:val>
                                        </p:tav>
                                      </p:tavLst>
                                    </p:anim>
                                    <p:animEffect transition="in" filter="fade">
                                      <p:cBhvr>
                                        <p:cTn id="44" dur="600"/>
                                        <p:tgtEl>
                                          <p:spTgt spid="18"/>
                                        </p:tgtEl>
                                      </p:cBhvr>
                                    </p:animEffect>
                                  </p:childTnLst>
                                </p:cTn>
                              </p:par>
                              <p:par>
                                <p:cTn id="45" presetID="10" presetClass="entr" presetSubtype="0" fill="hold" nodeType="withEffect">
                                  <p:stCondLst>
                                    <p:cond delay="82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42" presetClass="entr" presetSubtype="0" fill="hold" grpId="0" nodeType="withEffect">
                                  <p:stCondLst>
                                    <p:cond delay="24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anim calcmode="lin" valueType="num">
                                      <p:cBhvr>
                                        <p:cTn id="51" dur="500" fill="hold"/>
                                        <p:tgtEl>
                                          <p:spTgt spid="20"/>
                                        </p:tgtEl>
                                        <p:attrNameLst>
                                          <p:attrName>ppt_x</p:attrName>
                                        </p:attrNameLst>
                                      </p:cBhvr>
                                      <p:tavLst>
                                        <p:tav tm="0">
                                          <p:val>
                                            <p:strVal val="#ppt_x"/>
                                          </p:val>
                                        </p:tav>
                                        <p:tav tm="100000">
                                          <p:val>
                                            <p:strVal val="#ppt_x"/>
                                          </p:val>
                                        </p:tav>
                                      </p:tavLst>
                                    </p:anim>
                                    <p:anim calcmode="lin" valueType="num">
                                      <p:cBhvr>
                                        <p:cTn id="52" dur="500" fill="hold"/>
                                        <p:tgtEl>
                                          <p:spTgt spid="20"/>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24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anim calcmode="lin" valueType="num">
                                      <p:cBhvr>
                                        <p:cTn id="56" dur="500" fill="hold"/>
                                        <p:tgtEl>
                                          <p:spTgt spid="21"/>
                                        </p:tgtEl>
                                        <p:attrNameLst>
                                          <p:attrName>ppt_x</p:attrName>
                                        </p:attrNameLst>
                                      </p:cBhvr>
                                      <p:tavLst>
                                        <p:tav tm="0">
                                          <p:val>
                                            <p:strVal val="#ppt_x"/>
                                          </p:val>
                                        </p:tav>
                                        <p:tav tm="100000">
                                          <p:val>
                                            <p:strVal val="#ppt_x"/>
                                          </p:val>
                                        </p:tav>
                                      </p:tavLst>
                                    </p:anim>
                                    <p:anim calcmode="lin" valueType="num">
                                      <p:cBhvr>
                                        <p:cTn id="57" dur="500" fill="hold"/>
                                        <p:tgtEl>
                                          <p:spTgt spid="21"/>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24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00"/>
                                        <p:tgtEl>
                                          <p:spTgt spid="22"/>
                                        </p:tgtEl>
                                      </p:cBhvr>
                                    </p:animEffect>
                                    <p:anim calcmode="lin" valueType="num">
                                      <p:cBhvr>
                                        <p:cTn id="61" dur="500" fill="hold"/>
                                        <p:tgtEl>
                                          <p:spTgt spid="22"/>
                                        </p:tgtEl>
                                        <p:attrNameLst>
                                          <p:attrName>ppt_x</p:attrName>
                                        </p:attrNameLst>
                                      </p:cBhvr>
                                      <p:tavLst>
                                        <p:tav tm="0">
                                          <p:val>
                                            <p:strVal val="#ppt_x"/>
                                          </p:val>
                                        </p:tav>
                                        <p:tav tm="100000">
                                          <p:val>
                                            <p:strVal val="#ppt_x"/>
                                          </p:val>
                                        </p:tav>
                                      </p:tavLst>
                                    </p:anim>
                                    <p:anim calcmode="lin" valueType="num">
                                      <p:cBhvr>
                                        <p:cTn id="62"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53" presetClass="entr" presetSubtype="16"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 calcmode="lin" valueType="num">
                                      <p:cBhvr>
                                        <p:cTn id="67" dur="600" fill="hold"/>
                                        <p:tgtEl>
                                          <p:spTgt spid="26"/>
                                        </p:tgtEl>
                                        <p:attrNameLst>
                                          <p:attrName>ppt_w</p:attrName>
                                        </p:attrNameLst>
                                      </p:cBhvr>
                                      <p:tavLst>
                                        <p:tav tm="0">
                                          <p:val>
                                            <p:fltVal val="0"/>
                                          </p:val>
                                        </p:tav>
                                        <p:tav tm="100000">
                                          <p:val>
                                            <p:strVal val="#ppt_w"/>
                                          </p:val>
                                        </p:tav>
                                      </p:tavLst>
                                    </p:anim>
                                    <p:anim calcmode="lin" valueType="num">
                                      <p:cBhvr>
                                        <p:cTn id="68" dur="600" fill="hold"/>
                                        <p:tgtEl>
                                          <p:spTgt spid="26"/>
                                        </p:tgtEl>
                                        <p:attrNameLst>
                                          <p:attrName>ppt_h</p:attrName>
                                        </p:attrNameLst>
                                      </p:cBhvr>
                                      <p:tavLst>
                                        <p:tav tm="0">
                                          <p:val>
                                            <p:fltVal val="0"/>
                                          </p:val>
                                        </p:tav>
                                        <p:tav tm="100000">
                                          <p:val>
                                            <p:strVal val="#ppt_h"/>
                                          </p:val>
                                        </p:tav>
                                      </p:tavLst>
                                    </p:anim>
                                    <p:animEffect transition="in" filter="fade">
                                      <p:cBhvr>
                                        <p:cTn id="69" dur="600"/>
                                        <p:tgtEl>
                                          <p:spTgt spid="26"/>
                                        </p:tgtEl>
                                      </p:cBhvr>
                                    </p:animEffect>
                                  </p:childTnLst>
                                </p:cTn>
                              </p:par>
                              <p:par>
                                <p:cTn id="70" presetID="53" presetClass="entr" presetSubtype="16" fill="hold" nodeType="withEffect">
                                  <p:stCondLst>
                                    <p:cond delay="0"/>
                                  </p:stCondLst>
                                  <p:childTnLst>
                                    <p:set>
                                      <p:cBhvr>
                                        <p:cTn id="71" dur="1" fill="hold">
                                          <p:stCondLst>
                                            <p:cond delay="0"/>
                                          </p:stCondLst>
                                        </p:cTn>
                                        <p:tgtEl>
                                          <p:spTgt spid="27"/>
                                        </p:tgtEl>
                                        <p:attrNameLst>
                                          <p:attrName>style.visibility</p:attrName>
                                        </p:attrNameLst>
                                      </p:cBhvr>
                                      <p:to>
                                        <p:strVal val="visible"/>
                                      </p:to>
                                    </p:set>
                                    <p:anim calcmode="lin" valueType="num">
                                      <p:cBhvr>
                                        <p:cTn id="72" dur="600" fill="hold"/>
                                        <p:tgtEl>
                                          <p:spTgt spid="27"/>
                                        </p:tgtEl>
                                        <p:attrNameLst>
                                          <p:attrName>ppt_w</p:attrName>
                                        </p:attrNameLst>
                                      </p:cBhvr>
                                      <p:tavLst>
                                        <p:tav tm="0">
                                          <p:val>
                                            <p:fltVal val="0"/>
                                          </p:val>
                                        </p:tav>
                                        <p:tav tm="100000">
                                          <p:val>
                                            <p:strVal val="#ppt_w"/>
                                          </p:val>
                                        </p:tav>
                                      </p:tavLst>
                                    </p:anim>
                                    <p:anim calcmode="lin" valueType="num">
                                      <p:cBhvr>
                                        <p:cTn id="73" dur="600" fill="hold"/>
                                        <p:tgtEl>
                                          <p:spTgt spid="27"/>
                                        </p:tgtEl>
                                        <p:attrNameLst>
                                          <p:attrName>ppt_h</p:attrName>
                                        </p:attrNameLst>
                                      </p:cBhvr>
                                      <p:tavLst>
                                        <p:tav tm="0">
                                          <p:val>
                                            <p:fltVal val="0"/>
                                          </p:val>
                                        </p:tav>
                                        <p:tav tm="100000">
                                          <p:val>
                                            <p:strVal val="#ppt_h"/>
                                          </p:val>
                                        </p:tav>
                                      </p:tavLst>
                                    </p:anim>
                                    <p:animEffect transition="in" filter="fade">
                                      <p:cBhvr>
                                        <p:cTn id="74" dur="600"/>
                                        <p:tgtEl>
                                          <p:spTgt spid="27"/>
                                        </p:tgtEl>
                                      </p:cBhvr>
                                    </p:animEffect>
                                  </p:childTnLst>
                                </p:cTn>
                              </p:par>
                              <p:par>
                                <p:cTn id="75" presetID="10" presetClass="entr" presetSubtype="0" fill="hold" nodeType="withEffect">
                                  <p:stCondLst>
                                    <p:cond delay="8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00"/>
                                        <p:tgtEl>
                                          <p:spTgt spid="28"/>
                                        </p:tgtEl>
                                      </p:cBhvr>
                                    </p:animEffect>
                                  </p:childTnLst>
                                </p:cTn>
                              </p:par>
                              <p:par>
                                <p:cTn id="78" presetID="42" presetClass="entr" presetSubtype="0" fill="hold" grpId="0" nodeType="withEffect">
                                  <p:stCondLst>
                                    <p:cond delay="24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500"/>
                                        <p:tgtEl>
                                          <p:spTgt spid="29"/>
                                        </p:tgtEl>
                                      </p:cBhvr>
                                    </p:animEffect>
                                    <p:anim calcmode="lin" valueType="num">
                                      <p:cBhvr>
                                        <p:cTn id="81" dur="500" fill="hold"/>
                                        <p:tgtEl>
                                          <p:spTgt spid="29"/>
                                        </p:tgtEl>
                                        <p:attrNameLst>
                                          <p:attrName>ppt_x</p:attrName>
                                        </p:attrNameLst>
                                      </p:cBhvr>
                                      <p:tavLst>
                                        <p:tav tm="0">
                                          <p:val>
                                            <p:strVal val="#ppt_x"/>
                                          </p:val>
                                        </p:tav>
                                        <p:tav tm="100000">
                                          <p:val>
                                            <p:strVal val="#ppt_x"/>
                                          </p:val>
                                        </p:tav>
                                      </p:tavLst>
                                    </p:anim>
                                    <p:anim calcmode="lin" valueType="num">
                                      <p:cBhvr>
                                        <p:cTn id="82" dur="500" fill="hold"/>
                                        <p:tgtEl>
                                          <p:spTgt spid="29"/>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24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500"/>
                                        <p:tgtEl>
                                          <p:spTgt spid="30"/>
                                        </p:tgtEl>
                                      </p:cBhvr>
                                    </p:animEffect>
                                    <p:anim calcmode="lin" valueType="num">
                                      <p:cBhvr>
                                        <p:cTn id="86" dur="500" fill="hold"/>
                                        <p:tgtEl>
                                          <p:spTgt spid="30"/>
                                        </p:tgtEl>
                                        <p:attrNameLst>
                                          <p:attrName>ppt_x</p:attrName>
                                        </p:attrNameLst>
                                      </p:cBhvr>
                                      <p:tavLst>
                                        <p:tav tm="0">
                                          <p:val>
                                            <p:strVal val="#ppt_x"/>
                                          </p:val>
                                        </p:tav>
                                        <p:tav tm="100000">
                                          <p:val>
                                            <p:strVal val="#ppt_x"/>
                                          </p:val>
                                        </p:tav>
                                      </p:tavLst>
                                    </p:anim>
                                    <p:anim calcmode="lin" valueType="num">
                                      <p:cBhvr>
                                        <p:cTn id="87" dur="500" fill="hold"/>
                                        <p:tgtEl>
                                          <p:spTgt spid="30"/>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24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500"/>
                                        <p:tgtEl>
                                          <p:spTgt spid="31"/>
                                        </p:tgtEl>
                                      </p:cBhvr>
                                    </p:animEffect>
                                    <p:anim calcmode="lin" valueType="num">
                                      <p:cBhvr>
                                        <p:cTn id="91" dur="500" fill="hold"/>
                                        <p:tgtEl>
                                          <p:spTgt spid="31"/>
                                        </p:tgtEl>
                                        <p:attrNameLst>
                                          <p:attrName>ppt_x</p:attrName>
                                        </p:attrNameLst>
                                      </p:cBhvr>
                                      <p:tavLst>
                                        <p:tav tm="0">
                                          <p:val>
                                            <p:strVal val="#ppt_x"/>
                                          </p:val>
                                        </p:tav>
                                        <p:tav tm="100000">
                                          <p:val>
                                            <p:strVal val="#ppt_x"/>
                                          </p:val>
                                        </p:tav>
                                      </p:tavLst>
                                    </p:anim>
                                    <p:anim calcmode="lin" valueType="num">
                                      <p:cBhvr>
                                        <p:cTn id="92" dur="500" fill="hold"/>
                                        <p:tgtEl>
                                          <p:spTgt spid="31"/>
                                        </p:tgtEl>
                                        <p:attrNameLst>
                                          <p:attrName>ppt_y</p:attrName>
                                        </p:attrNameLst>
                                      </p:cBhvr>
                                      <p:tavLst>
                                        <p:tav tm="0">
                                          <p:val>
                                            <p:strVal val="#ppt_y+.1"/>
                                          </p:val>
                                        </p:tav>
                                        <p:tav tm="100000">
                                          <p:val>
                                            <p:strVal val="#ppt_y"/>
                                          </p:val>
                                        </p:tav>
                                      </p:tavLst>
                                    </p:anim>
                                  </p:childTnLst>
                                </p:cTn>
                              </p:par>
                              <p:par>
                                <p:cTn id="93" presetID="10" presetClass="entr" presetSubtype="0" fill="hold" nodeType="withEffect">
                                  <p:stCondLst>
                                    <p:cond delay="360"/>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500"/>
                                        <p:tgtEl>
                                          <p:spTgt spid="23"/>
                                        </p:tgtEl>
                                      </p:cBhvr>
                                    </p:animEffect>
                                  </p:childTnLst>
                                </p:cTn>
                              </p:par>
                              <p:par>
                                <p:cTn id="96" presetID="10" presetClass="entr" presetSubtype="0" fill="hold" grpId="0" nodeType="withEffect">
                                  <p:stCondLst>
                                    <p:cond delay="360"/>
                                  </p:stCondLst>
                                  <p:childTnLst>
                                    <p:set>
                                      <p:cBhvr>
                                        <p:cTn id="97" dur="1" fill="hold">
                                          <p:stCondLst>
                                            <p:cond delay="0"/>
                                          </p:stCondLst>
                                        </p:cTn>
                                        <p:tgtEl>
                                          <p:spTgt spid="24"/>
                                        </p:tgtEl>
                                        <p:attrNameLst>
                                          <p:attrName>style.visibility</p:attrName>
                                        </p:attrNameLst>
                                      </p:cBhvr>
                                      <p:to>
                                        <p:strVal val="visible"/>
                                      </p:to>
                                    </p:set>
                                    <p:animEffect transition="in" filter="fade">
                                      <p:cBhvr>
                                        <p:cTn id="98" dur="500"/>
                                        <p:tgtEl>
                                          <p:spTgt spid="24"/>
                                        </p:tgtEl>
                                      </p:cBhvr>
                                    </p:animEffect>
                                  </p:childTnLst>
                                </p:cTn>
                              </p:par>
                              <p:par>
                                <p:cTn id="99" presetID="10" presetClass="entr" presetSubtype="0" fill="hold" grpId="0" nodeType="withEffect">
                                  <p:stCondLst>
                                    <p:cond delay="360"/>
                                  </p:stCondLst>
                                  <p:childTnLst>
                                    <p:set>
                                      <p:cBhvr>
                                        <p:cTn id="100" dur="1" fill="hold">
                                          <p:stCondLst>
                                            <p:cond delay="0"/>
                                          </p:stCondLst>
                                        </p:cTn>
                                        <p:tgtEl>
                                          <p:spTgt spid="25"/>
                                        </p:tgtEl>
                                        <p:attrNameLst>
                                          <p:attrName>style.visibility</p:attrName>
                                        </p:attrNameLst>
                                      </p:cBhvr>
                                      <p:to>
                                        <p:strVal val="visible"/>
                                      </p:to>
                                    </p:set>
                                    <p:animEffect transition="in" filter="fade">
                                      <p:cBhvr>
                                        <p:cTn id="10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20" grpId="0" animBg="1"/>
      <p:bldP spid="21" grpId="0" animBg="1"/>
      <p:bldP spid="22" grpId="0" animBg="1"/>
      <p:bldP spid="24" grpId="0" animBg="1"/>
      <p:bldP spid="25" grpId="0" animBg="1"/>
      <p:bldP spid="29" grpId="0" animBg="1"/>
      <p:bldP spid="30" grpId="0" animBg="1"/>
      <p:bldP spid="3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8F4"/>
        </a:solidFill>
        <a:effectLst/>
      </p:bgPr>
    </p:bg>
    <p:spTree>
      <p:nvGrpSpPr>
        <p:cNvPr id="1" name=""/>
        <p:cNvGrpSpPr/>
        <p:nvPr/>
      </p:nvGrpSpPr>
      <p:grpSpPr>
        <a:xfrm>
          <a:off x="0" y="0"/>
          <a:ext cx="0" cy="0"/>
          <a:chOff x="0" y="0"/>
          <a:chExt cx="0" cy="0"/>
        </a:xfrm>
      </p:grpSpPr>
      <p:sp>
        <p:nvSpPr>
          <p:cNvPr id="2" name="!!TopBar"/>
          <p:cNvSpPr/>
          <p:nvPr/>
        </p:nvSpPr>
        <p:spPr>
          <a:xfrm>
            <a:off x="0" y="0"/>
            <a:ext cx="12191695" cy="91440"/>
          </a:xfrm>
          <a:prstGeom prst="rect">
            <a:avLst/>
          </a:prstGeom>
          <a:solidFill>
            <a:srgbClr val="12201B"/>
          </a:solidFill>
          <a:ln/>
        </p:spPr>
      </p:sp>
      <p:sp>
        <p:nvSpPr>
          <p:cNvPr id="3" name="!!LogoBg"/>
          <p:cNvSpPr/>
          <p:nvPr/>
        </p:nvSpPr>
        <p:spPr>
          <a:xfrm>
            <a:off x="11256264" y="274320"/>
            <a:ext cx="402336" cy="402336"/>
          </a:xfrm>
          <a:prstGeom prst="ellipse">
            <a:avLst/>
          </a:prstGeom>
          <a:solidFill>
            <a:srgbClr val="FFFFFF"/>
          </a:solidFill>
          <a:ln/>
        </p:spPr>
      </p:sp>
      <p:pic>
        <p:nvPicPr>
          <p:cNvPr id="4" name="!!Logo" descr="Logo Trường Đại học Trà Vinh"/>
          <p:cNvPicPr>
            <a:picLocks noChangeAspect="1"/>
          </p:cNvPicPr>
          <p:nvPr/>
        </p:nvPicPr>
        <p:blipFill>
          <a:blip r:embed="rId3"/>
          <a:stretch>
            <a:fillRect/>
          </a:stretch>
        </p:blipFill>
        <p:spPr>
          <a:xfrm>
            <a:off x="11269980" y="288036"/>
            <a:ext cx="374904" cy="374904"/>
          </a:xfrm>
          <a:prstGeom prst="rect">
            <a:avLst/>
          </a:prstGeom>
        </p:spPr>
      </p:pic>
      <p:sp>
        <p:nvSpPr>
          <p:cNvPr id="5" name="!!Label"/>
          <p:cNvSpPr txBox="1"/>
          <p:nvPr/>
        </p:nvSpPr>
        <p:spPr>
          <a:xfrm>
            <a:off x="8138160" y="365760"/>
            <a:ext cx="2971800" cy="274320"/>
          </a:xfrm>
          <a:prstGeom prst="rect">
            <a:avLst/>
          </a:prstGeom>
          <a:noFill/>
          <a:ln/>
        </p:spPr>
        <p:txBody>
          <a:bodyPr wrap="square" lIns="0" tIns="0" rIns="0" bIns="0" rtlCol="0" anchor="t"/>
          <a:lstStyle/>
          <a:p>
            <a:pPr marL="0" indent="0" algn="r">
              <a:buNone/>
            </a:pPr>
            <a:r>
              <a:rPr lang="en-US" sz="1000" b="1" kern="0" spc="150" dirty="0">
                <a:solidFill>
                  <a:srgbClr val="43705F"/>
                </a:solidFill>
                <a:latin typeface="Segoe UI" pitchFamily="34" charset="0"/>
                <a:ea typeface="Segoe UI" pitchFamily="34" charset="-122"/>
                <a:cs typeface="Segoe UI" pitchFamily="34" charset="-120"/>
              </a:rPr>
              <a:t>QUẢN TRỊ</a:t>
            </a:r>
            <a:endParaRPr lang="en-US" sz="1000" dirty="0"/>
          </a:p>
        </p:txBody>
      </p:sp>
      <p:sp>
        <p:nvSpPr>
          <p:cNvPr id="6" name="!!Title"/>
          <p:cNvSpPr txBox="1"/>
          <p:nvPr/>
        </p:nvSpPr>
        <p:spPr>
          <a:xfrm>
            <a:off x="548640" y="329184"/>
            <a:ext cx="8138160" cy="548640"/>
          </a:xfrm>
          <a:prstGeom prst="rect">
            <a:avLst/>
          </a:prstGeom>
          <a:noFill/>
          <a:ln/>
        </p:spPr>
        <p:txBody>
          <a:bodyPr wrap="square" lIns="0" tIns="0" rIns="0" bIns="0" rtlCol="0" anchor="t"/>
          <a:lstStyle/>
          <a:p>
            <a:pPr marL="0" indent="0">
              <a:buNone/>
            </a:pPr>
            <a:r>
              <a:rPr lang="en-US" sz="2800" b="1" dirty="0">
                <a:solidFill>
                  <a:srgbClr val="1C2B25"/>
                </a:solidFill>
                <a:latin typeface="Cambria" pitchFamily="34" charset="0"/>
                <a:ea typeface="Cambria" pitchFamily="34" charset="-122"/>
                <a:cs typeface="Cambria" pitchFamily="34" charset="-120"/>
              </a:rPr>
              <a:t>Khu quản trị</a:t>
            </a:r>
            <a:endParaRPr lang="en-US" sz="2800" dirty="0"/>
          </a:p>
        </p:txBody>
      </p:sp>
      <p:sp>
        <p:nvSpPr>
          <p:cNvPr id="7" name="!!Subtitle"/>
          <p:cNvSpPr txBox="1"/>
          <p:nvPr/>
        </p:nvSpPr>
        <p:spPr>
          <a:xfrm>
            <a:off x="548640" y="914400"/>
            <a:ext cx="10241280" cy="274320"/>
          </a:xfrm>
          <a:prstGeom prst="rect">
            <a:avLst/>
          </a:prstGeom>
          <a:noFill/>
          <a:ln/>
        </p:spPr>
        <p:txBody>
          <a:bodyPr wrap="square" lIns="0" tIns="0" rIns="0" bIns="0" rtlCol="0" anchor="t"/>
          <a:lstStyle/>
          <a:p>
            <a:pPr marL="0" indent="0">
              <a:buNone/>
            </a:pPr>
            <a:r>
              <a:rPr lang="en-US" sz="1250" dirty="0">
                <a:solidFill>
                  <a:srgbClr val="4E5B54"/>
                </a:solidFill>
                <a:latin typeface="Segoe UI" pitchFamily="34" charset="0"/>
                <a:ea typeface="Segoe UI" pitchFamily="34" charset="-122"/>
                <a:cs typeface="Segoe UI" pitchFamily="34" charset="-120"/>
              </a:rPr>
              <a:t>Chạy trên cổng riêng, mọi trang đòi đăng nhập với vai trò Admin</a:t>
            </a:r>
            <a:endParaRPr lang="en-US" sz="1250" dirty="0"/>
          </a:p>
        </p:txBody>
      </p:sp>
      <p:sp>
        <p:nvSpPr>
          <p:cNvPr id="8" name="!!Accent"/>
          <p:cNvSpPr/>
          <p:nvPr/>
        </p:nvSpPr>
        <p:spPr>
          <a:xfrm>
            <a:off x="548640" y="1280160"/>
            <a:ext cx="1005840" cy="45720"/>
          </a:xfrm>
          <a:prstGeom prst="rect">
            <a:avLst/>
          </a:prstGeom>
          <a:solidFill>
            <a:srgbClr val="43705F"/>
          </a:solidFill>
          <a:ln/>
        </p:spPr>
      </p:sp>
      <p:sp>
        <p:nvSpPr>
          <p:cNvPr id="9" name="!!Footer"/>
          <p:cNvSpPr txBox="1"/>
          <p:nvPr/>
        </p:nvSpPr>
        <p:spPr>
          <a:xfrm>
            <a:off x="548640" y="6455664"/>
            <a:ext cx="7315200" cy="219456"/>
          </a:xfrm>
          <a:prstGeom prst="rect">
            <a:avLst/>
          </a:prstGeom>
          <a:noFill/>
          <a:ln/>
        </p:spPr>
        <p:txBody>
          <a:bodyPr wrap="square" lIns="0" tIns="0" rIns="0" bIns="0" rtlCol="0" anchor="t"/>
          <a:lstStyle/>
          <a:p>
            <a:pPr marL="0" indent="0">
              <a:buNone/>
            </a:pPr>
            <a:r>
              <a:rPr lang="en-US" sz="900" dirty="0">
                <a:solidFill>
                  <a:srgbClr val="4E5B54"/>
                </a:solidFill>
                <a:latin typeface="Segoe UI" pitchFamily="34" charset="0"/>
                <a:ea typeface="Segoe UI" pitchFamily="34" charset="-122"/>
                <a:cs typeface="Segoe UI" pitchFamily="34" charset="-120"/>
              </a:rPr>
              <a:t>Đồ án thực tập cơ sở ngành · Website di tích Việt Nam</a:t>
            </a:r>
            <a:endParaRPr lang="en-US" sz="900" dirty="0"/>
          </a:p>
        </p:txBody>
      </p:sp>
      <p:sp>
        <p:nvSpPr>
          <p:cNvPr id="10" name="!!PageNum"/>
          <p:cNvSpPr txBox="1"/>
          <p:nvPr/>
        </p:nvSpPr>
        <p:spPr>
          <a:xfrm>
            <a:off x="11091672" y="6455664"/>
            <a:ext cx="548640" cy="219456"/>
          </a:xfrm>
          <a:prstGeom prst="rect">
            <a:avLst/>
          </a:prstGeom>
          <a:noFill/>
          <a:ln/>
        </p:spPr>
        <p:txBody>
          <a:bodyPr wrap="square" lIns="0" tIns="0" rIns="0" bIns="0" rtlCol="0" anchor="t"/>
          <a:lstStyle/>
          <a:p>
            <a:pPr marL="0" indent="0" algn="r">
              <a:buNone/>
            </a:pPr>
            <a:r>
              <a:rPr lang="en-US" sz="900" dirty="0">
                <a:solidFill>
                  <a:srgbClr val="4E5B54"/>
                </a:solidFill>
                <a:latin typeface="Segoe UI" pitchFamily="34" charset="0"/>
                <a:ea typeface="Segoe UI" pitchFamily="34" charset="-122"/>
                <a:cs typeface="Segoe UI" pitchFamily="34" charset="-120"/>
              </a:rPr>
              <a:t>11</a:t>
            </a:r>
            <a:endParaRPr lang="en-US" sz="900" dirty="0"/>
          </a:p>
        </p:txBody>
      </p:sp>
      <p:pic>
        <p:nvPicPr>
          <p:cNvPr id="11" name="S11 Picture 11" descr="Trang thống kê khu quản trị"/>
          <p:cNvPicPr>
            <a:picLocks noChangeAspect="1"/>
          </p:cNvPicPr>
          <p:nvPr/>
        </p:nvPicPr>
        <p:blipFill>
          <a:blip r:embed="rId4"/>
          <a:stretch>
            <a:fillRect/>
          </a:stretch>
        </p:blipFill>
        <p:spPr>
          <a:xfrm>
            <a:off x="548640" y="1572768"/>
            <a:ext cx="3429000" cy="1927871"/>
          </a:xfrm>
          <a:prstGeom prst="rect">
            <a:avLst/>
          </a:prstGeom>
        </p:spPr>
      </p:pic>
      <p:sp>
        <p:nvSpPr>
          <p:cNvPr id="12" name="S11 Rectangle 12"/>
          <p:cNvSpPr/>
          <p:nvPr/>
        </p:nvSpPr>
        <p:spPr>
          <a:xfrm>
            <a:off x="548640" y="1572768"/>
            <a:ext cx="3429000" cy="1927871"/>
          </a:xfrm>
          <a:prstGeom prst="rect">
            <a:avLst/>
          </a:prstGeom>
          <a:ln w="9525">
            <a:solidFill>
              <a:srgbClr val="C9CDC2"/>
            </a:solidFill>
            <a:prstDash val="solid"/>
          </a:ln>
        </p:spPr>
      </p:sp>
      <p:sp>
        <p:nvSpPr>
          <p:cNvPr id="13" name="S11 Rounded Rectangle 13"/>
          <p:cNvSpPr/>
          <p:nvPr/>
        </p:nvSpPr>
        <p:spPr>
          <a:xfrm>
            <a:off x="1168852" y="2074999"/>
            <a:ext cx="2811117" cy="265725"/>
          </a:xfrm>
          <a:prstGeom prst="roundRect">
            <a:avLst>
              <a:gd name="adj" fmla="val 10323"/>
            </a:avLst>
          </a:prstGeom>
          <a:ln w="25400">
            <a:solidFill>
              <a:srgbClr val="9E2B25"/>
            </a:solidFill>
            <a:prstDash val="solid"/>
          </a:ln>
        </p:spPr>
      </p:sp>
      <p:sp>
        <p:nvSpPr>
          <p:cNvPr id="14" name="S11 TextBox 14"/>
          <p:cNvSpPr txBox="1"/>
          <p:nvPr/>
        </p:nvSpPr>
        <p:spPr>
          <a:xfrm>
            <a:off x="548640" y="3537215"/>
            <a:ext cx="3429000" cy="237744"/>
          </a:xfrm>
          <a:prstGeom prst="rect">
            <a:avLst/>
          </a:prstGeom>
          <a:noFill/>
          <a:ln/>
        </p:spPr>
        <p:txBody>
          <a:bodyPr wrap="square" lIns="0" tIns="0" rIns="0" bIns="0" rtlCol="0" anchor="t"/>
          <a:lstStyle/>
          <a:p>
            <a:pPr marL="0" indent="0">
              <a:buNone/>
            </a:pPr>
            <a:r>
              <a:rPr lang="en-US" sz="1050" b="1" dirty="0">
                <a:solidFill>
                  <a:srgbClr val="9E2B25"/>
                </a:solidFill>
                <a:latin typeface="Segoe UI" pitchFamily="34" charset="0"/>
                <a:ea typeface="Segoe UI" pitchFamily="34" charset="-122"/>
                <a:cs typeface="Segoe UI" pitchFamily="34" charset="-120"/>
              </a:rPr>
              <a:t>1  </a:t>
            </a:r>
            <a:r>
              <a:rPr lang="en-US" sz="1050" dirty="0">
                <a:solidFill>
                  <a:srgbClr val="4E5B54"/>
                </a:solidFill>
                <a:latin typeface="Segoe UI" pitchFamily="34" charset="0"/>
                <a:ea typeface="Segoe UI" pitchFamily="34" charset="-122"/>
                <a:cs typeface="Segoe UI" pitchFamily="34" charset="-120"/>
              </a:rPr>
              <a:t>Bốn chỉ số tổng</a:t>
            </a:r>
            <a:endParaRPr lang="en-US" sz="1050" dirty="0"/>
          </a:p>
        </p:txBody>
      </p:sp>
      <p:pic>
        <p:nvPicPr>
          <p:cNvPr id="15" name="S11 Picture 15" descr="Danh sách di tích trong khu quản trị"/>
          <p:cNvPicPr>
            <a:picLocks noChangeAspect="1"/>
          </p:cNvPicPr>
          <p:nvPr/>
        </p:nvPicPr>
        <p:blipFill>
          <a:blip r:embed="rId5"/>
          <a:stretch>
            <a:fillRect/>
          </a:stretch>
        </p:blipFill>
        <p:spPr>
          <a:xfrm>
            <a:off x="4178808" y="1572768"/>
            <a:ext cx="3429000" cy="1927871"/>
          </a:xfrm>
          <a:prstGeom prst="rect">
            <a:avLst/>
          </a:prstGeom>
        </p:spPr>
      </p:pic>
      <p:sp>
        <p:nvSpPr>
          <p:cNvPr id="16" name="S11 Rectangle 16"/>
          <p:cNvSpPr/>
          <p:nvPr/>
        </p:nvSpPr>
        <p:spPr>
          <a:xfrm>
            <a:off x="4178808" y="1572768"/>
            <a:ext cx="3429000" cy="1927871"/>
          </a:xfrm>
          <a:prstGeom prst="rect">
            <a:avLst/>
          </a:prstGeom>
          <a:ln w="9525">
            <a:solidFill>
              <a:srgbClr val="C9CDC2"/>
            </a:solidFill>
            <a:prstDash val="solid"/>
          </a:ln>
        </p:spPr>
      </p:sp>
      <p:sp>
        <p:nvSpPr>
          <p:cNvPr id="17" name="S11 Rounded Rectangle 17"/>
          <p:cNvSpPr/>
          <p:nvPr/>
        </p:nvSpPr>
        <p:spPr>
          <a:xfrm>
            <a:off x="4859266" y="2313472"/>
            <a:ext cx="2690625" cy="235602"/>
          </a:xfrm>
          <a:prstGeom prst="roundRect">
            <a:avLst>
              <a:gd name="adj" fmla="val 11643"/>
            </a:avLst>
          </a:prstGeom>
          <a:ln w="25400">
            <a:solidFill>
              <a:srgbClr val="9E2B25"/>
            </a:solidFill>
            <a:prstDash val="solid"/>
          </a:ln>
        </p:spPr>
      </p:sp>
      <p:sp>
        <p:nvSpPr>
          <p:cNvPr id="18" name="S11 TextBox 18"/>
          <p:cNvSpPr txBox="1"/>
          <p:nvPr/>
        </p:nvSpPr>
        <p:spPr>
          <a:xfrm>
            <a:off x="4178808" y="3537215"/>
            <a:ext cx="3429000" cy="237744"/>
          </a:xfrm>
          <a:prstGeom prst="rect">
            <a:avLst/>
          </a:prstGeom>
          <a:noFill/>
          <a:ln/>
        </p:spPr>
        <p:txBody>
          <a:bodyPr wrap="square" lIns="0" tIns="0" rIns="0" bIns="0" rtlCol="0" anchor="t"/>
          <a:lstStyle/>
          <a:p>
            <a:pPr marL="0" indent="0">
              <a:buNone/>
            </a:pPr>
            <a:r>
              <a:rPr lang="en-US" sz="1050" b="1" dirty="0">
                <a:solidFill>
                  <a:srgbClr val="9E2B25"/>
                </a:solidFill>
                <a:latin typeface="Segoe UI" pitchFamily="34" charset="0"/>
                <a:ea typeface="Segoe UI" pitchFamily="34" charset="-122"/>
                <a:cs typeface="Segoe UI" pitchFamily="34" charset="-120"/>
              </a:rPr>
              <a:t>2  </a:t>
            </a:r>
            <a:r>
              <a:rPr lang="en-US" sz="1050" dirty="0">
                <a:solidFill>
                  <a:srgbClr val="4E5B54"/>
                </a:solidFill>
                <a:latin typeface="Segoe UI" pitchFamily="34" charset="0"/>
                <a:ea typeface="Segoe UI" pitchFamily="34" charset="-122"/>
                <a:cs typeface="Segoe UI" pitchFamily="34" charset="-120"/>
              </a:rPr>
              <a:t>Bộ lọc danh sách di tích</a:t>
            </a:r>
            <a:endParaRPr lang="en-US" sz="1050" dirty="0"/>
          </a:p>
        </p:txBody>
      </p:sp>
      <p:pic>
        <p:nvPicPr>
          <p:cNvPr id="19" name="S11 Picture 19" descr="Báo cáo lượt tải ảnh"/>
          <p:cNvPicPr>
            <a:picLocks noChangeAspect="1"/>
          </p:cNvPicPr>
          <p:nvPr/>
        </p:nvPicPr>
        <p:blipFill>
          <a:blip r:embed="rId6"/>
          <a:stretch>
            <a:fillRect/>
          </a:stretch>
        </p:blipFill>
        <p:spPr>
          <a:xfrm>
            <a:off x="548640" y="3931920"/>
            <a:ext cx="3429000" cy="1927871"/>
          </a:xfrm>
          <a:prstGeom prst="rect">
            <a:avLst/>
          </a:prstGeom>
        </p:spPr>
      </p:pic>
      <p:sp>
        <p:nvSpPr>
          <p:cNvPr id="20" name="S11 Rectangle 20"/>
          <p:cNvSpPr/>
          <p:nvPr/>
        </p:nvSpPr>
        <p:spPr>
          <a:xfrm>
            <a:off x="548640" y="3931920"/>
            <a:ext cx="3429000" cy="1927871"/>
          </a:xfrm>
          <a:prstGeom prst="rect">
            <a:avLst/>
          </a:prstGeom>
          <a:ln w="9525">
            <a:solidFill>
              <a:srgbClr val="C9CDC2"/>
            </a:solidFill>
            <a:prstDash val="solid"/>
          </a:ln>
        </p:spPr>
      </p:sp>
      <p:sp>
        <p:nvSpPr>
          <p:cNvPr id="21" name="S11 Rounded Rectangle 21"/>
          <p:cNvSpPr/>
          <p:nvPr/>
        </p:nvSpPr>
        <p:spPr>
          <a:xfrm>
            <a:off x="1234119" y="4175595"/>
            <a:ext cx="2683095" cy="689957"/>
          </a:xfrm>
          <a:prstGeom prst="roundRect">
            <a:avLst>
              <a:gd name="adj" fmla="val 3976"/>
            </a:avLst>
          </a:prstGeom>
          <a:ln w="25400">
            <a:solidFill>
              <a:srgbClr val="9E2B25"/>
            </a:solidFill>
            <a:prstDash val="solid"/>
          </a:ln>
        </p:spPr>
      </p:sp>
      <p:sp>
        <p:nvSpPr>
          <p:cNvPr id="22" name="S11 TextBox 22"/>
          <p:cNvSpPr txBox="1"/>
          <p:nvPr/>
        </p:nvSpPr>
        <p:spPr>
          <a:xfrm>
            <a:off x="548640" y="5896367"/>
            <a:ext cx="3429000" cy="237744"/>
          </a:xfrm>
          <a:prstGeom prst="rect">
            <a:avLst/>
          </a:prstGeom>
          <a:noFill/>
          <a:ln/>
        </p:spPr>
        <p:txBody>
          <a:bodyPr wrap="square" lIns="0" tIns="0" rIns="0" bIns="0" rtlCol="0" anchor="t"/>
          <a:lstStyle/>
          <a:p>
            <a:pPr marL="0" indent="0">
              <a:buNone/>
            </a:pPr>
            <a:r>
              <a:rPr lang="en-US" sz="1050" b="1" dirty="0">
                <a:solidFill>
                  <a:srgbClr val="9E2B25"/>
                </a:solidFill>
                <a:latin typeface="Segoe UI" pitchFamily="34" charset="0"/>
                <a:ea typeface="Segoe UI" pitchFamily="34" charset="-122"/>
                <a:cs typeface="Segoe UI" pitchFamily="34" charset="-120"/>
              </a:rPr>
              <a:t>3  </a:t>
            </a:r>
            <a:r>
              <a:rPr lang="en-US" sz="1050" dirty="0">
                <a:solidFill>
                  <a:srgbClr val="4E5B54"/>
                </a:solidFill>
                <a:latin typeface="Segoe UI" pitchFamily="34" charset="0"/>
                <a:ea typeface="Segoe UI" pitchFamily="34" charset="-122"/>
                <a:cs typeface="Segoe UI" pitchFamily="34" charset="-120"/>
              </a:rPr>
              <a:t>Tệp bị từ chối kèm lý do</a:t>
            </a:r>
            <a:endParaRPr lang="en-US" sz="1050" dirty="0"/>
          </a:p>
        </p:txBody>
      </p:sp>
      <p:pic>
        <p:nvPicPr>
          <p:cNvPr id="23" name="S11 Picture 23" descr="Quản lý tài khoản quản trị"/>
          <p:cNvPicPr>
            <a:picLocks noChangeAspect="1"/>
          </p:cNvPicPr>
          <p:nvPr/>
        </p:nvPicPr>
        <p:blipFill>
          <a:blip r:embed="rId7"/>
          <a:stretch>
            <a:fillRect/>
          </a:stretch>
        </p:blipFill>
        <p:spPr>
          <a:xfrm>
            <a:off x="4178808" y="3931920"/>
            <a:ext cx="3429000" cy="1927871"/>
          </a:xfrm>
          <a:prstGeom prst="rect">
            <a:avLst/>
          </a:prstGeom>
        </p:spPr>
      </p:pic>
      <p:sp>
        <p:nvSpPr>
          <p:cNvPr id="24" name="S11 Rectangle 24"/>
          <p:cNvSpPr/>
          <p:nvPr/>
        </p:nvSpPr>
        <p:spPr>
          <a:xfrm>
            <a:off x="4178808" y="3931920"/>
            <a:ext cx="3429000" cy="1927871"/>
          </a:xfrm>
          <a:prstGeom prst="rect">
            <a:avLst/>
          </a:prstGeom>
          <a:ln w="9525">
            <a:solidFill>
              <a:srgbClr val="C9CDC2"/>
            </a:solidFill>
            <a:prstDash val="solid"/>
          </a:ln>
        </p:spPr>
      </p:sp>
      <p:sp>
        <p:nvSpPr>
          <p:cNvPr id="25" name="S11 Rounded Rectangle 25"/>
          <p:cNvSpPr/>
          <p:nvPr/>
        </p:nvSpPr>
        <p:spPr>
          <a:xfrm>
            <a:off x="5587238" y="5014018"/>
            <a:ext cx="587037" cy="130171"/>
          </a:xfrm>
          <a:prstGeom prst="roundRect">
            <a:avLst>
              <a:gd name="adj" fmla="val 21074"/>
            </a:avLst>
          </a:prstGeom>
          <a:ln w="25400">
            <a:solidFill>
              <a:srgbClr val="9E2B25"/>
            </a:solidFill>
            <a:prstDash val="solid"/>
          </a:ln>
        </p:spPr>
      </p:sp>
      <p:sp>
        <p:nvSpPr>
          <p:cNvPr id="26" name="S11 TextBox 26"/>
          <p:cNvSpPr txBox="1"/>
          <p:nvPr/>
        </p:nvSpPr>
        <p:spPr>
          <a:xfrm>
            <a:off x="4178808" y="5896367"/>
            <a:ext cx="3429000" cy="237744"/>
          </a:xfrm>
          <a:prstGeom prst="rect">
            <a:avLst/>
          </a:prstGeom>
          <a:noFill/>
          <a:ln/>
        </p:spPr>
        <p:txBody>
          <a:bodyPr wrap="square" lIns="0" tIns="0" rIns="0" bIns="0" rtlCol="0" anchor="t"/>
          <a:lstStyle/>
          <a:p>
            <a:pPr marL="0" indent="0">
              <a:buNone/>
            </a:pPr>
            <a:r>
              <a:rPr lang="en-US" sz="1050" b="1" dirty="0">
                <a:solidFill>
                  <a:srgbClr val="9E2B25"/>
                </a:solidFill>
                <a:latin typeface="Segoe UI" pitchFamily="34" charset="0"/>
                <a:ea typeface="Segoe UI" pitchFamily="34" charset="-122"/>
                <a:cs typeface="Segoe UI" pitchFamily="34" charset="-120"/>
              </a:rPr>
              <a:t>4  </a:t>
            </a:r>
            <a:r>
              <a:rPr lang="en-US" sz="1050" dirty="0">
                <a:solidFill>
                  <a:srgbClr val="4E5B54"/>
                </a:solidFill>
                <a:latin typeface="Segoe UI" pitchFamily="34" charset="0"/>
                <a:ea typeface="Segoe UI" pitchFamily="34" charset="-122"/>
                <a:cs typeface="Segoe UI" pitchFamily="34" charset="-120"/>
              </a:rPr>
              <a:t>Tài khoản đang khóa tạm</a:t>
            </a:r>
            <a:endParaRPr lang="en-US" sz="1050" dirty="0"/>
          </a:p>
        </p:txBody>
      </p:sp>
      <p:sp>
        <p:nvSpPr>
          <p:cNvPr id="27" name="S11 TextBox 27"/>
          <p:cNvSpPr txBox="1"/>
          <p:nvPr/>
        </p:nvSpPr>
        <p:spPr>
          <a:xfrm>
            <a:off x="7909560" y="1645920"/>
            <a:ext cx="3730752" cy="329184"/>
          </a:xfrm>
          <a:prstGeom prst="rect">
            <a:avLst/>
          </a:prstGeom>
          <a:noFill/>
          <a:ln/>
        </p:spPr>
        <p:txBody>
          <a:bodyPr wrap="square" lIns="0" tIns="0" rIns="0" bIns="0" rtlCol="0" anchor="t"/>
          <a:lstStyle/>
          <a:p>
            <a:pPr marL="0" indent="0">
              <a:buNone/>
            </a:pPr>
            <a:r>
              <a:rPr lang="en-US" sz="1550" b="1" dirty="0">
                <a:solidFill>
                  <a:srgbClr val="1C2B25"/>
                </a:solidFill>
                <a:latin typeface="Segoe UI" pitchFamily="34" charset="0"/>
                <a:ea typeface="Segoe UI" pitchFamily="34" charset="-122"/>
                <a:cs typeface="Segoe UI" pitchFamily="34" charset="-120"/>
              </a:rPr>
              <a:t>Thống kê</a:t>
            </a:r>
            <a:endParaRPr lang="en-US" sz="1550" dirty="0"/>
          </a:p>
        </p:txBody>
      </p:sp>
      <p:sp>
        <p:nvSpPr>
          <p:cNvPr id="28" name="S11 TextBox 28"/>
          <p:cNvSpPr txBox="1"/>
          <p:nvPr/>
        </p:nvSpPr>
        <p:spPr>
          <a:xfrm>
            <a:off x="7909560" y="2011680"/>
            <a:ext cx="3730752" cy="731520"/>
          </a:xfrm>
          <a:prstGeom prst="rect">
            <a:avLst/>
          </a:prstGeom>
          <a:noFill/>
          <a:ln/>
        </p:spPr>
        <p:txBody>
          <a:bodyPr wrap="square" lIns="0" tIns="0" rIns="0" bIns="0" rtlCol="0" anchor="t"/>
          <a:lstStyle/>
          <a:p>
            <a:pPr marL="0" indent="0">
              <a:buNone/>
            </a:pPr>
            <a:r>
              <a:rPr lang="en-US" sz="1300" dirty="0">
                <a:solidFill>
                  <a:srgbClr val="4E5B54"/>
                </a:solidFill>
                <a:latin typeface="Segoe UI" pitchFamily="34" charset="0"/>
                <a:ea typeface="Segoe UI" pitchFamily="34" charset="-122"/>
                <a:cs typeface="Segoe UI" pitchFamily="34" charset="-120"/>
              </a:rPr>
              <a:t>Số bản ghi theo </a:t>
            </a:r>
            <a:r>
              <a:rPr lang="en-US" sz="1300" b="1" dirty="0">
                <a:solidFill>
                  <a:srgbClr val="9E2B25"/>
                </a:solidFill>
                <a:latin typeface="Segoe UI" pitchFamily="34" charset="0"/>
                <a:ea typeface="Segoe UI" pitchFamily="34" charset="-122"/>
                <a:cs typeface="Segoe UI" pitchFamily="34" charset="-120"/>
              </a:rPr>
              <a:t>cấp, loại, miền</a:t>
            </a:r>
            <a:r>
              <a:rPr lang="en-US" sz="1300" dirty="0">
                <a:solidFill>
                  <a:srgbClr val="4E5B54"/>
                </a:solidFill>
                <a:latin typeface="Segoe UI" pitchFamily="34" charset="0"/>
                <a:ea typeface="Segoe UI" pitchFamily="34" charset="-122"/>
                <a:cs typeface="Segoe UI" pitchFamily="34" charset="-120"/>
              </a:rPr>
              <a:t>; hồ sơ còn thiếu ảnh, tọa độ</a:t>
            </a:r>
            <a:endParaRPr lang="en-US" sz="1300" dirty="0"/>
          </a:p>
        </p:txBody>
      </p:sp>
      <p:sp>
        <p:nvSpPr>
          <p:cNvPr id="29" name="S11 TextBox 29"/>
          <p:cNvSpPr txBox="1"/>
          <p:nvPr/>
        </p:nvSpPr>
        <p:spPr>
          <a:xfrm>
            <a:off x="7909560" y="2807208"/>
            <a:ext cx="3730752" cy="329184"/>
          </a:xfrm>
          <a:prstGeom prst="rect">
            <a:avLst/>
          </a:prstGeom>
          <a:noFill/>
          <a:ln/>
        </p:spPr>
        <p:txBody>
          <a:bodyPr wrap="square" lIns="0" tIns="0" rIns="0" bIns="0" rtlCol="0" anchor="t"/>
          <a:lstStyle/>
          <a:p>
            <a:pPr marL="0" indent="0">
              <a:buNone/>
            </a:pPr>
            <a:r>
              <a:rPr lang="en-US" sz="1550" b="1" dirty="0">
                <a:solidFill>
                  <a:srgbClr val="1C2B25"/>
                </a:solidFill>
                <a:latin typeface="Segoe UI" pitchFamily="34" charset="0"/>
                <a:ea typeface="Segoe UI" pitchFamily="34" charset="-122"/>
                <a:cs typeface="Segoe UI" pitchFamily="34" charset="-120"/>
              </a:rPr>
              <a:t>Quản lý dữ liệu</a:t>
            </a:r>
            <a:endParaRPr lang="en-US" sz="1550" dirty="0"/>
          </a:p>
        </p:txBody>
      </p:sp>
      <p:sp>
        <p:nvSpPr>
          <p:cNvPr id="30" name="S11 TextBox 30"/>
          <p:cNvSpPr txBox="1"/>
          <p:nvPr/>
        </p:nvSpPr>
        <p:spPr>
          <a:xfrm>
            <a:off x="7909560" y="3172968"/>
            <a:ext cx="3730752" cy="731520"/>
          </a:xfrm>
          <a:prstGeom prst="rect">
            <a:avLst/>
          </a:prstGeom>
          <a:noFill/>
          <a:ln/>
        </p:spPr>
        <p:txBody>
          <a:bodyPr wrap="square" lIns="0" tIns="0" rIns="0" bIns="0" rtlCol="0" anchor="t"/>
          <a:lstStyle/>
          <a:p>
            <a:pPr marL="0" indent="0">
              <a:buNone/>
            </a:pPr>
            <a:r>
              <a:rPr lang="en-US" sz="1300" dirty="0">
                <a:solidFill>
                  <a:srgbClr val="4E5B54"/>
                </a:solidFill>
                <a:latin typeface="Segoe UI" pitchFamily="34" charset="0"/>
                <a:ea typeface="Segoe UI" pitchFamily="34" charset="-122"/>
                <a:cs typeface="Segoe UI" pitchFamily="34" charset="-120"/>
              </a:rPr>
              <a:t>Thêm, sửa, xóa di tích, tỉnh thành, loại; </a:t>
            </a:r>
            <a:r>
              <a:rPr lang="en-US" sz="1300" b="1" dirty="0">
                <a:solidFill>
                  <a:srgbClr val="9E2B25"/>
                </a:solidFill>
                <a:latin typeface="Segoe UI" pitchFamily="34" charset="0"/>
                <a:ea typeface="Segoe UI" pitchFamily="34" charset="-122"/>
                <a:cs typeface="Segoe UI" pitchFamily="34" charset="-120"/>
              </a:rPr>
              <a:t>tìm nhanh</a:t>
            </a:r>
            <a:r>
              <a:rPr lang="en-US" sz="1300" dirty="0">
                <a:solidFill>
                  <a:srgbClr val="4E5B54"/>
                </a:solidFill>
                <a:latin typeface="Segoe UI" pitchFamily="34" charset="0"/>
                <a:ea typeface="Segoe UI" pitchFamily="34" charset="-122"/>
                <a:cs typeface="Segoe UI" pitchFamily="34" charset="-120"/>
              </a:rPr>
              <a:t> có gợi ý</a:t>
            </a:r>
            <a:endParaRPr lang="en-US" sz="1300" dirty="0"/>
          </a:p>
        </p:txBody>
      </p:sp>
      <p:sp>
        <p:nvSpPr>
          <p:cNvPr id="31" name="S11 TextBox 31"/>
          <p:cNvSpPr txBox="1"/>
          <p:nvPr/>
        </p:nvSpPr>
        <p:spPr>
          <a:xfrm>
            <a:off x="7909560" y="3968496"/>
            <a:ext cx="3730752" cy="329184"/>
          </a:xfrm>
          <a:prstGeom prst="rect">
            <a:avLst/>
          </a:prstGeom>
          <a:noFill/>
          <a:ln/>
        </p:spPr>
        <p:txBody>
          <a:bodyPr wrap="square" lIns="0" tIns="0" rIns="0" bIns="0" rtlCol="0" anchor="t"/>
          <a:lstStyle/>
          <a:p>
            <a:pPr marL="0" indent="0">
              <a:buNone/>
            </a:pPr>
            <a:r>
              <a:rPr lang="en-US" sz="1550" b="1" dirty="0">
                <a:solidFill>
                  <a:srgbClr val="1C2B25"/>
                </a:solidFill>
                <a:latin typeface="Segoe UI" pitchFamily="34" charset="0"/>
                <a:ea typeface="Segoe UI" pitchFamily="34" charset="-122"/>
                <a:cs typeface="Segoe UI" pitchFamily="34" charset="-120"/>
              </a:rPr>
              <a:t>Ảnh di tích</a:t>
            </a:r>
            <a:endParaRPr lang="en-US" sz="1550" dirty="0"/>
          </a:p>
        </p:txBody>
      </p:sp>
      <p:sp>
        <p:nvSpPr>
          <p:cNvPr id="32" name="S11 TextBox 32"/>
          <p:cNvSpPr txBox="1"/>
          <p:nvPr/>
        </p:nvSpPr>
        <p:spPr>
          <a:xfrm>
            <a:off x="7909560" y="4334256"/>
            <a:ext cx="3730752" cy="731520"/>
          </a:xfrm>
          <a:prstGeom prst="rect">
            <a:avLst/>
          </a:prstGeom>
          <a:noFill/>
          <a:ln/>
        </p:spPr>
        <p:txBody>
          <a:bodyPr wrap="square" lIns="0" tIns="0" rIns="0" bIns="0" rtlCol="0" anchor="t"/>
          <a:lstStyle/>
          <a:p>
            <a:pPr marL="0" indent="0">
              <a:buNone/>
            </a:pPr>
            <a:r>
              <a:rPr lang="en-US" sz="1300" dirty="0">
                <a:solidFill>
                  <a:srgbClr val="4E5B54"/>
                </a:solidFill>
                <a:latin typeface="Segoe UI" pitchFamily="34" charset="0"/>
                <a:ea typeface="Segoe UI" pitchFamily="34" charset="-122"/>
                <a:cs typeface="Segoe UI" pitchFamily="34" charset="-120"/>
              </a:rPr>
              <a:t>Tải nhiều ảnh một lượt, ảnh nào cũng </a:t>
            </a:r>
            <a:r>
              <a:rPr lang="en-US" sz="1300" b="1" dirty="0">
                <a:solidFill>
                  <a:srgbClr val="9E2B25"/>
                </a:solidFill>
                <a:latin typeface="Segoe UI" pitchFamily="34" charset="0"/>
                <a:ea typeface="Segoe UI" pitchFamily="34" charset="-122"/>
                <a:cs typeface="Segoe UI" pitchFamily="34" charset="-120"/>
              </a:rPr>
              <a:t>bắt buộc ghi nguồn</a:t>
            </a:r>
            <a:endParaRPr lang="en-US" sz="1300" dirty="0"/>
          </a:p>
        </p:txBody>
      </p:sp>
      <p:sp>
        <p:nvSpPr>
          <p:cNvPr id="33" name="S11 TextBox 33"/>
          <p:cNvSpPr txBox="1"/>
          <p:nvPr/>
        </p:nvSpPr>
        <p:spPr>
          <a:xfrm>
            <a:off x="7909560" y="5129784"/>
            <a:ext cx="3730752" cy="329184"/>
          </a:xfrm>
          <a:prstGeom prst="rect">
            <a:avLst/>
          </a:prstGeom>
          <a:noFill/>
          <a:ln/>
        </p:spPr>
        <p:txBody>
          <a:bodyPr wrap="square" lIns="0" tIns="0" rIns="0" bIns="0" rtlCol="0" anchor="t"/>
          <a:lstStyle/>
          <a:p>
            <a:pPr marL="0" indent="0">
              <a:buNone/>
            </a:pPr>
            <a:r>
              <a:rPr lang="en-US" sz="1550" b="1" dirty="0">
                <a:solidFill>
                  <a:srgbClr val="1C2B25"/>
                </a:solidFill>
                <a:latin typeface="Segoe UI" pitchFamily="34" charset="0"/>
                <a:ea typeface="Segoe UI" pitchFamily="34" charset="-122"/>
                <a:cs typeface="Segoe UI" pitchFamily="34" charset="-120"/>
              </a:rPr>
              <a:t>Tài khoản</a:t>
            </a:r>
            <a:endParaRPr lang="en-US" sz="1550" dirty="0"/>
          </a:p>
        </p:txBody>
      </p:sp>
      <p:sp>
        <p:nvSpPr>
          <p:cNvPr id="34" name="S11 TextBox 34"/>
          <p:cNvSpPr txBox="1"/>
          <p:nvPr/>
        </p:nvSpPr>
        <p:spPr>
          <a:xfrm>
            <a:off x="7909560" y="5495544"/>
            <a:ext cx="3730752" cy="731520"/>
          </a:xfrm>
          <a:prstGeom prst="rect">
            <a:avLst/>
          </a:prstGeom>
          <a:noFill/>
          <a:ln/>
        </p:spPr>
        <p:txBody>
          <a:bodyPr wrap="square" lIns="0" tIns="0" rIns="0" bIns="0" rtlCol="0" anchor="t"/>
          <a:lstStyle/>
          <a:p>
            <a:pPr marL="0" indent="0">
              <a:buNone/>
            </a:pPr>
            <a:r>
              <a:rPr lang="en-US" sz="1300" dirty="0">
                <a:solidFill>
                  <a:srgbClr val="4E5B54"/>
                </a:solidFill>
                <a:latin typeface="Segoe UI" pitchFamily="34" charset="0"/>
                <a:ea typeface="Segoe UI" pitchFamily="34" charset="-122"/>
                <a:cs typeface="Segoe UI" pitchFamily="34" charset="-120"/>
              </a:rPr>
              <a:t>Khóa, đặt lại mật khẩu; </a:t>
            </a:r>
            <a:r>
              <a:rPr lang="en-US" sz="1300" b="1" dirty="0">
                <a:solidFill>
                  <a:srgbClr val="9E2B25"/>
                </a:solidFill>
                <a:latin typeface="Segoe UI" pitchFamily="34" charset="0"/>
                <a:ea typeface="Segoe UI" pitchFamily="34" charset="-122"/>
                <a:cs typeface="Segoe UI" pitchFamily="34" charset="-120"/>
              </a:rPr>
              <a:t>không tự khóa</a:t>
            </a:r>
            <a:r>
              <a:rPr lang="en-US" sz="1300" dirty="0">
                <a:solidFill>
                  <a:srgbClr val="4E5B54"/>
                </a:solidFill>
                <a:latin typeface="Segoe UI" pitchFamily="34" charset="0"/>
                <a:ea typeface="Segoe UI" pitchFamily="34" charset="-122"/>
                <a:cs typeface="Segoe UI" pitchFamily="34" charset="-120"/>
              </a:rPr>
              <a:t> chính mình</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anim calcmode="lin" valueType="num">
                                      <p:cBhvr>
                                        <p:cTn id="8" dur="500" fill="hold"/>
                                        <p:tgtEl>
                                          <p:spTgt spid="27"/>
                                        </p:tgtEl>
                                        <p:attrNameLst>
                                          <p:attrName>ppt_x</p:attrName>
                                        </p:attrNameLst>
                                      </p:cBhvr>
                                      <p:tavLst>
                                        <p:tav tm="0">
                                          <p:val>
                                            <p:strVal val="#ppt_x"/>
                                          </p:val>
                                        </p:tav>
                                        <p:tav tm="100000">
                                          <p:val>
                                            <p:strVal val="#ppt_x"/>
                                          </p:val>
                                        </p:tav>
                                      </p:tavLst>
                                    </p:anim>
                                    <p:anim calcmode="lin" valueType="num">
                                      <p:cBhvr>
                                        <p:cTn id="9" dur="500" fill="hold"/>
                                        <p:tgtEl>
                                          <p:spTgt spid="2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anim calcmode="lin" valueType="num">
                                      <p:cBhvr>
                                        <p:cTn id="13" dur="500" fill="hold"/>
                                        <p:tgtEl>
                                          <p:spTgt spid="28"/>
                                        </p:tgtEl>
                                        <p:attrNameLst>
                                          <p:attrName>ppt_x</p:attrName>
                                        </p:attrNameLst>
                                      </p:cBhvr>
                                      <p:tavLst>
                                        <p:tav tm="0">
                                          <p:val>
                                            <p:strVal val="#ppt_x"/>
                                          </p:val>
                                        </p:tav>
                                        <p:tav tm="100000">
                                          <p:val>
                                            <p:strVal val="#ppt_x"/>
                                          </p:val>
                                        </p:tav>
                                      </p:tavLst>
                                    </p:anim>
                                    <p:anim calcmode="lin" valueType="num">
                                      <p:cBhvr>
                                        <p:cTn id="14" dur="500" fill="hold"/>
                                        <p:tgtEl>
                                          <p:spTgt spid="2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anim calcmode="lin" valueType="num">
                                      <p:cBhvr>
                                        <p:cTn id="18" dur="500" fill="hold"/>
                                        <p:tgtEl>
                                          <p:spTgt spid="29"/>
                                        </p:tgtEl>
                                        <p:attrNameLst>
                                          <p:attrName>ppt_x</p:attrName>
                                        </p:attrNameLst>
                                      </p:cBhvr>
                                      <p:tavLst>
                                        <p:tav tm="0">
                                          <p:val>
                                            <p:strVal val="#ppt_x"/>
                                          </p:val>
                                        </p:tav>
                                        <p:tav tm="100000">
                                          <p:val>
                                            <p:strVal val="#ppt_x"/>
                                          </p:val>
                                        </p:tav>
                                      </p:tavLst>
                                    </p:anim>
                                    <p:anim calcmode="lin" valueType="num">
                                      <p:cBhvr>
                                        <p:cTn id="19" dur="500" fill="hold"/>
                                        <p:tgtEl>
                                          <p:spTgt spid="2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anim calcmode="lin" valueType="num">
                                      <p:cBhvr>
                                        <p:cTn id="23" dur="500" fill="hold"/>
                                        <p:tgtEl>
                                          <p:spTgt spid="30"/>
                                        </p:tgtEl>
                                        <p:attrNameLst>
                                          <p:attrName>ppt_x</p:attrName>
                                        </p:attrNameLst>
                                      </p:cBhvr>
                                      <p:tavLst>
                                        <p:tav tm="0">
                                          <p:val>
                                            <p:strVal val="#ppt_x"/>
                                          </p:val>
                                        </p:tav>
                                        <p:tav tm="100000">
                                          <p:val>
                                            <p:strVal val="#ppt_x"/>
                                          </p:val>
                                        </p:tav>
                                      </p:tavLst>
                                    </p:anim>
                                    <p:anim calcmode="lin" valueType="num">
                                      <p:cBhvr>
                                        <p:cTn id="24" dur="500" fill="hold"/>
                                        <p:tgtEl>
                                          <p:spTgt spid="30"/>
                                        </p:tgtEl>
                                        <p:attrNameLst>
                                          <p:attrName>ppt_y</p:attrName>
                                        </p:attrNameLst>
                                      </p:cBhvr>
                                      <p:tavLst>
                                        <p:tav tm="0">
                                          <p:val>
                                            <p:strVal val="#ppt_y+.1"/>
                                          </p:val>
                                        </p:tav>
                                        <p:tav tm="100000">
                                          <p:val>
                                            <p:strVal val="#ppt_y"/>
                                          </p:val>
                                        </p:tav>
                                      </p:tavLst>
                                    </p:anim>
                                  </p:childTnLst>
                                </p:cTn>
                              </p:par>
                              <p:par>
                                <p:cTn id="25" presetID="53" presetClass="entr" presetSubtype="16" fill="hold" nodeType="withEffect">
                                  <p:stCondLst>
                                    <p:cond delay="120"/>
                                  </p:stCondLst>
                                  <p:childTnLst>
                                    <p:set>
                                      <p:cBhvr>
                                        <p:cTn id="26" dur="1" fill="hold">
                                          <p:stCondLst>
                                            <p:cond delay="0"/>
                                          </p:stCondLst>
                                        </p:cTn>
                                        <p:tgtEl>
                                          <p:spTgt spid="11"/>
                                        </p:tgtEl>
                                        <p:attrNameLst>
                                          <p:attrName>style.visibility</p:attrName>
                                        </p:attrNameLst>
                                      </p:cBhvr>
                                      <p:to>
                                        <p:strVal val="visible"/>
                                      </p:to>
                                    </p:set>
                                    <p:anim calcmode="lin" valueType="num">
                                      <p:cBhvr>
                                        <p:cTn id="27" dur="600" fill="hold"/>
                                        <p:tgtEl>
                                          <p:spTgt spid="11"/>
                                        </p:tgtEl>
                                        <p:attrNameLst>
                                          <p:attrName>ppt_w</p:attrName>
                                        </p:attrNameLst>
                                      </p:cBhvr>
                                      <p:tavLst>
                                        <p:tav tm="0">
                                          <p:val>
                                            <p:fltVal val="0"/>
                                          </p:val>
                                        </p:tav>
                                        <p:tav tm="100000">
                                          <p:val>
                                            <p:strVal val="#ppt_w"/>
                                          </p:val>
                                        </p:tav>
                                      </p:tavLst>
                                    </p:anim>
                                    <p:anim calcmode="lin" valueType="num">
                                      <p:cBhvr>
                                        <p:cTn id="28" dur="600" fill="hold"/>
                                        <p:tgtEl>
                                          <p:spTgt spid="11"/>
                                        </p:tgtEl>
                                        <p:attrNameLst>
                                          <p:attrName>ppt_h</p:attrName>
                                        </p:attrNameLst>
                                      </p:cBhvr>
                                      <p:tavLst>
                                        <p:tav tm="0">
                                          <p:val>
                                            <p:fltVal val="0"/>
                                          </p:val>
                                        </p:tav>
                                        <p:tav tm="100000">
                                          <p:val>
                                            <p:strVal val="#ppt_h"/>
                                          </p:val>
                                        </p:tav>
                                      </p:tavLst>
                                    </p:anim>
                                    <p:animEffect transition="in" filter="fade">
                                      <p:cBhvr>
                                        <p:cTn id="29" dur="600"/>
                                        <p:tgtEl>
                                          <p:spTgt spid="11"/>
                                        </p:tgtEl>
                                      </p:cBhvr>
                                    </p:animEffect>
                                  </p:childTnLst>
                                </p:cTn>
                              </p:par>
                              <p:par>
                                <p:cTn id="30" presetID="53" presetClass="entr" presetSubtype="16" fill="hold" nodeType="withEffect">
                                  <p:stCondLst>
                                    <p:cond delay="120"/>
                                  </p:stCondLst>
                                  <p:childTnLst>
                                    <p:set>
                                      <p:cBhvr>
                                        <p:cTn id="31" dur="1" fill="hold">
                                          <p:stCondLst>
                                            <p:cond delay="0"/>
                                          </p:stCondLst>
                                        </p:cTn>
                                        <p:tgtEl>
                                          <p:spTgt spid="12"/>
                                        </p:tgtEl>
                                        <p:attrNameLst>
                                          <p:attrName>style.visibility</p:attrName>
                                        </p:attrNameLst>
                                      </p:cBhvr>
                                      <p:to>
                                        <p:strVal val="visible"/>
                                      </p:to>
                                    </p:set>
                                    <p:anim calcmode="lin" valueType="num">
                                      <p:cBhvr>
                                        <p:cTn id="32" dur="600" fill="hold"/>
                                        <p:tgtEl>
                                          <p:spTgt spid="12"/>
                                        </p:tgtEl>
                                        <p:attrNameLst>
                                          <p:attrName>ppt_w</p:attrName>
                                        </p:attrNameLst>
                                      </p:cBhvr>
                                      <p:tavLst>
                                        <p:tav tm="0">
                                          <p:val>
                                            <p:fltVal val="0"/>
                                          </p:val>
                                        </p:tav>
                                        <p:tav tm="100000">
                                          <p:val>
                                            <p:strVal val="#ppt_w"/>
                                          </p:val>
                                        </p:tav>
                                      </p:tavLst>
                                    </p:anim>
                                    <p:anim calcmode="lin" valueType="num">
                                      <p:cBhvr>
                                        <p:cTn id="33" dur="600" fill="hold"/>
                                        <p:tgtEl>
                                          <p:spTgt spid="12"/>
                                        </p:tgtEl>
                                        <p:attrNameLst>
                                          <p:attrName>ppt_h</p:attrName>
                                        </p:attrNameLst>
                                      </p:cBhvr>
                                      <p:tavLst>
                                        <p:tav tm="0">
                                          <p:val>
                                            <p:fltVal val="0"/>
                                          </p:val>
                                        </p:tav>
                                        <p:tav tm="100000">
                                          <p:val>
                                            <p:strVal val="#ppt_h"/>
                                          </p:val>
                                        </p:tav>
                                      </p:tavLst>
                                    </p:anim>
                                    <p:animEffect transition="in" filter="fade">
                                      <p:cBhvr>
                                        <p:cTn id="34" dur="600"/>
                                        <p:tgtEl>
                                          <p:spTgt spid="12"/>
                                        </p:tgtEl>
                                      </p:cBhvr>
                                    </p:animEffect>
                                  </p:childTnLst>
                                </p:cTn>
                              </p:par>
                              <p:par>
                                <p:cTn id="35" presetID="53" presetClass="entr" presetSubtype="16" fill="hold" nodeType="withEffect">
                                  <p:stCondLst>
                                    <p:cond delay="120"/>
                                  </p:stCondLst>
                                  <p:childTnLst>
                                    <p:set>
                                      <p:cBhvr>
                                        <p:cTn id="36" dur="1" fill="hold">
                                          <p:stCondLst>
                                            <p:cond delay="0"/>
                                          </p:stCondLst>
                                        </p:cTn>
                                        <p:tgtEl>
                                          <p:spTgt spid="15"/>
                                        </p:tgtEl>
                                        <p:attrNameLst>
                                          <p:attrName>style.visibility</p:attrName>
                                        </p:attrNameLst>
                                      </p:cBhvr>
                                      <p:to>
                                        <p:strVal val="visible"/>
                                      </p:to>
                                    </p:set>
                                    <p:anim calcmode="lin" valueType="num">
                                      <p:cBhvr>
                                        <p:cTn id="37" dur="600" fill="hold"/>
                                        <p:tgtEl>
                                          <p:spTgt spid="15"/>
                                        </p:tgtEl>
                                        <p:attrNameLst>
                                          <p:attrName>ppt_w</p:attrName>
                                        </p:attrNameLst>
                                      </p:cBhvr>
                                      <p:tavLst>
                                        <p:tav tm="0">
                                          <p:val>
                                            <p:fltVal val="0"/>
                                          </p:val>
                                        </p:tav>
                                        <p:tav tm="100000">
                                          <p:val>
                                            <p:strVal val="#ppt_w"/>
                                          </p:val>
                                        </p:tav>
                                      </p:tavLst>
                                    </p:anim>
                                    <p:anim calcmode="lin" valueType="num">
                                      <p:cBhvr>
                                        <p:cTn id="38" dur="600" fill="hold"/>
                                        <p:tgtEl>
                                          <p:spTgt spid="15"/>
                                        </p:tgtEl>
                                        <p:attrNameLst>
                                          <p:attrName>ppt_h</p:attrName>
                                        </p:attrNameLst>
                                      </p:cBhvr>
                                      <p:tavLst>
                                        <p:tav tm="0">
                                          <p:val>
                                            <p:fltVal val="0"/>
                                          </p:val>
                                        </p:tav>
                                        <p:tav tm="100000">
                                          <p:val>
                                            <p:strVal val="#ppt_h"/>
                                          </p:val>
                                        </p:tav>
                                      </p:tavLst>
                                    </p:anim>
                                    <p:animEffect transition="in" filter="fade">
                                      <p:cBhvr>
                                        <p:cTn id="39" dur="600"/>
                                        <p:tgtEl>
                                          <p:spTgt spid="15"/>
                                        </p:tgtEl>
                                      </p:cBhvr>
                                    </p:animEffect>
                                  </p:childTnLst>
                                </p:cTn>
                              </p:par>
                              <p:par>
                                <p:cTn id="40" presetID="53" presetClass="entr" presetSubtype="16" fill="hold" nodeType="withEffect">
                                  <p:stCondLst>
                                    <p:cond delay="120"/>
                                  </p:stCondLst>
                                  <p:childTnLst>
                                    <p:set>
                                      <p:cBhvr>
                                        <p:cTn id="41" dur="1" fill="hold">
                                          <p:stCondLst>
                                            <p:cond delay="0"/>
                                          </p:stCondLst>
                                        </p:cTn>
                                        <p:tgtEl>
                                          <p:spTgt spid="16"/>
                                        </p:tgtEl>
                                        <p:attrNameLst>
                                          <p:attrName>style.visibility</p:attrName>
                                        </p:attrNameLst>
                                      </p:cBhvr>
                                      <p:to>
                                        <p:strVal val="visible"/>
                                      </p:to>
                                    </p:set>
                                    <p:anim calcmode="lin" valueType="num">
                                      <p:cBhvr>
                                        <p:cTn id="42" dur="600" fill="hold"/>
                                        <p:tgtEl>
                                          <p:spTgt spid="16"/>
                                        </p:tgtEl>
                                        <p:attrNameLst>
                                          <p:attrName>ppt_w</p:attrName>
                                        </p:attrNameLst>
                                      </p:cBhvr>
                                      <p:tavLst>
                                        <p:tav tm="0">
                                          <p:val>
                                            <p:fltVal val="0"/>
                                          </p:val>
                                        </p:tav>
                                        <p:tav tm="100000">
                                          <p:val>
                                            <p:strVal val="#ppt_w"/>
                                          </p:val>
                                        </p:tav>
                                      </p:tavLst>
                                    </p:anim>
                                    <p:anim calcmode="lin" valueType="num">
                                      <p:cBhvr>
                                        <p:cTn id="43" dur="600" fill="hold"/>
                                        <p:tgtEl>
                                          <p:spTgt spid="16"/>
                                        </p:tgtEl>
                                        <p:attrNameLst>
                                          <p:attrName>ppt_h</p:attrName>
                                        </p:attrNameLst>
                                      </p:cBhvr>
                                      <p:tavLst>
                                        <p:tav tm="0">
                                          <p:val>
                                            <p:fltVal val="0"/>
                                          </p:val>
                                        </p:tav>
                                        <p:tav tm="100000">
                                          <p:val>
                                            <p:strVal val="#ppt_h"/>
                                          </p:val>
                                        </p:tav>
                                      </p:tavLst>
                                    </p:anim>
                                    <p:animEffect transition="in" filter="fade">
                                      <p:cBhvr>
                                        <p:cTn id="44" dur="600"/>
                                        <p:tgtEl>
                                          <p:spTgt spid="16"/>
                                        </p:tgtEl>
                                      </p:cBhvr>
                                    </p:animEffect>
                                  </p:childTnLst>
                                </p:cTn>
                              </p:par>
                              <p:par>
                                <p:cTn id="45" presetID="10" presetClass="entr" presetSubtype="0" fill="hold" nodeType="withEffect">
                                  <p:stCondLst>
                                    <p:cond delay="94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400"/>
                                        <p:tgtEl>
                                          <p:spTgt spid="13"/>
                                        </p:tgtEl>
                                      </p:cBhvr>
                                    </p:animEffect>
                                  </p:childTnLst>
                                </p:cTn>
                              </p:par>
                              <p:par>
                                <p:cTn id="48" presetID="10" presetClass="entr" presetSubtype="0" fill="hold" grpId="0" nodeType="withEffect">
                                  <p:stCondLst>
                                    <p:cond delay="24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par>
                                <p:cTn id="51" presetID="10" presetClass="entr" presetSubtype="0" fill="hold" nodeType="withEffect">
                                  <p:stCondLst>
                                    <p:cond delay="94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400"/>
                                        <p:tgtEl>
                                          <p:spTgt spid="17"/>
                                        </p:tgtEl>
                                      </p:cBhvr>
                                    </p:animEffect>
                                  </p:childTnLst>
                                </p:cTn>
                              </p:par>
                              <p:par>
                                <p:cTn id="54" presetID="10" presetClass="entr" presetSubtype="0" fill="hold" grpId="0" nodeType="withEffect">
                                  <p:stCondLst>
                                    <p:cond delay="24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500"/>
                                        <p:tgtEl>
                                          <p:spTgt spid="31"/>
                                        </p:tgtEl>
                                      </p:cBhvr>
                                    </p:animEffect>
                                    <p:anim calcmode="lin" valueType="num">
                                      <p:cBhvr>
                                        <p:cTn id="62" dur="500" fill="hold"/>
                                        <p:tgtEl>
                                          <p:spTgt spid="31"/>
                                        </p:tgtEl>
                                        <p:attrNameLst>
                                          <p:attrName>ppt_x</p:attrName>
                                        </p:attrNameLst>
                                      </p:cBhvr>
                                      <p:tavLst>
                                        <p:tav tm="0">
                                          <p:val>
                                            <p:strVal val="#ppt_x"/>
                                          </p:val>
                                        </p:tav>
                                        <p:tav tm="100000">
                                          <p:val>
                                            <p:strVal val="#ppt_x"/>
                                          </p:val>
                                        </p:tav>
                                      </p:tavLst>
                                    </p:anim>
                                    <p:anim calcmode="lin" valueType="num">
                                      <p:cBhvr>
                                        <p:cTn id="63" dur="500" fill="hold"/>
                                        <p:tgtEl>
                                          <p:spTgt spid="31"/>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6" dur="500"/>
                                        <p:tgtEl>
                                          <p:spTgt spid="32"/>
                                        </p:tgtEl>
                                      </p:cBhvr>
                                    </p:animEffect>
                                    <p:anim calcmode="lin" valueType="num">
                                      <p:cBhvr>
                                        <p:cTn id="67" dur="500" fill="hold"/>
                                        <p:tgtEl>
                                          <p:spTgt spid="32"/>
                                        </p:tgtEl>
                                        <p:attrNameLst>
                                          <p:attrName>ppt_x</p:attrName>
                                        </p:attrNameLst>
                                      </p:cBhvr>
                                      <p:tavLst>
                                        <p:tav tm="0">
                                          <p:val>
                                            <p:strVal val="#ppt_x"/>
                                          </p:val>
                                        </p:tav>
                                        <p:tav tm="100000">
                                          <p:val>
                                            <p:strVal val="#ppt_x"/>
                                          </p:val>
                                        </p:tav>
                                      </p:tavLst>
                                    </p:anim>
                                    <p:anim calcmode="lin" valueType="num">
                                      <p:cBhvr>
                                        <p:cTn id="68" dur="500" fill="hold"/>
                                        <p:tgtEl>
                                          <p:spTgt spid="32"/>
                                        </p:tgtEl>
                                        <p:attrNameLst>
                                          <p:attrName>ppt_y</p:attrName>
                                        </p:attrNameLst>
                                      </p:cBhvr>
                                      <p:tavLst>
                                        <p:tav tm="0">
                                          <p:val>
                                            <p:strVal val="#ppt_y+.1"/>
                                          </p:val>
                                        </p:tav>
                                        <p:tav tm="100000">
                                          <p:val>
                                            <p:strVal val="#ppt_y"/>
                                          </p:val>
                                        </p:tav>
                                      </p:tavLst>
                                    </p:anim>
                                  </p:childTnLst>
                                </p:cTn>
                              </p:par>
                              <p:par>
                                <p:cTn id="69" presetID="53" presetClass="entr" presetSubtype="16" fill="hold" nodeType="withEffect">
                                  <p:stCondLst>
                                    <p:cond delay="120"/>
                                  </p:stCondLst>
                                  <p:childTnLst>
                                    <p:set>
                                      <p:cBhvr>
                                        <p:cTn id="70" dur="1" fill="hold">
                                          <p:stCondLst>
                                            <p:cond delay="0"/>
                                          </p:stCondLst>
                                        </p:cTn>
                                        <p:tgtEl>
                                          <p:spTgt spid="19"/>
                                        </p:tgtEl>
                                        <p:attrNameLst>
                                          <p:attrName>style.visibility</p:attrName>
                                        </p:attrNameLst>
                                      </p:cBhvr>
                                      <p:to>
                                        <p:strVal val="visible"/>
                                      </p:to>
                                    </p:set>
                                    <p:anim calcmode="lin" valueType="num">
                                      <p:cBhvr>
                                        <p:cTn id="71" dur="600" fill="hold"/>
                                        <p:tgtEl>
                                          <p:spTgt spid="19"/>
                                        </p:tgtEl>
                                        <p:attrNameLst>
                                          <p:attrName>ppt_w</p:attrName>
                                        </p:attrNameLst>
                                      </p:cBhvr>
                                      <p:tavLst>
                                        <p:tav tm="0">
                                          <p:val>
                                            <p:fltVal val="0"/>
                                          </p:val>
                                        </p:tav>
                                        <p:tav tm="100000">
                                          <p:val>
                                            <p:strVal val="#ppt_w"/>
                                          </p:val>
                                        </p:tav>
                                      </p:tavLst>
                                    </p:anim>
                                    <p:anim calcmode="lin" valueType="num">
                                      <p:cBhvr>
                                        <p:cTn id="72" dur="600" fill="hold"/>
                                        <p:tgtEl>
                                          <p:spTgt spid="19"/>
                                        </p:tgtEl>
                                        <p:attrNameLst>
                                          <p:attrName>ppt_h</p:attrName>
                                        </p:attrNameLst>
                                      </p:cBhvr>
                                      <p:tavLst>
                                        <p:tav tm="0">
                                          <p:val>
                                            <p:fltVal val="0"/>
                                          </p:val>
                                        </p:tav>
                                        <p:tav tm="100000">
                                          <p:val>
                                            <p:strVal val="#ppt_h"/>
                                          </p:val>
                                        </p:tav>
                                      </p:tavLst>
                                    </p:anim>
                                    <p:animEffect transition="in" filter="fade">
                                      <p:cBhvr>
                                        <p:cTn id="73" dur="600"/>
                                        <p:tgtEl>
                                          <p:spTgt spid="19"/>
                                        </p:tgtEl>
                                      </p:cBhvr>
                                    </p:animEffect>
                                  </p:childTnLst>
                                </p:cTn>
                              </p:par>
                              <p:par>
                                <p:cTn id="74" presetID="53" presetClass="entr" presetSubtype="16" fill="hold" nodeType="withEffect">
                                  <p:stCondLst>
                                    <p:cond delay="120"/>
                                  </p:stCondLst>
                                  <p:childTnLst>
                                    <p:set>
                                      <p:cBhvr>
                                        <p:cTn id="75" dur="1" fill="hold">
                                          <p:stCondLst>
                                            <p:cond delay="0"/>
                                          </p:stCondLst>
                                        </p:cTn>
                                        <p:tgtEl>
                                          <p:spTgt spid="20"/>
                                        </p:tgtEl>
                                        <p:attrNameLst>
                                          <p:attrName>style.visibility</p:attrName>
                                        </p:attrNameLst>
                                      </p:cBhvr>
                                      <p:to>
                                        <p:strVal val="visible"/>
                                      </p:to>
                                    </p:set>
                                    <p:anim calcmode="lin" valueType="num">
                                      <p:cBhvr>
                                        <p:cTn id="76" dur="600" fill="hold"/>
                                        <p:tgtEl>
                                          <p:spTgt spid="20"/>
                                        </p:tgtEl>
                                        <p:attrNameLst>
                                          <p:attrName>ppt_w</p:attrName>
                                        </p:attrNameLst>
                                      </p:cBhvr>
                                      <p:tavLst>
                                        <p:tav tm="0">
                                          <p:val>
                                            <p:fltVal val="0"/>
                                          </p:val>
                                        </p:tav>
                                        <p:tav tm="100000">
                                          <p:val>
                                            <p:strVal val="#ppt_w"/>
                                          </p:val>
                                        </p:tav>
                                      </p:tavLst>
                                    </p:anim>
                                    <p:anim calcmode="lin" valueType="num">
                                      <p:cBhvr>
                                        <p:cTn id="77" dur="600" fill="hold"/>
                                        <p:tgtEl>
                                          <p:spTgt spid="20"/>
                                        </p:tgtEl>
                                        <p:attrNameLst>
                                          <p:attrName>ppt_h</p:attrName>
                                        </p:attrNameLst>
                                      </p:cBhvr>
                                      <p:tavLst>
                                        <p:tav tm="0">
                                          <p:val>
                                            <p:fltVal val="0"/>
                                          </p:val>
                                        </p:tav>
                                        <p:tav tm="100000">
                                          <p:val>
                                            <p:strVal val="#ppt_h"/>
                                          </p:val>
                                        </p:tav>
                                      </p:tavLst>
                                    </p:anim>
                                    <p:animEffect transition="in" filter="fade">
                                      <p:cBhvr>
                                        <p:cTn id="78" dur="600"/>
                                        <p:tgtEl>
                                          <p:spTgt spid="20"/>
                                        </p:tgtEl>
                                      </p:cBhvr>
                                    </p:animEffect>
                                  </p:childTnLst>
                                </p:cTn>
                              </p:par>
                              <p:par>
                                <p:cTn id="79" presetID="10" presetClass="entr" presetSubtype="0" fill="hold" nodeType="withEffect">
                                  <p:stCondLst>
                                    <p:cond delay="940"/>
                                  </p:stCondLst>
                                  <p:childTnLst>
                                    <p:set>
                                      <p:cBhvr>
                                        <p:cTn id="80" dur="1" fill="hold">
                                          <p:stCondLst>
                                            <p:cond delay="0"/>
                                          </p:stCondLst>
                                        </p:cTn>
                                        <p:tgtEl>
                                          <p:spTgt spid="21"/>
                                        </p:tgtEl>
                                        <p:attrNameLst>
                                          <p:attrName>style.visibility</p:attrName>
                                        </p:attrNameLst>
                                      </p:cBhvr>
                                      <p:to>
                                        <p:strVal val="visible"/>
                                      </p:to>
                                    </p:set>
                                    <p:animEffect transition="in" filter="fade">
                                      <p:cBhvr>
                                        <p:cTn id="81" dur="400"/>
                                        <p:tgtEl>
                                          <p:spTgt spid="21"/>
                                        </p:tgtEl>
                                      </p:cBhvr>
                                    </p:animEffect>
                                  </p:childTnLst>
                                </p:cTn>
                              </p:par>
                              <p:par>
                                <p:cTn id="82" presetID="10" presetClass="entr" presetSubtype="0" fill="hold" grpId="0" nodeType="withEffect">
                                  <p:stCondLst>
                                    <p:cond delay="240"/>
                                  </p:stCondLst>
                                  <p:childTnLst>
                                    <p:set>
                                      <p:cBhvr>
                                        <p:cTn id="83" dur="1" fill="hold">
                                          <p:stCondLst>
                                            <p:cond delay="0"/>
                                          </p:stCondLst>
                                        </p:cTn>
                                        <p:tgtEl>
                                          <p:spTgt spid="22"/>
                                        </p:tgtEl>
                                        <p:attrNameLst>
                                          <p:attrName>style.visibility</p:attrName>
                                        </p:attrNameLst>
                                      </p:cBhvr>
                                      <p:to>
                                        <p:strVal val="visible"/>
                                      </p:to>
                                    </p:set>
                                    <p:animEffect transition="in" filter="fade">
                                      <p:cBhvr>
                                        <p:cTn id="84" dur="500"/>
                                        <p:tgtEl>
                                          <p:spTgt spid="22"/>
                                        </p:tgtEl>
                                      </p:cBhvr>
                                    </p:animEffect>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500"/>
                                        <p:tgtEl>
                                          <p:spTgt spid="33"/>
                                        </p:tgtEl>
                                      </p:cBhvr>
                                    </p:animEffect>
                                    <p:anim calcmode="lin" valueType="num">
                                      <p:cBhvr>
                                        <p:cTn id="90" dur="500" fill="hold"/>
                                        <p:tgtEl>
                                          <p:spTgt spid="33"/>
                                        </p:tgtEl>
                                        <p:attrNameLst>
                                          <p:attrName>ppt_x</p:attrName>
                                        </p:attrNameLst>
                                      </p:cBhvr>
                                      <p:tavLst>
                                        <p:tav tm="0">
                                          <p:val>
                                            <p:strVal val="#ppt_x"/>
                                          </p:val>
                                        </p:tav>
                                        <p:tav tm="100000">
                                          <p:val>
                                            <p:strVal val="#ppt_x"/>
                                          </p:val>
                                        </p:tav>
                                      </p:tavLst>
                                    </p:anim>
                                    <p:anim calcmode="lin" valueType="num">
                                      <p:cBhvr>
                                        <p:cTn id="91" dur="500" fill="hold"/>
                                        <p:tgtEl>
                                          <p:spTgt spid="33"/>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anim calcmode="lin" valueType="num">
                                      <p:cBhvr>
                                        <p:cTn id="95" dur="500" fill="hold"/>
                                        <p:tgtEl>
                                          <p:spTgt spid="34"/>
                                        </p:tgtEl>
                                        <p:attrNameLst>
                                          <p:attrName>ppt_x</p:attrName>
                                        </p:attrNameLst>
                                      </p:cBhvr>
                                      <p:tavLst>
                                        <p:tav tm="0">
                                          <p:val>
                                            <p:strVal val="#ppt_x"/>
                                          </p:val>
                                        </p:tav>
                                        <p:tav tm="100000">
                                          <p:val>
                                            <p:strVal val="#ppt_x"/>
                                          </p:val>
                                        </p:tav>
                                      </p:tavLst>
                                    </p:anim>
                                    <p:anim calcmode="lin" valueType="num">
                                      <p:cBhvr>
                                        <p:cTn id="96" dur="500" fill="hold"/>
                                        <p:tgtEl>
                                          <p:spTgt spid="34"/>
                                        </p:tgtEl>
                                        <p:attrNameLst>
                                          <p:attrName>ppt_y</p:attrName>
                                        </p:attrNameLst>
                                      </p:cBhvr>
                                      <p:tavLst>
                                        <p:tav tm="0">
                                          <p:val>
                                            <p:strVal val="#ppt_y+.1"/>
                                          </p:val>
                                        </p:tav>
                                        <p:tav tm="100000">
                                          <p:val>
                                            <p:strVal val="#ppt_y"/>
                                          </p:val>
                                        </p:tav>
                                      </p:tavLst>
                                    </p:anim>
                                  </p:childTnLst>
                                </p:cTn>
                              </p:par>
                              <p:par>
                                <p:cTn id="97" presetID="53" presetClass="entr" presetSubtype="16" fill="hold" nodeType="withEffect">
                                  <p:stCondLst>
                                    <p:cond delay="120"/>
                                  </p:stCondLst>
                                  <p:childTnLst>
                                    <p:set>
                                      <p:cBhvr>
                                        <p:cTn id="98" dur="1" fill="hold">
                                          <p:stCondLst>
                                            <p:cond delay="0"/>
                                          </p:stCondLst>
                                        </p:cTn>
                                        <p:tgtEl>
                                          <p:spTgt spid="23"/>
                                        </p:tgtEl>
                                        <p:attrNameLst>
                                          <p:attrName>style.visibility</p:attrName>
                                        </p:attrNameLst>
                                      </p:cBhvr>
                                      <p:to>
                                        <p:strVal val="visible"/>
                                      </p:to>
                                    </p:set>
                                    <p:anim calcmode="lin" valueType="num">
                                      <p:cBhvr>
                                        <p:cTn id="99" dur="600" fill="hold"/>
                                        <p:tgtEl>
                                          <p:spTgt spid="23"/>
                                        </p:tgtEl>
                                        <p:attrNameLst>
                                          <p:attrName>ppt_w</p:attrName>
                                        </p:attrNameLst>
                                      </p:cBhvr>
                                      <p:tavLst>
                                        <p:tav tm="0">
                                          <p:val>
                                            <p:fltVal val="0"/>
                                          </p:val>
                                        </p:tav>
                                        <p:tav tm="100000">
                                          <p:val>
                                            <p:strVal val="#ppt_w"/>
                                          </p:val>
                                        </p:tav>
                                      </p:tavLst>
                                    </p:anim>
                                    <p:anim calcmode="lin" valueType="num">
                                      <p:cBhvr>
                                        <p:cTn id="100" dur="600" fill="hold"/>
                                        <p:tgtEl>
                                          <p:spTgt spid="23"/>
                                        </p:tgtEl>
                                        <p:attrNameLst>
                                          <p:attrName>ppt_h</p:attrName>
                                        </p:attrNameLst>
                                      </p:cBhvr>
                                      <p:tavLst>
                                        <p:tav tm="0">
                                          <p:val>
                                            <p:fltVal val="0"/>
                                          </p:val>
                                        </p:tav>
                                        <p:tav tm="100000">
                                          <p:val>
                                            <p:strVal val="#ppt_h"/>
                                          </p:val>
                                        </p:tav>
                                      </p:tavLst>
                                    </p:anim>
                                    <p:animEffect transition="in" filter="fade">
                                      <p:cBhvr>
                                        <p:cTn id="101" dur="600"/>
                                        <p:tgtEl>
                                          <p:spTgt spid="23"/>
                                        </p:tgtEl>
                                      </p:cBhvr>
                                    </p:animEffect>
                                  </p:childTnLst>
                                </p:cTn>
                              </p:par>
                              <p:par>
                                <p:cTn id="102" presetID="53" presetClass="entr" presetSubtype="16" fill="hold" nodeType="withEffect">
                                  <p:stCondLst>
                                    <p:cond delay="120"/>
                                  </p:stCondLst>
                                  <p:childTnLst>
                                    <p:set>
                                      <p:cBhvr>
                                        <p:cTn id="103" dur="1" fill="hold">
                                          <p:stCondLst>
                                            <p:cond delay="0"/>
                                          </p:stCondLst>
                                        </p:cTn>
                                        <p:tgtEl>
                                          <p:spTgt spid="24"/>
                                        </p:tgtEl>
                                        <p:attrNameLst>
                                          <p:attrName>style.visibility</p:attrName>
                                        </p:attrNameLst>
                                      </p:cBhvr>
                                      <p:to>
                                        <p:strVal val="visible"/>
                                      </p:to>
                                    </p:set>
                                    <p:anim calcmode="lin" valueType="num">
                                      <p:cBhvr>
                                        <p:cTn id="104" dur="600" fill="hold"/>
                                        <p:tgtEl>
                                          <p:spTgt spid="24"/>
                                        </p:tgtEl>
                                        <p:attrNameLst>
                                          <p:attrName>ppt_w</p:attrName>
                                        </p:attrNameLst>
                                      </p:cBhvr>
                                      <p:tavLst>
                                        <p:tav tm="0">
                                          <p:val>
                                            <p:fltVal val="0"/>
                                          </p:val>
                                        </p:tav>
                                        <p:tav tm="100000">
                                          <p:val>
                                            <p:strVal val="#ppt_w"/>
                                          </p:val>
                                        </p:tav>
                                      </p:tavLst>
                                    </p:anim>
                                    <p:anim calcmode="lin" valueType="num">
                                      <p:cBhvr>
                                        <p:cTn id="105" dur="600" fill="hold"/>
                                        <p:tgtEl>
                                          <p:spTgt spid="24"/>
                                        </p:tgtEl>
                                        <p:attrNameLst>
                                          <p:attrName>ppt_h</p:attrName>
                                        </p:attrNameLst>
                                      </p:cBhvr>
                                      <p:tavLst>
                                        <p:tav tm="0">
                                          <p:val>
                                            <p:fltVal val="0"/>
                                          </p:val>
                                        </p:tav>
                                        <p:tav tm="100000">
                                          <p:val>
                                            <p:strVal val="#ppt_h"/>
                                          </p:val>
                                        </p:tav>
                                      </p:tavLst>
                                    </p:anim>
                                    <p:animEffect transition="in" filter="fade">
                                      <p:cBhvr>
                                        <p:cTn id="106" dur="600"/>
                                        <p:tgtEl>
                                          <p:spTgt spid="24"/>
                                        </p:tgtEl>
                                      </p:cBhvr>
                                    </p:animEffect>
                                  </p:childTnLst>
                                </p:cTn>
                              </p:par>
                              <p:par>
                                <p:cTn id="107" presetID="10" presetClass="entr" presetSubtype="0" fill="hold" nodeType="withEffect">
                                  <p:stCondLst>
                                    <p:cond delay="940"/>
                                  </p:stCondLst>
                                  <p:childTnLst>
                                    <p:set>
                                      <p:cBhvr>
                                        <p:cTn id="108" dur="1" fill="hold">
                                          <p:stCondLst>
                                            <p:cond delay="0"/>
                                          </p:stCondLst>
                                        </p:cTn>
                                        <p:tgtEl>
                                          <p:spTgt spid="25"/>
                                        </p:tgtEl>
                                        <p:attrNameLst>
                                          <p:attrName>style.visibility</p:attrName>
                                        </p:attrNameLst>
                                      </p:cBhvr>
                                      <p:to>
                                        <p:strVal val="visible"/>
                                      </p:to>
                                    </p:set>
                                    <p:animEffect transition="in" filter="fade">
                                      <p:cBhvr>
                                        <p:cTn id="109" dur="400"/>
                                        <p:tgtEl>
                                          <p:spTgt spid="25"/>
                                        </p:tgtEl>
                                      </p:cBhvr>
                                    </p:animEffect>
                                  </p:childTnLst>
                                </p:cTn>
                              </p:par>
                              <p:par>
                                <p:cTn id="110" presetID="10" presetClass="entr" presetSubtype="0" fill="hold" grpId="0" nodeType="withEffect">
                                  <p:stCondLst>
                                    <p:cond delay="24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animBg="1"/>
      <p:bldP spid="22"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8F4"/>
        </a:solidFill>
        <a:effectLst/>
      </p:bgPr>
    </p:bg>
    <p:spTree>
      <p:nvGrpSpPr>
        <p:cNvPr id="1" name=""/>
        <p:cNvGrpSpPr/>
        <p:nvPr/>
      </p:nvGrpSpPr>
      <p:grpSpPr>
        <a:xfrm>
          <a:off x="0" y="0"/>
          <a:ext cx="0" cy="0"/>
          <a:chOff x="0" y="0"/>
          <a:chExt cx="0" cy="0"/>
        </a:xfrm>
      </p:grpSpPr>
      <p:sp>
        <p:nvSpPr>
          <p:cNvPr id="2" name="!!TopBar"/>
          <p:cNvSpPr/>
          <p:nvPr/>
        </p:nvSpPr>
        <p:spPr>
          <a:xfrm>
            <a:off x="0" y="0"/>
            <a:ext cx="12191695" cy="91440"/>
          </a:xfrm>
          <a:prstGeom prst="rect">
            <a:avLst/>
          </a:prstGeom>
          <a:solidFill>
            <a:srgbClr val="12201B"/>
          </a:solidFill>
          <a:ln/>
        </p:spPr>
      </p:sp>
      <p:sp>
        <p:nvSpPr>
          <p:cNvPr id="3" name="!!LogoBg"/>
          <p:cNvSpPr/>
          <p:nvPr/>
        </p:nvSpPr>
        <p:spPr>
          <a:xfrm>
            <a:off x="11256264" y="274320"/>
            <a:ext cx="402336" cy="402336"/>
          </a:xfrm>
          <a:prstGeom prst="ellipse">
            <a:avLst/>
          </a:prstGeom>
          <a:solidFill>
            <a:srgbClr val="FFFFFF"/>
          </a:solidFill>
          <a:ln/>
        </p:spPr>
      </p:sp>
      <p:pic>
        <p:nvPicPr>
          <p:cNvPr id="4" name="!!Logo" descr="Logo Trường Đại học Trà Vinh"/>
          <p:cNvPicPr>
            <a:picLocks noChangeAspect="1"/>
          </p:cNvPicPr>
          <p:nvPr/>
        </p:nvPicPr>
        <p:blipFill>
          <a:blip r:embed="rId3"/>
          <a:stretch>
            <a:fillRect/>
          </a:stretch>
        </p:blipFill>
        <p:spPr>
          <a:xfrm>
            <a:off x="11269980" y="288036"/>
            <a:ext cx="374904" cy="374904"/>
          </a:xfrm>
          <a:prstGeom prst="rect">
            <a:avLst/>
          </a:prstGeom>
        </p:spPr>
      </p:pic>
      <p:sp>
        <p:nvSpPr>
          <p:cNvPr id="5" name="!!Label"/>
          <p:cNvSpPr txBox="1"/>
          <p:nvPr/>
        </p:nvSpPr>
        <p:spPr>
          <a:xfrm>
            <a:off x="8138160" y="365760"/>
            <a:ext cx="2971800" cy="274320"/>
          </a:xfrm>
          <a:prstGeom prst="rect">
            <a:avLst/>
          </a:prstGeom>
          <a:noFill/>
          <a:ln/>
        </p:spPr>
        <p:txBody>
          <a:bodyPr wrap="square" lIns="0" tIns="0" rIns="0" bIns="0" rtlCol="0" anchor="t"/>
          <a:lstStyle/>
          <a:p>
            <a:pPr marL="0" indent="0" algn="r">
              <a:buNone/>
            </a:pPr>
            <a:r>
              <a:rPr lang="en-US" sz="1000" b="1" kern="0" spc="150" dirty="0">
                <a:solidFill>
                  <a:srgbClr val="43705F"/>
                </a:solidFill>
                <a:latin typeface="Segoe UI" pitchFamily="34" charset="0"/>
                <a:ea typeface="Segoe UI" pitchFamily="34" charset="-122"/>
                <a:cs typeface="Segoe UI" pitchFamily="34" charset="-120"/>
              </a:rPr>
              <a:t>BẢO MẬT</a:t>
            </a:r>
            <a:endParaRPr lang="en-US" sz="1000" dirty="0"/>
          </a:p>
        </p:txBody>
      </p:sp>
      <p:sp>
        <p:nvSpPr>
          <p:cNvPr id="6" name="!!Title"/>
          <p:cNvSpPr txBox="1"/>
          <p:nvPr/>
        </p:nvSpPr>
        <p:spPr>
          <a:xfrm>
            <a:off x="548640" y="329184"/>
            <a:ext cx="8138160" cy="548640"/>
          </a:xfrm>
          <a:prstGeom prst="rect">
            <a:avLst/>
          </a:prstGeom>
          <a:noFill/>
          <a:ln/>
        </p:spPr>
        <p:txBody>
          <a:bodyPr wrap="square" lIns="0" tIns="0" rIns="0" bIns="0" rtlCol="0" anchor="t"/>
          <a:lstStyle/>
          <a:p>
            <a:pPr marL="0" indent="0">
              <a:buNone/>
            </a:pPr>
            <a:r>
              <a:rPr lang="en-US" sz="2800" b="1" dirty="0">
                <a:solidFill>
                  <a:srgbClr val="1C2B25"/>
                </a:solidFill>
                <a:latin typeface="Cambria" pitchFamily="34" charset="0"/>
                <a:ea typeface="Cambria" pitchFamily="34" charset="-122"/>
                <a:cs typeface="Cambria" pitchFamily="34" charset="-120"/>
              </a:rPr>
              <a:t>Tách cổng quản trị và bảo mật</a:t>
            </a:r>
            <a:endParaRPr lang="en-US" sz="2800" dirty="0"/>
          </a:p>
        </p:txBody>
      </p:sp>
      <p:sp>
        <p:nvSpPr>
          <p:cNvPr id="7" name="!!Subtitle"/>
          <p:cNvSpPr txBox="1"/>
          <p:nvPr/>
        </p:nvSpPr>
        <p:spPr>
          <a:xfrm>
            <a:off x="548640" y="914400"/>
            <a:ext cx="10241280" cy="274320"/>
          </a:xfrm>
          <a:prstGeom prst="rect">
            <a:avLst/>
          </a:prstGeom>
          <a:noFill/>
          <a:ln/>
        </p:spPr>
        <p:txBody>
          <a:bodyPr wrap="square" lIns="0" tIns="0" rIns="0" bIns="0" rtlCol="0" anchor="t"/>
          <a:lstStyle/>
          <a:p>
            <a:pPr marL="0" indent="0">
              <a:buNone/>
            </a:pPr>
            <a:r>
              <a:rPr lang="en-US" sz="1250" dirty="0">
                <a:solidFill>
                  <a:srgbClr val="4E5B54"/>
                </a:solidFill>
                <a:latin typeface="Segoe UI" pitchFamily="34" charset="0"/>
                <a:ea typeface="Segoe UI" pitchFamily="34" charset="-122"/>
                <a:cs typeface="Segoe UI" pitchFamily="34" charset="-120"/>
              </a:rPr>
              <a:t>Đường dẫn quản trị trên cổng công khai trả lời y như một địa chỉ không có thật</a:t>
            </a:r>
            <a:endParaRPr lang="en-US" sz="1250" dirty="0"/>
          </a:p>
        </p:txBody>
      </p:sp>
      <p:sp>
        <p:nvSpPr>
          <p:cNvPr id="8" name="!!Accent"/>
          <p:cNvSpPr/>
          <p:nvPr/>
        </p:nvSpPr>
        <p:spPr>
          <a:xfrm>
            <a:off x="548640" y="1280160"/>
            <a:ext cx="1005840" cy="45720"/>
          </a:xfrm>
          <a:prstGeom prst="rect">
            <a:avLst/>
          </a:prstGeom>
          <a:solidFill>
            <a:srgbClr val="43705F"/>
          </a:solidFill>
          <a:ln/>
        </p:spPr>
      </p:sp>
      <p:sp>
        <p:nvSpPr>
          <p:cNvPr id="9" name="!!Footer"/>
          <p:cNvSpPr txBox="1"/>
          <p:nvPr/>
        </p:nvSpPr>
        <p:spPr>
          <a:xfrm>
            <a:off x="548640" y="6455664"/>
            <a:ext cx="7315200" cy="219456"/>
          </a:xfrm>
          <a:prstGeom prst="rect">
            <a:avLst/>
          </a:prstGeom>
          <a:noFill/>
          <a:ln/>
        </p:spPr>
        <p:txBody>
          <a:bodyPr wrap="square" lIns="0" tIns="0" rIns="0" bIns="0" rtlCol="0" anchor="t"/>
          <a:lstStyle/>
          <a:p>
            <a:pPr marL="0" indent="0">
              <a:buNone/>
            </a:pPr>
            <a:r>
              <a:rPr lang="en-US" sz="900" dirty="0">
                <a:solidFill>
                  <a:srgbClr val="4E5B54"/>
                </a:solidFill>
                <a:latin typeface="Segoe UI" pitchFamily="34" charset="0"/>
                <a:ea typeface="Segoe UI" pitchFamily="34" charset="-122"/>
                <a:cs typeface="Segoe UI" pitchFamily="34" charset="-120"/>
              </a:rPr>
              <a:t>Đồ án thực tập cơ sở ngành · Website di tích Việt Nam</a:t>
            </a:r>
            <a:endParaRPr lang="en-US" sz="900" dirty="0"/>
          </a:p>
        </p:txBody>
      </p:sp>
      <p:sp>
        <p:nvSpPr>
          <p:cNvPr id="10" name="!!PageNum"/>
          <p:cNvSpPr txBox="1"/>
          <p:nvPr/>
        </p:nvSpPr>
        <p:spPr>
          <a:xfrm>
            <a:off x="11091672" y="6455664"/>
            <a:ext cx="548640" cy="219456"/>
          </a:xfrm>
          <a:prstGeom prst="rect">
            <a:avLst/>
          </a:prstGeom>
          <a:noFill/>
          <a:ln/>
        </p:spPr>
        <p:txBody>
          <a:bodyPr wrap="square" lIns="0" tIns="0" rIns="0" bIns="0" rtlCol="0" anchor="t"/>
          <a:lstStyle/>
          <a:p>
            <a:pPr marL="0" indent="0" algn="r">
              <a:buNone/>
            </a:pPr>
            <a:r>
              <a:rPr lang="en-US" sz="900" dirty="0">
                <a:solidFill>
                  <a:srgbClr val="4E5B54"/>
                </a:solidFill>
                <a:latin typeface="Segoe UI" pitchFamily="34" charset="0"/>
                <a:ea typeface="Segoe UI" pitchFamily="34" charset="-122"/>
                <a:cs typeface="Segoe UI" pitchFamily="34" charset="-120"/>
              </a:rPr>
              <a:t>12</a:t>
            </a:r>
            <a:endParaRPr lang="en-US" sz="900" dirty="0"/>
          </a:p>
        </p:txBody>
      </p:sp>
      <p:sp>
        <p:nvSpPr>
          <p:cNvPr id="11" name="S12 Rectangle 11"/>
          <p:cNvSpPr/>
          <p:nvPr/>
        </p:nvSpPr>
        <p:spPr>
          <a:xfrm>
            <a:off x="548640" y="1572768"/>
            <a:ext cx="2103120" cy="1051560"/>
          </a:xfrm>
          <a:prstGeom prst="rect">
            <a:avLst/>
          </a:prstGeom>
          <a:solidFill>
            <a:srgbClr val="43705F"/>
          </a:solidFill>
          <a:ln/>
        </p:spPr>
        <p:txBody>
          <a:bodyPr wrap="square" lIns="0" tIns="0" rIns="0" bIns="0" rtlCol="0" anchor="ctr"/>
          <a:lstStyle/>
          <a:p>
            <a:pPr marL="0" indent="0" algn="ctr">
              <a:buNone/>
            </a:pPr>
            <a:r>
              <a:rPr lang="en-US" sz="2100" b="1" dirty="0">
                <a:solidFill>
                  <a:srgbClr val="F8F8F4"/>
                </a:solidFill>
                <a:latin typeface="Cambria" pitchFamily="34" charset="0"/>
                <a:ea typeface="Cambria" pitchFamily="34" charset="-122"/>
                <a:cs typeface="Cambria" pitchFamily="34" charset="-120"/>
              </a:rPr>
              <a:t>Cổng 5112</a:t>
            </a:r>
            <a:endParaRPr lang="en-US" sz="2100" dirty="0"/>
          </a:p>
          <a:p>
            <a:pPr marL="0" indent="0" algn="ctr">
              <a:buNone/>
            </a:pPr>
            <a:r>
              <a:rPr lang="en-US" sz="1200" dirty="0">
                <a:solidFill>
                  <a:srgbClr val="F8F8F4"/>
                </a:solidFill>
                <a:latin typeface="Segoe UI" pitchFamily="34" charset="0"/>
                <a:ea typeface="Segoe UI" pitchFamily="34" charset="-122"/>
                <a:cs typeface="Segoe UI" pitchFamily="34" charset="-120"/>
              </a:rPr>
              <a:t>Khu công khai</a:t>
            </a:r>
            <a:endParaRPr lang="en-US" sz="2100" dirty="0"/>
          </a:p>
        </p:txBody>
      </p:sp>
      <p:sp>
        <p:nvSpPr>
          <p:cNvPr id="12" name="S12 TextBox 12"/>
          <p:cNvSpPr txBox="1"/>
          <p:nvPr/>
        </p:nvSpPr>
        <p:spPr>
          <a:xfrm>
            <a:off x="2834640" y="1572768"/>
            <a:ext cx="3840480" cy="1051560"/>
          </a:xfrm>
          <a:prstGeom prst="rect">
            <a:avLst/>
          </a:prstGeom>
          <a:noFill/>
          <a:ln/>
        </p:spPr>
        <p:txBody>
          <a:bodyPr wrap="square" lIns="0" tIns="0" rIns="0" bIns="0" rtlCol="0" anchor="ctr"/>
          <a:lstStyle/>
          <a:p>
            <a:pPr marL="0" indent="0">
              <a:buNone/>
            </a:pPr>
            <a:r>
              <a:rPr lang="en-US" sz="1350" dirty="0">
                <a:solidFill>
                  <a:srgbClr val="1C2B25"/>
                </a:solidFill>
                <a:latin typeface="Segoe UI" pitchFamily="34" charset="0"/>
                <a:ea typeface="Segoe UI" pitchFamily="34" charset="-122"/>
                <a:cs typeface="Segoe UI" pitchFamily="34" charset="-120"/>
              </a:rPr>
              <a:t>Mở cho khách tra cứu; đường dẫn quản trị ở đây trả </a:t>
            </a:r>
            <a:r>
              <a:rPr lang="en-US" sz="1350" b="1" dirty="0">
                <a:solidFill>
                  <a:srgbClr val="9E2B25"/>
                </a:solidFill>
                <a:latin typeface="Segoe UI" pitchFamily="34" charset="0"/>
                <a:ea typeface="Segoe UI" pitchFamily="34" charset="-122"/>
                <a:cs typeface="Segoe UI" pitchFamily="34" charset="-120"/>
              </a:rPr>
              <a:t>404</a:t>
            </a:r>
            <a:endParaRPr lang="en-US" sz="1350" dirty="0"/>
          </a:p>
        </p:txBody>
      </p:sp>
      <p:sp>
        <p:nvSpPr>
          <p:cNvPr id="13" name="S12 Rectangle 13"/>
          <p:cNvSpPr/>
          <p:nvPr/>
        </p:nvSpPr>
        <p:spPr>
          <a:xfrm>
            <a:off x="548640" y="2761488"/>
            <a:ext cx="2103120" cy="1051560"/>
          </a:xfrm>
          <a:prstGeom prst="rect">
            <a:avLst/>
          </a:prstGeom>
          <a:solidFill>
            <a:srgbClr val="9E2B25"/>
          </a:solidFill>
          <a:ln/>
        </p:spPr>
        <p:txBody>
          <a:bodyPr wrap="square" lIns="0" tIns="0" rIns="0" bIns="0" rtlCol="0" anchor="ctr"/>
          <a:lstStyle/>
          <a:p>
            <a:pPr marL="0" indent="0" algn="ctr">
              <a:buNone/>
            </a:pPr>
            <a:r>
              <a:rPr lang="en-US" sz="2100" b="1" dirty="0">
                <a:solidFill>
                  <a:srgbClr val="F8F8F4"/>
                </a:solidFill>
                <a:latin typeface="Cambria" pitchFamily="34" charset="0"/>
                <a:ea typeface="Cambria" pitchFamily="34" charset="-122"/>
                <a:cs typeface="Cambria" pitchFamily="34" charset="-120"/>
              </a:rPr>
              <a:t>Cổng 5113</a:t>
            </a:r>
            <a:endParaRPr lang="en-US" sz="2100" dirty="0"/>
          </a:p>
          <a:p>
            <a:pPr marL="0" indent="0" algn="ctr">
              <a:buNone/>
            </a:pPr>
            <a:r>
              <a:rPr lang="en-US" sz="1200" dirty="0">
                <a:solidFill>
                  <a:srgbClr val="F8F8F4"/>
                </a:solidFill>
                <a:latin typeface="Segoe UI" pitchFamily="34" charset="0"/>
                <a:ea typeface="Segoe UI" pitchFamily="34" charset="-122"/>
                <a:cs typeface="Segoe UI" pitchFamily="34" charset="-120"/>
              </a:rPr>
              <a:t>Khu quản trị</a:t>
            </a:r>
            <a:endParaRPr lang="en-US" sz="2100" dirty="0"/>
          </a:p>
        </p:txBody>
      </p:sp>
      <p:sp>
        <p:nvSpPr>
          <p:cNvPr id="14" name="S12 TextBox 14"/>
          <p:cNvSpPr txBox="1"/>
          <p:nvPr/>
        </p:nvSpPr>
        <p:spPr>
          <a:xfrm>
            <a:off x="2834640" y="2761488"/>
            <a:ext cx="3840480" cy="1051560"/>
          </a:xfrm>
          <a:prstGeom prst="rect">
            <a:avLst/>
          </a:prstGeom>
          <a:noFill/>
          <a:ln/>
        </p:spPr>
        <p:txBody>
          <a:bodyPr wrap="square" lIns="0" tIns="0" rIns="0" bIns="0" rtlCol="0" anchor="ctr"/>
          <a:lstStyle/>
          <a:p>
            <a:pPr marL="0" indent="0">
              <a:buNone/>
            </a:pPr>
            <a:r>
              <a:rPr lang="en-US" sz="1350" dirty="0">
                <a:solidFill>
                  <a:srgbClr val="1C2B25"/>
                </a:solidFill>
                <a:latin typeface="Segoe UI" pitchFamily="34" charset="0"/>
                <a:ea typeface="Segoe UI" pitchFamily="34" charset="-122"/>
                <a:cs typeface="Segoe UI" pitchFamily="34" charset="-120"/>
              </a:rPr>
              <a:t>Chỉ nhận kết nối </a:t>
            </a:r>
            <a:r>
              <a:rPr lang="en-US" sz="1350" b="1" dirty="0">
                <a:solidFill>
                  <a:srgbClr val="9E2B25"/>
                </a:solidFill>
                <a:latin typeface="Segoe UI" pitchFamily="34" charset="0"/>
                <a:ea typeface="Segoe UI" pitchFamily="34" charset="-122"/>
                <a:cs typeface="Segoe UI" pitchFamily="34" charset="-120"/>
              </a:rPr>
              <a:t>từ chính máy</a:t>
            </a:r>
            <a:r>
              <a:rPr lang="en-US" sz="1350" dirty="0">
                <a:solidFill>
                  <a:srgbClr val="1C2B25"/>
                </a:solidFill>
                <a:latin typeface="Segoe UI" pitchFamily="34" charset="0"/>
                <a:ea typeface="Segoe UI" pitchFamily="34" charset="-122"/>
                <a:cs typeface="Segoe UI" pitchFamily="34" charset="-120"/>
              </a:rPr>
              <a:t> chạy ứng dụng, đòi vai trò Admin</a:t>
            </a:r>
            <a:endParaRPr lang="en-US" sz="1350" dirty="0"/>
          </a:p>
        </p:txBody>
      </p:sp>
      <p:pic>
        <p:nvPicPr>
          <p:cNvPr id="15" name="S12 Picture 15" descr="Đường dẫn quản trị trên cổng công khai"/>
          <p:cNvPicPr>
            <a:picLocks noChangeAspect="1"/>
          </p:cNvPicPr>
          <p:nvPr/>
        </p:nvPicPr>
        <p:blipFill>
          <a:blip r:embed="rId4"/>
          <a:stretch>
            <a:fillRect/>
          </a:stretch>
        </p:blipFill>
        <p:spPr>
          <a:xfrm>
            <a:off x="548640" y="4069080"/>
            <a:ext cx="3749040" cy="2107692"/>
          </a:xfrm>
          <a:prstGeom prst="rect">
            <a:avLst/>
          </a:prstGeom>
        </p:spPr>
      </p:pic>
      <p:sp>
        <p:nvSpPr>
          <p:cNvPr id="16" name="S12 Rectangle 16"/>
          <p:cNvSpPr/>
          <p:nvPr/>
        </p:nvSpPr>
        <p:spPr>
          <a:xfrm>
            <a:off x="548640" y="4069080"/>
            <a:ext cx="3749040" cy="2107692"/>
          </a:xfrm>
          <a:prstGeom prst="rect">
            <a:avLst/>
          </a:prstGeom>
          <a:ln w="9525">
            <a:solidFill>
              <a:srgbClr val="C9CDC2"/>
            </a:solidFill>
            <a:prstDash val="solid"/>
          </a:ln>
        </p:spPr>
      </p:sp>
      <p:sp>
        <p:nvSpPr>
          <p:cNvPr id="17" name="S12 Rounded Rectangle 17"/>
          <p:cNvSpPr/>
          <p:nvPr/>
        </p:nvSpPr>
        <p:spPr>
          <a:xfrm>
            <a:off x="845064" y="4420394"/>
            <a:ext cx="1383221" cy="219536"/>
          </a:xfrm>
          <a:prstGeom prst="roundRect">
            <a:avLst>
              <a:gd name="adj" fmla="val 12495"/>
            </a:avLst>
          </a:prstGeom>
          <a:ln w="25400">
            <a:solidFill>
              <a:srgbClr val="9E2B25"/>
            </a:solidFill>
            <a:prstDash val="solid"/>
          </a:ln>
        </p:spPr>
      </p:sp>
      <p:sp>
        <p:nvSpPr>
          <p:cNvPr id="18" name="S12 TextBox 18"/>
          <p:cNvSpPr txBox="1"/>
          <p:nvPr/>
        </p:nvSpPr>
        <p:spPr>
          <a:xfrm>
            <a:off x="4480560" y="4114800"/>
            <a:ext cx="2286000" cy="2057400"/>
          </a:xfrm>
          <a:prstGeom prst="rect">
            <a:avLst/>
          </a:prstGeom>
          <a:noFill/>
          <a:ln/>
        </p:spPr>
        <p:txBody>
          <a:bodyPr wrap="square" lIns="0" tIns="0" rIns="0" bIns="0" rtlCol="0" anchor="t"/>
          <a:lstStyle/>
          <a:p>
            <a:pPr marL="0" indent="0">
              <a:buNone/>
            </a:pPr>
            <a:r>
              <a:rPr lang="en-US" sz="1250" dirty="0">
                <a:solidFill>
                  <a:srgbClr val="4E5B54"/>
                </a:solidFill>
                <a:latin typeface="Segoe UI" pitchFamily="34" charset="0"/>
                <a:ea typeface="Segoe UI" pitchFamily="34" charset="-122"/>
                <a:cs typeface="Segoe UI" pitchFamily="34" charset="-120"/>
              </a:rPr>
              <a:t>Mở /admin trên cổng 5112 nhận đúng trang </a:t>
            </a:r>
            <a:r>
              <a:rPr lang="en-US" sz="1250" b="1" dirty="0">
                <a:solidFill>
                  <a:srgbClr val="9E2B25"/>
                </a:solidFill>
                <a:latin typeface="Segoe UI" pitchFamily="34" charset="0"/>
                <a:ea typeface="Segoe UI" pitchFamily="34" charset="-122"/>
                <a:cs typeface="Segoe UI" pitchFamily="34" charset="-120"/>
              </a:rPr>
              <a:t>không tìm thấy</a:t>
            </a:r>
            <a:r>
              <a:rPr lang="en-US" sz="1250" dirty="0">
                <a:solidFill>
                  <a:srgbClr val="4E5B54"/>
                </a:solidFill>
                <a:latin typeface="Segoe UI" pitchFamily="34" charset="0"/>
                <a:ea typeface="Segoe UI" pitchFamily="34" charset="-122"/>
                <a:cs typeface="Segoe UI" pitchFamily="34" charset="-120"/>
              </a:rPr>
              <a:t> của website. Thử 8 đường dẫn quản trị, có và không có cookie: </a:t>
            </a:r>
            <a:r>
              <a:rPr lang="en-US" sz="1250" b="1" dirty="0">
                <a:solidFill>
                  <a:srgbClr val="9E2B25"/>
                </a:solidFill>
                <a:latin typeface="Segoe UI" pitchFamily="34" charset="0"/>
                <a:ea typeface="Segoe UI" pitchFamily="34" charset="-122"/>
                <a:cs typeface="Segoe UI" pitchFamily="34" charset="-120"/>
              </a:rPr>
              <a:t>16/16 yêu cầu</a:t>
            </a:r>
            <a:r>
              <a:rPr lang="en-US" sz="1250" dirty="0">
                <a:solidFill>
                  <a:srgbClr val="4E5B54"/>
                </a:solidFill>
                <a:latin typeface="Segoe UI" pitchFamily="34" charset="0"/>
                <a:ea typeface="Segoe UI" pitchFamily="34" charset="-122"/>
                <a:cs typeface="Segoe UI" pitchFamily="34" charset="-120"/>
              </a:rPr>
              <a:t> trả </a:t>
            </a:r>
            <a:r>
              <a:rPr lang="en-US" sz="1250" b="1" dirty="0">
                <a:solidFill>
                  <a:srgbClr val="9E2B25"/>
                </a:solidFill>
                <a:latin typeface="Segoe UI" pitchFamily="34" charset="0"/>
                <a:ea typeface="Segoe UI" pitchFamily="34" charset="-122"/>
                <a:cs typeface="Segoe UI" pitchFamily="34" charset="-120"/>
              </a:rPr>
              <a:t>404</a:t>
            </a:r>
            <a:r>
              <a:rPr lang="en-US" sz="1250" dirty="0">
                <a:solidFill>
                  <a:srgbClr val="4E5B54"/>
                </a:solidFill>
                <a:latin typeface="Segoe UI" pitchFamily="34" charset="0"/>
                <a:ea typeface="Segoe UI" pitchFamily="34" charset="-122"/>
                <a:cs typeface="Segoe UI" pitchFamily="34" charset="-120"/>
              </a:rPr>
              <a:t>.</a:t>
            </a:r>
            <a:endParaRPr lang="en-US" sz="1250" dirty="0"/>
          </a:p>
        </p:txBody>
      </p:sp>
      <p:sp>
        <p:nvSpPr>
          <p:cNvPr id="19" name="S12 TextBox 19"/>
          <p:cNvSpPr txBox="1"/>
          <p:nvPr/>
        </p:nvSpPr>
        <p:spPr>
          <a:xfrm>
            <a:off x="7086600" y="1572768"/>
            <a:ext cx="4553712" cy="365760"/>
          </a:xfrm>
          <a:prstGeom prst="rect">
            <a:avLst/>
          </a:prstGeom>
          <a:noFill/>
          <a:ln/>
        </p:spPr>
        <p:txBody>
          <a:bodyPr wrap="square" lIns="0" tIns="0" rIns="0" bIns="0" rtlCol="0" anchor="t"/>
          <a:lstStyle/>
          <a:p>
            <a:pPr marL="0" indent="0">
              <a:buNone/>
            </a:pPr>
            <a:r>
              <a:rPr lang="en-US" sz="1700" b="1" dirty="0">
                <a:solidFill>
                  <a:srgbClr val="1C2B25"/>
                </a:solidFill>
                <a:latin typeface="Segoe UI" pitchFamily="34" charset="0"/>
                <a:ea typeface="Segoe UI" pitchFamily="34" charset="-122"/>
                <a:cs typeface="Segoe UI" pitchFamily="34" charset="-120"/>
              </a:rPr>
              <a:t>Các lớp bảo vệ khác</a:t>
            </a:r>
            <a:endParaRPr lang="en-US" sz="1700" dirty="0"/>
          </a:p>
        </p:txBody>
      </p:sp>
      <p:sp>
        <p:nvSpPr>
          <p:cNvPr id="20" name="S12 Oval 20"/>
          <p:cNvSpPr/>
          <p:nvPr/>
        </p:nvSpPr>
        <p:spPr>
          <a:xfrm>
            <a:off x="7086600" y="2194560"/>
            <a:ext cx="512064" cy="512064"/>
          </a:xfrm>
          <a:prstGeom prst="ellipse">
            <a:avLst/>
          </a:prstGeom>
          <a:solidFill>
            <a:srgbClr val="12201B"/>
          </a:solidFill>
          <a:ln/>
        </p:spPr>
      </p:sp>
      <p:pic>
        <p:nvPicPr>
          <p:cNvPr id="21" name="S12 Picture 21" descr="D:\02_learning\Courses\DXTTT8\.thuc-tap-co-so-nganh\_workspace\72_slide-no-keyband\assets\lock_F8F8F4.png"/>
          <p:cNvPicPr>
            <a:picLocks noChangeAspect="1"/>
          </p:cNvPicPr>
          <p:nvPr/>
        </p:nvPicPr>
        <p:blipFill>
          <a:blip r:embed="rId5"/>
          <a:stretch>
            <a:fillRect/>
          </a:stretch>
        </p:blipFill>
        <p:spPr>
          <a:xfrm>
            <a:off x="7209495" y="2317455"/>
            <a:ext cx="266273" cy="266273"/>
          </a:xfrm>
          <a:prstGeom prst="rect">
            <a:avLst/>
          </a:prstGeom>
        </p:spPr>
      </p:pic>
      <p:sp>
        <p:nvSpPr>
          <p:cNvPr id="22" name="S12 TextBox 22"/>
          <p:cNvSpPr txBox="1"/>
          <p:nvPr/>
        </p:nvSpPr>
        <p:spPr>
          <a:xfrm>
            <a:off x="7772400" y="2167128"/>
            <a:ext cx="3867912" cy="310896"/>
          </a:xfrm>
          <a:prstGeom prst="rect">
            <a:avLst/>
          </a:prstGeom>
          <a:noFill/>
          <a:ln/>
        </p:spPr>
        <p:txBody>
          <a:bodyPr wrap="square" lIns="0" tIns="0" rIns="0" bIns="0" rtlCol="0" anchor="t"/>
          <a:lstStyle/>
          <a:p>
            <a:pPr marL="0" indent="0">
              <a:buNone/>
            </a:pPr>
            <a:r>
              <a:rPr lang="en-US" sz="1450" b="1" dirty="0">
                <a:solidFill>
                  <a:srgbClr val="1C2B25"/>
                </a:solidFill>
                <a:latin typeface="Segoe UI" pitchFamily="34" charset="0"/>
                <a:ea typeface="Segoe UI" pitchFamily="34" charset="-122"/>
                <a:cs typeface="Segoe UI" pitchFamily="34" charset="-120"/>
              </a:rPr>
              <a:t>Đăng nhập</a:t>
            </a:r>
            <a:endParaRPr lang="en-US" sz="1450" dirty="0"/>
          </a:p>
        </p:txBody>
      </p:sp>
      <p:sp>
        <p:nvSpPr>
          <p:cNvPr id="23" name="S12 TextBox 23"/>
          <p:cNvSpPr txBox="1"/>
          <p:nvPr/>
        </p:nvSpPr>
        <p:spPr>
          <a:xfrm>
            <a:off x="7772400" y="2487168"/>
            <a:ext cx="3867912" cy="548640"/>
          </a:xfrm>
          <a:prstGeom prst="rect">
            <a:avLst/>
          </a:prstGeom>
          <a:noFill/>
          <a:ln/>
        </p:spPr>
        <p:txBody>
          <a:bodyPr wrap="square" lIns="0" tIns="0" rIns="0" bIns="0" rtlCol="0" anchor="t"/>
          <a:lstStyle/>
          <a:p>
            <a:pPr marL="0" indent="0">
              <a:buNone/>
            </a:pPr>
            <a:r>
              <a:rPr lang="en-US" sz="1300" dirty="0">
                <a:solidFill>
                  <a:srgbClr val="4E5B54"/>
                </a:solidFill>
                <a:latin typeface="Segoe UI" pitchFamily="34" charset="0"/>
                <a:ea typeface="Segoe UI" pitchFamily="34" charset="-122"/>
                <a:cs typeface="Segoe UI" pitchFamily="34" charset="-120"/>
              </a:rPr>
              <a:t>Sai </a:t>
            </a:r>
            <a:r>
              <a:rPr lang="en-US" sz="1300" b="1" dirty="0">
                <a:solidFill>
                  <a:srgbClr val="9E2B25"/>
                </a:solidFill>
                <a:latin typeface="Segoe UI" pitchFamily="34" charset="0"/>
                <a:ea typeface="Segoe UI" pitchFamily="34" charset="-122"/>
                <a:cs typeface="Segoe UI" pitchFamily="34" charset="-120"/>
              </a:rPr>
              <a:t>5 lần</a:t>
            </a:r>
            <a:r>
              <a:rPr lang="en-US" sz="1300" dirty="0">
                <a:solidFill>
                  <a:srgbClr val="4E5B54"/>
                </a:solidFill>
                <a:latin typeface="Segoe UI" pitchFamily="34" charset="0"/>
                <a:ea typeface="Segoe UI" pitchFamily="34" charset="-122"/>
                <a:cs typeface="Segoe UI" pitchFamily="34" charset="-120"/>
              </a:rPr>
              <a:t> khóa </a:t>
            </a:r>
            <a:r>
              <a:rPr lang="en-US" sz="1300" b="1" dirty="0">
                <a:solidFill>
                  <a:srgbClr val="9E2B25"/>
                </a:solidFill>
                <a:latin typeface="Segoe UI" pitchFamily="34" charset="0"/>
                <a:ea typeface="Segoe UI" pitchFamily="34" charset="-122"/>
                <a:cs typeface="Segoe UI" pitchFamily="34" charset="-120"/>
              </a:rPr>
              <a:t>5 phút</a:t>
            </a:r>
            <a:r>
              <a:rPr lang="en-US" sz="1300" dirty="0">
                <a:solidFill>
                  <a:srgbClr val="4E5B54"/>
                </a:solidFill>
                <a:latin typeface="Segoe UI" pitchFamily="34" charset="0"/>
                <a:ea typeface="Segoe UI" pitchFamily="34" charset="-122"/>
                <a:cs typeface="Segoe UI" pitchFamily="34" charset="-120"/>
              </a:rPr>
              <a:t>; mật khẩu đủ bốn loại ký tự</a:t>
            </a:r>
            <a:endParaRPr lang="en-US" sz="1300" dirty="0"/>
          </a:p>
        </p:txBody>
      </p:sp>
      <p:sp>
        <p:nvSpPr>
          <p:cNvPr id="24" name="S12 Oval 24"/>
          <p:cNvSpPr/>
          <p:nvPr/>
        </p:nvSpPr>
        <p:spPr>
          <a:xfrm>
            <a:off x="7086600" y="3218688"/>
            <a:ext cx="512064" cy="512064"/>
          </a:xfrm>
          <a:prstGeom prst="ellipse">
            <a:avLst/>
          </a:prstGeom>
          <a:solidFill>
            <a:srgbClr val="12201B"/>
          </a:solidFill>
          <a:ln/>
        </p:spPr>
      </p:sp>
      <p:pic>
        <p:nvPicPr>
          <p:cNvPr id="25" name="S12 Picture 25" descr="D:\02_learning\Courses\DXTTT8\.thuc-tap-co-so-nganh\_workspace\72_slide-no-keyband\assets\image_F8F8F4.png"/>
          <p:cNvPicPr>
            <a:picLocks noChangeAspect="1"/>
          </p:cNvPicPr>
          <p:nvPr/>
        </p:nvPicPr>
        <p:blipFill>
          <a:blip r:embed="rId6"/>
          <a:stretch>
            <a:fillRect/>
          </a:stretch>
        </p:blipFill>
        <p:spPr>
          <a:xfrm>
            <a:off x="7209495" y="3341583"/>
            <a:ext cx="266273" cy="266273"/>
          </a:xfrm>
          <a:prstGeom prst="rect">
            <a:avLst/>
          </a:prstGeom>
        </p:spPr>
      </p:pic>
      <p:sp>
        <p:nvSpPr>
          <p:cNvPr id="26" name="S12 TextBox 26"/>
          <p:cNvSpPr txBox="1"/>
          <p:nvPr/>
        </p:nvSpPr>
        <p:spPr>
          <a:xfrm>
            <a:off x="7772400" y="3191256"/>
            <a:ext cx="3867912" cy="310896"/>
          </a:xfrm>
          <a:prstGeom prst="rect">
            <a:avLst/>
          </a:prstGeom>
          <a:noFill/>
          <a:ln/>
        </p:spPr>
        <p:txBody>
          <a:bodyPr wrap="square" lIns="0" tIns="0" rIns="0" bIns="0" rtlCol="0" anchor="t"/>
          <a:lstStyle/>
          <a:p>
            <a:pPr marL="0" indent="0">
              <a:buNone/>
            </a:pPr>
            <a:r>
              <a:rPr lang="en-US" sz="1450" b="1" dirty="0">
                <a:solidFill>
                  <a:srgbClr val="1C2B25"/>
                </a:solidFill>
                <a:latin typeface="Segoe UI" pitchFamily="34" charset="0"/>
                <a:ea typeface="Segoe UI" pitchFamily="34" charset="-122"/>
                <a:cs typeface="Segoe UI" pitchFamily="34" charset="-120"/>
              </a:rPr>
              <a:t>Tệp ảnh</a:t>
            </a:r>
            <a:endParaRPr lang="en-US" sz="1450" dirty="0"/>
          </a:p>
        </p:txBody>
      </p:sp>
      <p:sp>
        <p:nvSpPr>
          <p:cNvPr id="27" name="S12 TextBox 27"/>
          <p:cNvSpPr txBox="1"/>
          <p:nvPr/>
        </p:nvSpPr>
        <p:spPr>
          <a:xfrm>
            <a:off x="7772400" y="3511296"/>
            <a:ext cx="3867912" cy="548640"/>
          </a:xfrm>
          <a:prstGeom prst="rect">
            <a:avLst/>
          </a:prstGeom>
          <a:noFill/>
          <a:ln/>
        </p:spPr>
        <p:txBody>
          <a:bodyPr wrap="square" lIns="0" tIns="0" rIns="0" bIns="0" rtlCol="0" anchor="t"/>
          <a:lstStyle/>
          <a:p>
            <a:pPr marL="0" indent="0">
              <a:buNone/>
            </a:pPr>
            <a:r>
              <a:rPr lang="en-US" sz="1300" dirty="0">
                <a:solidFill>
                  <a:srgbClr val="4E5B54"/>
                </a:solidFill>
                <a:latin typeface="Segoe UI" pitchFamily="34" charset="0"/>
                <a:ea typeface="Segoe UI" pitchFamily="34" charset="-122"/>
                <a:cs typeface="Segoe UI" pitchFamily="34" charset="-120"/>
              </a:rPr>
              <a:t>Kiểm </a:t>
            </a:r>
            <a:r>
              <a:rPr lang="en-US" sz="1300" b="1" dirty="0">
                <a:solidFill>
                  <a:srgbClr val="9E2B25"/>
                </a:solidFill>
                <a:latin typeface="Segoe UI" pitchFamily="34" charset="0"/>
                <a:ea typeface="Segoe UI" pitchFamily="34" charset="-122"/>
                <a:cs typeface="Segoe UI" pitchFamily="34" charset="-120"/>
              </a:rPr>
              <a:t>chữ ký đầu tệp</a:t>
            </a:r>
            <a:r>
              <a:rPr lang="en-US" sz="1300" dirty="0">
                <a:solidFill>
                  <a:srgbClr val="4E5B54"/>
                </a:solidFill>
                <a:latin typeface="Segoe UI" pitchFamily="34" charset="0"/>
                <a:ea typeface="Segoe UI" pitchFamily="34" charset="-122"/>
                <a:cs typeface="Segoe UI" pitchFamily="34" charset="-120"/>
              </a:rPr>
              <a:t>, tối đa 5 MB</a:t>
            </a:r>
            <a:endParaRPr lang="en-US" sz="1300" dirty="0"/>
          </a:p>
        </p:txBody>
      </p:sp>
      <p:sp>
        <p:nvSpPr>
          <p:cNvPr id="28" name="S12 Oval 28"/>
          <p:cNvSpPr/>
          <p:nvPr/>
        </p:nvSpPr>
        <p:spPr>
          <a:xfrm>
            <a:off x="7086600" y="4242816"/>
            <a:ext cx="512064" cy="512064"/>
          </a:xfrm>
          <a:prstGeom prst="ellipse">
            <a:avLst/>
          </a:prstGeom>
          <a:solidFill>
            <a:srgbClr val="12201B"/>
          </a:solidFill>
          <a:ln/>
        </p:spPr>
      </p:sp>
      <p:pic>
        <p:nvPicPr>
          <p:cNvPr id="29" name="S12 Picture 29" descr="D:\02_learning\Courses\DXTTT8\.thuc-tap-co-so-nganh\_workspace\72_slide-no-keyband\assets\code_F8F8F4.png"/>
          <p:cNvPicPr>
            <a:picLocks noChangeAspect="1"/>
          </p:cNvPicPr>
          <p:nvPr/>
        </p:nvPicPr>
        <p:blipFill>
          <a:blip r:embed="rId7"/>
          <a:stretch>
            <a:fillRect/>
          </a:stretch>
        </p:blipFill>
        <p:spPr>
          <a:xfrm>
            <a:off x="7209495" y="4365711"/>
            <a:ext cx="266273" cy="266273"/>
          </a:xfrm>
          <a:prstGeom prst="rect">
            <a:avLst/>
          </a:prstGeom>
        </p:spPr>
      </p:pic>
      <p:sp>
        <p:nvSpPr>
          <p:cNvPr id="30" name="S12 TextBox 30"/>
          <p:cNvSpPr txBox="1"/>
          <p:nvPr/>
        </p:nvSpPr>
        <p:spPr>
          <a:xfrm>
            <a:off x="7772400" y="4215384"/>
            <a:ext cx="3867912" cy="310896"/>
          </a:xfrm>
          <a:prstGeom prst="rect">
            <a:avLst/>
          </a:prstGeom>
          <a:noFill/>
          <a:ln/>
        </p:spPr>
        <p:txBody>
          <a:bodyPr wrap="square" lIns="0" tIns="0" rIns="0" bIns="0" rtlCol="0" anchor="t"/>
          <a:lstStyle/>
          <a:p>
            <a:pPr marL="0" indent="0">
              <a:buNone/>
            </a:pPr>
            <a:r>
              <a:rPr lang="en-US" sz="1450" b="1" dirty="0">
                <a:solidFill>
                  <a:srgbClr val="1C2B25"/>
                </a:solidFill>
                <a:latin typeface="Segoe UI" pitchFamily="34" charset="0"/>
                <a:ea typeface="Segoe UI" pitchFamily="34" charset="-122"/>
                <a:cs typeface="Segoe UI" pitchFamily="34" charset="-120"/>
              </a:rPr>
              <a:t>Nội dung nhập</a:t>
            </a:r>
            <a:endParaRPr lang="en-US" sz="1450" dirty="0"/>
          </a:p>
        </p:txBody>
      </p:sp>
      <p:sp>
        <p:nvSpPr>
          <p:cNvPr id="31" name="S12 TextBox 31"/>
          <p:cNvSpPr txBox="1"/>
          <p:nvPr/>
        </p:nvSpPr>
        <p:spPr>
          <a:xfrm>
            <a:off x="7772400" y="4535424"/>
            <a:ext cx="3867912" cy="548640"/>
          </a:xfrm>
          <a:prstGeom prst="rect">
            <a:avLst/>
          </a:prstGeom>
          <a:noFill/>
          <a:ln/>
        </p:spPr>
        <p:txBody>
          <a:bodyPr wrap="square" lIns="0" tIns="0" rIns="0" bIns="0" rtlCol="0" anchor="t"/>
          <a:lstStyle/>
          <a:p>
            <a:pPr marL="0" indent="0">
              <a:buNone/>
            </a:pPr>
            <a:r>
              <a:rPr lang="en-US" sz="1300" dirty="0">
                <a:solidFill>
                  <a:srgbClr val="4E5B54"/>
                </a:solidFill>
                <a:latin typeface="Segoe UI" pitchFamily="34" charset="0"/>
                <a:ea typeface="Segoe UI" pitchFamily="34" charset="-122"/>
                <a:cs typeface="Segoe UI" pitchFamily="34" charset="-120"/>
              </a:rPr>
              <a:t>Razor </a:t>
            </a:r>
            <a:r>
              <a:rPr lang="en-US" sz="1300" b="1" dirty="0">
                <a:solidFill>
                  <a:srgbClr val="9E2B25"/>
                </a:solidFill>
                <a:latin typeface="Segoe UI" pitchFamily="34" charset="0"/>
                <a:ea typeface="Segoe UI" pitchFamily="34" charset="-122"/>
                <a:cs typeface="Segoe UI" pitchFamily="34" charset="-120"/>
              </a:rPr>
              <a:t>tự mã hóa</a:t>
            </a:r>
            <a:r>
              <a:rPr lang="en-US" sz="1300" dirty="0">
                <a:solidFill>
                  <a:srgbClr val="4E5B54"/>
                </a:solidFill>
                <a:latin typeface="Segoe UI" pitchFamily="34" charset="0"/>
                <a:ea typeface="Segoe UI" pitchFamily="34" charset="-122"/>
                <a:cs typeface="Segoe UI" pitchFamily="34" charset="-120"/>
              </a:rPr>
              <a:t>, thẻ script không chạy</a:t>
            </a:r>
            <a:endParaRPr lang="en-US" sz="1300" dirty="0"/>
          </a:p>
        </p:txBody>
      </p:sp>
      <p:sp>
        <p:nvSpPr>
          <p:cNvPr id="32" name="S12 Oval 32"/>
          <p:cNvSpPr/>
          <p:nvPr/>
        </p:nvSpPr>
        <p:spPr>
          <a:xfrm>
            <a:off x="7086600" y="5266944"/>
            <a:ext cx="512064" cy="512064"/>
          </a:xfrm>
          <a:prstGeom prst="ellipse">
            <a:avLst/>
          </a:prstGeom>
          <a:solidFill>
            <a:srgbClr val="12201B"/>
          </a:solidFill>
          <a:ln/>
        </p:spPr>
      </p:sp>
      <p:pic>
        <p:nvPicPr>
          <p:cNvPr id="33" name="S12 Picture 33" descr="D:\02_learning\Courses\DXTTT8\.thuc-tap-co-so-nganh\_workspace\72_slide-no-keyband\assets\key_F8F8F4.png"/>
          <p:cNvPicPr>
            <a:picLocks noChangeAspect="1"/>
          </p:cNvPicPr>
          <p:nvPr/>
        </p:nvPicPr>
        <p:blipFill>
          <a:blip r:embed="rId8"/>
          <a:stretch>
            <a:fillRect/>
          </a:stretch>
        </p:blipFill>
        <p:spPr>
          <a:xfrm>
            <a:off x="7209495" y="5389839"/>
            <a:ext cx="266273" cy="266273"/>
          </a:xfrm>
          <a:prstGeom prst="rect">
            <a:avLst/>
          </a:prstGeom>
        </p:spPr>
      </p:pic>
      <p:sp>
        <p:nvSpPr>
          <p:cNvPr id="34" name="S12 TextBox 34"/>
          <p:cNvSpPr txBox="1"/>
          <p:nvPr/>
        </p:nvSpPr>
        <p:spPr>
          <a:xfrm>
            <a:off x="7772400" y="5239512"/>
            <a:ext cx="3867912" cy="310896"/>
          </a:xfrm>
          <a:prstGeom prst="rect">
            <a:avLst/>
          </a:prstGeom>
          <a:noFill/>
          <a:ln/>
        </p:spPr>
        <p:txBody>
          <a:bodyPr wrap="square" lIns="0" tIns="0" rIns="0" bIns="0" rtlCol="0" anchor="t"/>
          <a:lstStyle/>
          <a:p>
            <a:pPr marL="0" indent="0">
              <a:buNone/>
            </a:pPr>
            <a:r>
              <a:rPr lang="en-US" sz="1450" b="1" dirty="0">
                <a:solidFill>
                  <a:srgbClr val="1C2B25"/>
                </a:solidFill>
                <a:latin typeface="Segoe UI" pitchFamily="34" charset="0"/>
                <a:ea typeface="Segoe UI" pitchFamily="34" charset="-122"/>
                <a:cs typeface="Segoe UI" pitchFamily="34" charset="-120"/>
              </a:rPr>
              <a:t>Thao tác chéo</a:t>
            </a:r>
            <a:endParaRPr lang="en-US" sz="1450" dirty="0"/>
          </a:p>
        </p:txBody>
      </p:sp>
      <p:sp>
        <p:nvSpPr>
          <p:cNvPr id="35" name="S12 TextBox 35"/>
          <p:cNvSpPr txBox="1"/>
          <p:nvPr/>
        </p:nvSpPr>
        <p:spPr>
          <a:xfrm>
            <a:off x="7772400" y="5559552"/>
            <a:ext cx="3867912" cy="548640"/>
          </a:xfrm>
          <a:prstGeom prst="rect">
            <a:avLst/>
          </a:prstGeom>
          <a:noFill/>
          <a:ln/>
        </p:spPr>
        <p:txBody>
          <a:bodyPr wrap="square" lIns="0" tIns="0" rIns="0" bIns="0" rtlCol="0" anchor="t"/>
          <a:lstStyle/>
          <a:p>
            <a:pPr marL="0" indent="0">
              <a:buNone/>
            </a:pPr>
            <a:r>
              <a:rPr lang="en-US" sz="1300" dirty="0">
                <a:solidFill>
                  <a:srgbClr val="4E5B54"/>
                </a:solidFill>
                <a:latin typeface="Segoe UI" pitchFamily="34" charset="0"/>
                <a:ea typeface="Segoe UI" pitchFamily="34" charset="-122"/>
                <a:cs typeface="Segoe UI" pitchFamily="34" charset="-120"/>
              </a:rPr>
              <a:t>Đổi mã định danh </a:t>
            </a:r>
            <a:r>
              <a:rPr lang="en-US" sz="1300" b="1" dirty="0">
                <a:solidFill>
                  <a:srgbClr val="9E2B25"/>
                </a:solidFill>
                <a:latin typeface="Segoe UI" pitchFamily="34" charset="0"/>
                <a:ea typeface="Segoe UI" pitchFamily="34" charset="-122"/>
                <a:cs typeface="Segoe UI" pitchFamily="34" charset="-120"/>
              </a:rPr>
              <a:t>không sửa được</a:t>
            </a:r>
            <a:r>
              <a:rPr lang="en-US" sz="1300" dirty="0">
                <a:solidFill>
                  <a:srgbClr val="4E5B54"/>
                </a:solidFill>
                <a:latin typeface="Segoe UI" pitchFamily="34" charset="0"/>
                <a:ea typeface="Segoe UI" pitchFamily="34" charset="-122"/>
                <a:cs typeface="Segoe UI" pitchFamily="34" charset="-120"/>
              </a:rPr>
              <a:t> bản ghi khác</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anim calcmode="lin" valueType="num">
                                      <p:cBhvr>
                                        <p:cTn id="8" dur="500" fill="hold"/>
                                        <p:tgtEl>
                                          <p:spTgt spid="11"/>
                                        </p:tgtEl>
                                        <p:attrNameLst>
                                          <p:attrName>ppt_x</p:attrName>
                                        </p:attrNameLst>
                                      </p:cBhvr>
                                      <p:tavLst>
                                        <p:tav tm="0">
                                          <p:val>
                                            <p:strVal val="#ppt_x"/>
                                          </p:val>
                                        </p:tav>
                                        <p:tav tm="100000">
                                          <p:val>
                                            <p:strVal val="#ppt_x"/>
                                          </p:val>
                                        </p:tav>
                                      </p:tavLst>
                                    </p:anim>
                                    <p:anim calcmode="lin" valueType="num">
                                      <p:cBhvr>
                                        <p:cTn id="9" dur="5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anim calcmode="lin" valueType="num">
                                      <p:cBhvr>
                                        <p:cTn id="13" dur="500" fill="hold"/>
                                        <p:tgtEl>
                                          <p:spTgt spid="12"/>
                                        </p:tgtEl>
                                        <p:attrNameLst>
                                          <p:attrName>ppt_x</p:attrName>
                                        </p:attrNameLst>
                                      </p:cBhvr>
                                      <p:tavLst>
                                        <p:tav tm="0">
                                          <p:val>
                                            <p:strVal val="#ppt_x"/>
                                          </p:val>
                                        </p:tav>
                                        <p:tav tm="100000">
                                          <p:val>
                                            <p:strVal val="#ppt_x"/>
                                          </p:val>
                                        </p:tav>
                                      </p:tavLst>
                                    </p:anim>
                                    <p:anim calcmode="lin" valueType="num">
                                      <p:cBhvr>
                                        <p:cTn id="14" dur="5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12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anim calcmode="lin" valueType="num">
                                      <p:cBhvr>
                                        <p:cTn id="18" dur="500" fill="hold"/>
                                        <p:tgtEl>
                                          <p:spTgt spid="13"/>
                                        </p:tgtEl>
                                        <p:attrNameLst>
                                          <p:attrName>ppt_x</p:attrName>
                                        </p:attrNameLst>
                                      </p:cBhvr>
                                      <p:tavLst>
                                        <p:tav tm="0">
                                          <p:val>
                                            <p:strVal val="#ppt_x"/>
                                          </p:val>
                                        </p:tav>
                                        <p:tav tm="100000">
                                          <p:val>
                                            <p:strVal val="#ppt_x"/>
                                          </p:val>
                                        </p:tav>
                                      </p:tavLst>
                                    </p:anim>
                                    <p:anim calcmode="lin" valueType="num">
                                      <p:cBhvr>
                                        <p:cTn id="19" dur="500" fill="hold"/>
                                        <p:tgtEl>
                                          <p:spTgt spid="1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12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anim calcmode="lin" valueType="num">
                                      <p:cBhvr>
                                        <p:cTn id="23" dur="500" fill="hold"/>
                                        <p:tgtEl>
                                          <p:spTgt spid="14"/>
                                        </p:tgtEl>
                                        <p:attrNameLst>
                                          <p:attrName>ppt_x</p:attrName>
                                        </p:attrNameLst>
                                      </p:cBhvr>
                                      <p:tavLst>
                                        <p:tav tm="0">
                                          <p:val>
                                            <p:strVal val="#ppt_x"/>
                                          </p:val>
                                        </p:tav>
                                        <p:tav tm="100000">
                                          <p:val>
                                            <p:strVal val="#ppt_x"/>
                                          </p:val>
                                        </p:tav>
                                      </p:tavLst>
                                    </p:anim>
                                    <p:anim calcmode="lin" valueType="num">
                                      <p:cBhvr>
                                        <p:cTn id="24"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p:cTn id="29" dur="600" fill="hold"/>
                                        <p:tgtEl>
                                          <p:spTgt spid="15"/>
                                        </p:tgtEl>
                                        <p:attrNameLst>
                                          <p:attrName>ppt_w</p:attrName>
                                        </p:attrNameLst>
                                      </p:cBhvr>
                                      <p:tavLst>
                                        <p:tav tm="0">
                                          <p:val>
                                            <p:fltVal val="0"/>
                                          </p:val>
                                        </p:tav>
                                        <p:tav tm="100000">
                                          <p:val>
                                            <p:strVal val="#ppt_w"/>
                                          </p:val>
                                        </p:tav>
                                      </p:tavLst>
                                    </p:anim>
                                    <p:anim calcmode="lin" valueType="num">
                                      <p:cBhvr>
                                        <p:cTn id="30" dur="600" fill="hold"/>
                                        <p:tgtEl>
                                          <p:spTgt spid="15"/>
                                        </p:tgtEl>
                                        <p:attrNameLst>
                                          <p:attrName>ppt_h</p:attrName>
                                        </p:attrNameLst>
                                      </p:cBhvr>
                                      <p:tavLst>
                                        <p:tav tm="0">
                                          <p:val>
                                            <p:fltVal val="0"/>
                                          </p:val>
                                        </p:tav>
                                        <p:tav tm="100000">
                                          <p:val>
                                            <p:strVal val="#ppt_h"/>
                                          </p:val>
                                        </p:tav>
                                      </p:tavLst>
                                    </p:anim>
                                    <p:animEffect transition="in" filter="fade">
                                      <p:cBhvr>
                                        <p:cTn id="31" dur="600"/>
                                        <p:tgtEl>
                                          <p:spTgt spid="15"/>
                                        </p:tgtEl>
                                      </p:cBhvr>
                                    </p:animEffect>
                                  </p:childTnLst>
                                </p:cTn>
                              </p:par>
                              <p:par>
                                <p:cTn id="32" presetID="53" presetClass="entr" presetSubtype="16"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anim calcmode="lin" valueType="num">
                                      <p:cBhvr>
                                        <p:cTn id="34" dur="600" fill="hold"/>
                                        <p:tgtEl>
                                          <p:spTgt spid="16"/>
                                        </p:tgtEl>
                                        <p:attrNameLst>
                                          <p:attrName>ppt_w</p:attrName>
                                        </p:attrNameLst>
                                      </p:cBhvr>
                                      <p:tavLst>
                                        <p:tav tm="0">
                                          <p:val>
                                            <p:fltVal val="0"/>
                                          </p:val>
                                        </p:tav>
                                        <p:tav tm="100000">
                                          <p:val>
                                            <p:strVal val="#ppt_w"/>
                                          </p:val>
                                        </p:tav>
                                      </p:tavLst>
                                    </p:anim>
                                    <p:anim calcmode="lin" valueType="num">
                                      <p:cBhvr>
                                        <p:cTn id="35" dur="600" fill="hold"/>
                                        <p:tgtEl>
                                          <p:spTgt spid="16"/>
                                        </p:tgtEl>
                                        <p:attrNameLst>
                                          <p:attrName>ppt_h</p:attrName>
                                        </p:attrNameLst>
                                      </p:cBhvr>
                                      <p:tavLst>
                                        <p:tav tm="0">
                                          <p:val>
                                            <p:fltVal val="0"/>
                                          </p:val>
                                        </p:tav>
                                        <p:tav tm="100000">
                                          <p:val>
                                            <p:strVal val="#ppt_h"/>
                                          </p:val>
                                        </p:tav>
                                      </p:tavLst>
                                    </p:anim>
                                    <p:animEffect transition="in" filter="fade">
                                      <p:cBhvr>
                                        <p:cTn id="36" dur="600"/>
                                        <p:tgtEl>
                                          <p:spTgt spid="16"/>
                                        </p:tgtEl>
                                      </p:cBhvr>
                                    </p:animEffect>
                                  </p:childTnLst>
                                </p:cTn>
                              </p:par>
                              <p:par>
                                <p:cTn id="37" presetID="10" presetClass="entr" presetSubtype="0" fill="hold" nodeType="withEffect">
                                  <p:stCondLst>
                                    <p:cond delay="82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par>
                                <p:cTn id="40" presetID="10" presetClass="entr" presetSubtype="0" fill="hold" grpId="0" nodeType="withEffect">
                                  <p:stCondLst>
                                    <p:cond delay="12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42" presetClass="entr" presetSubtype="0" fill="hold" nodeType="withEffect">
                                  <p:stCondLst>
                                    <p:cond delay="12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anim calcmode="lin" valueType="num">
                                      <p:cBhvr>
                                        <p:cTn id="51" dur="500" fill="hold"/>
                                        <p:tgtEl>
                                          <p:spTgt spid="20"/>
                                        </p:tgtEl>
                                        <p:attrNameLst>
                                          <p:attrName>ppt_x</p:attrName>
                                        </p:attrNameLst>
                                      </p:cBhvr>
                                      <p:tavLst>
                                        <p:tav tm="0">
                                          <p:val>
                                            <p:strVal val="#ppt_x"/>
                                          </p:val>
                                        </p:tav>
                                        <p:tav tm="100000">
                                          <p:val>
                                            <p:strVal val="#ppt_x"/>
                                          </p:val>
                                        </p:tav>
                                      </p:tavLst>
                                    </p:anim>
                                    <p:anim calcmode="lin" valueType="num">
                                      <p:cBhvr>
                                        <p:cTn id="52" dur="500" fill="hold"/>
                                        <p:tgtEl>
                                          <p:spTgt spid="20"/>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12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anim calcmode="lin" valueType="num">
                                      <p:cBhvr>
                                        <p:cTn id="56" dur="500" fill="hold"/>
                                        <p:tgtEl>
                                          <p:spTgt spid="21"/>
                                        </p:tgtEl>
                                        <p:attrNameLst>
                                          <p:attrName>ppt_x</p:attrName>
                                        </p:attrNameLst>
                                      </p:cBhvr>
                                      <p:tavLst>
                                        <p:tav tm="0">
                                          <p:val>
                                            <p:strVal val="#ppt_x"/>
                                          </p:val>
                                        </p:tav>
                                        <p:tav tm="100000">
                                          <p:val>
                                            <p:strVal val="#ppt_x"/>
                                          </p:val>
                                        </p:tav>
                                      </p:tavLst>
                                    </p:anim>
                                    <p:anim calcmode="lin" valueType="num">
                                      <p:cBhvr>
                                        <p:cTn id="57" dur="500" fill="hold"/>
                                        <p:tgtEl>
                                          <p:spTgt spid="21"/>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12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00"/>
                                        <p:tgtEl>
                                          <p:spTgt spid="22"/>
                                        </p:tgtEl>
                                      </p:cBhvr>
                                    </p:animEffect>
                                    <p:anim calcmode="lin" valueType="num">
                                      <p:cBhvr>
                                        <p:cTn id="61" dur="500" fill="hold"/>
                                        <p:tgtEl>
                                          <p:spTgt spid="22"/>
                                        </p:tgtEl>
                                        <p:attrNameLst>
                                          <p:attrName>ppt_x</p:attrName>
                                        </p:attrNameLst>
                                      </p:cBhvr>
                                      <p:tavLst>
                                        <p:tav tm="0">
                                          <p:val>
                                            <p:strVal val="#ppt_x"/>
                                          </p:val>
                                        </p:tav>
                                        <p:tav tm="100000">
                                          <p:val>
                                            <p:strVal val="#ppt_x"/>
                                          </p:val>
                                        </p:tav>
                                      </p:tavLst>
                                    </p:anim>
                                    <p:anim calcmode="lin" valueType="num">
                                      <p:cBhvr>
                                        <p:cTn id="62" dur="500" fill="hold"/>
                                        <p:tgtEl>
                                          <p:spTgt spid="22"/>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12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500"/>
                                        <p:tgtEl>
                                          <p:spTgt spid="23"/>
                                        </p:tgtEl>
                                      </p:cBhvr>
                                    </p:animEffect>
                                    <p:anim calcmode="lin" valueType="num">
                                      <p:cBhvr>
                                        <p:cTn id="66" dur="500" fill="hold"/>
                                        <p:tgtEl>
                                          <p:spTgt spid="23"/>
                                        </p:tgtEl>
                                        <p:attrNameLst>
                                          <p:attrName>ppt_x</p:attrName>
                                        </p:attrNameLst>
                                      </p:cBhvr>
                                      <p:tavLst>
                                        <p:tav tm="0">
                                          <p:val>
                                            <p:strVal val="#ppt_x"/>
                                          </p:val>
                                        </p:tav>
                                        <p:tav tm="100000">
                                          <p:val>
                                            <p:strVal val="#ppt_x"/>
                                          </p:val>
                                        </p:tav>
                                      </p:tavLst>
                                    </p:anim>
                                    <p:anim calcmode="lin" valueType="num">
                                      <p:cBhvr>
                                        <p:cTn id="67" dur="500" fill="hold"/>
                                        <p:tgtEl>
                                          <p:spTgt spid="23"/>
                                        </p:tgtEl>
                                        <p:attrNameLst>
                                          <p:attrName>ppt_y</p:attrName>
                                        </p:attrNameLst>
                                      </p:cBhvr>
                                      <p:tavLst>
                                        <p:tav tm="0">
                                          <p:val>
                                            <p:strVal val="#ppt_y+.1"/>
                                          </p:val>
                                        </p:tav>
                                        <p:tav tm="100000">
                                          <p:val>
                                            <p:strVal val="#ppt_y"/>
                                          </p:val>
                                        </p:tav>
                                      </p:tavLst>
                                    </p:anim>
                                  </p:childTnLst>
                                </p:cTn>
                              </p:par>
                              <p:par>
                                <p:cTn id="68" presetID="42" presetClass="entr" presetSubtype="0" fill="hold" nodeType="withEffect">
                                  <p:stCondLst>
                                    <p:cond delay="24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anim calcmode="lin" valueType="num">
                                      <p:cBhvr>
                                        <p:cTn id="71" dur="500" fill="hold"/>
                                        <p:tgtEl>
                                          <p:spTgt spid="24"/>
                                        </p:tgtEl>
                                        <p:attrNameLst>
                                          <p:attrName>ppt_x</p:attrName>
                                        </p:attrNameLst>
                                      </p:cBhvr>
                                      <p:tavLst>
                                        <p:tav tm="0">
                                          <p:val>
                                            <p:strVal val="#ppt_x"/>
                                          </p:val>
                                        </p:tav>
                                        <p:tav tm="100000">
                                          <p:val>
                                            <p:strVal val="#ppt_x"/>
                                          </p:val>
                                        </p:tav>
                                      </p:tavLst>
                                    </p:anim>
                                    <p:anim calcmode="lin" valueType="num">
                                      <p:cBhvr>
                                        <p:cTn id="72" dur="500" fill="hold"/>
                                        <p:tgtEl>
                                          <p:spTgt spid="24"/>
                                        </p:tgtEl>
                                        <p:attrNameLst>
                                          <p:attrName>ppt_y</p:attrName>
                                        </p:attrNameLst>
                                      </p:cBhvr>
                                      <p:tavLst>
                                        <p:tav tm="0">
                                          <p:val>
                                            <p:strVal val="#ppt_y+.1"/>
                                          </p:val>
                                        </p:tav>
                                        <p:tav tm="100000">
                                          <p:val>
                                            <p:strVal val="#ppt_y"/>
                                          </p:val>
                                        </p:tav>
                                      </p:tavLst>
                                    </p:anim>
                                  </p:childTnLst>
                                </p:cTn>
                              </p:par>
                              <p:par>
                                <p:cTn id="73" presetID="42" presetClass="entr" presetSubtype="0" fill="hold" nodeType="withEffect">
                                  <p:stCondLst>
                                    <p:cond delay="24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anim calcmode="lin" valueType="num">
                                      <p:cBhvr>
                                        <p:cTn id="76" dur="500" fill="hold"/>
                                        <p:tgtEl>
                                          <p:spTgt spid="25"/>
                                        </p:tgtEl>
                                        <p:attrNameLst>
                                          <p:attrName>ppt_x</p:attrName>
                                        </p:attrNameLst>
                                      </p:cBhvr>
                                      <p:tavLst>
                                        <p:tav tm="0">
                                          <p:val>
                                            <p:strVal val="#ppt_x"/>
                                          </p:val>
                                        </p:tav>
                                        <p:tav tm="100000">
                                          <p:val>
                                            <p:strVal val="#ppt_x"/>
                                          </p:val>
                                        </p:tav>
                                      </p:tavLst>
                                    </p:anim>
                                    <p:anim calcmode="lin" valueType="num">
                                      <p:cBhvr>
                                        <p:cTn id="77" dur="500" fill="hold"/>
                                        <p:tgtEl>
                                          <p:spTgt spid="25"/>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24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500"/>
                                        <p:tgtEl>
                                          <p:spTgt spid="26"/>
                                        </p:tgtEl>
                                      </p:cBhvr>
                                    </p:animEffect>
                                    <p:anim calcmode="lin" valueType="num">
                                      <p:cBhvr>
                                        <p:cTn id="81" dur="500" fill="hold"/>
                                        <p:tgtEl>
                                          <p:spTgt spid="26"/>
                                        </p:tgtEl>
                                        <p:attrNameLst>
                                          <p:attrName>ppt_x</p:attrName>
                                        </p:attrNameLst>
                                      </p:cBhvr>
                                      <p:tavLst>
                                        <p:tav tm="0">
                                          <p:val>
                                            <p:strVal val="#ppt_x"/>
                                          </p:val>
                                        </p:tav>
                                        <p:tav tm="100000">
                                          <p:val>
                                            <p:strVal val="#ppt_x"/>
                                          </p:val>
                                        </p:tav>
                                      </p:tavLst>
                                    </p:anim>
                                    <p:anim calcmode="lin" valueType="num">
                                      <p:cBhvr>
                                        <p:cTn id="82" dur="500" fill="hold"/>
                                        <p:tgtEl>
                                          <p:spTgt spid="26"/>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24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500"/>
                                        <p:tgtEl>
                                          <p:spTgt spid="27"/>
                                        </p:tgtEl>
                                      </p:cBhvr>
                                    </p:animEffect>
                                    <p:anim calcmode="lin" valueType="num">
                                      <p:cBhvr>
                                        <p:cTn id="86" dur="500" fill="hold"/>
                                        <p:tgtEl>
                                          <p:spTgt spid="27"/>
                                        </p:tgtEl>
                                        <p:attrNameLst>
                                          <p:attrName>ppt_x</p:attrName>
                                        </p:attrNameLst>
                                      </p:cBhvr>
                                      <p:tavLst>
                                        <p:tav tm="0">
                                          <p:val>
                                            <p:strVal val="#ppt_x"/>
                                          </p:val>
                                        </p:tav>
                                        <p:tav tm="100000">
                                          <p:val>
                                            <p:strVal val="#ppt_x"/>
                                          </p:val>
                                        </p:tav>
                                      </p:tavLst>
                                    </p:anim>
                                    <p:anim calcmode="lin" valueType="num">
                                      <p:cBhvr>
                                        <p:cTn id="87" dur="500" fill="hold"/>
                                        <p:tgtEl>
                                          <p:spTgt spid="27"/>
                                        </p:tgtEl>
                                        <p:attrNameLst>
                                          <p:attrName>ppt_y</p:attrName>
                                        </p:attrNameLst>
                                      </p:cBhvr>
                                      <p:tavLst>
                                        <p:tav tm="0">
                                          <p:val>
                                            <p:strVal val="#ppt_y+.1"/>
                                          </p:val>
                                        </p:tav>
                                        <p:tav tm="100000">
                                          <p:val>
                                            <p:strVal val="#ppt_y"/>
                                          </p:val>
                                        </p:tav>
                                      </p:tavLst>
                                    </p:anim>
                                  </p:childTnLst>
                                </p:cTn>
                              </p:par>
                              <p:par>
                                <p:cTn id="88" presetID="42" presetClass="entr" presetSubtype="0" fill="hold" nodeType="withEffect">
                                  <p:stCondLst>
                                    <p:cond delay="360"/>
                                  </p:stCondLst>
                                  <p:childTnLst>
                                    <p:set>
                                      <p:cBhvr>
                                        <p:cTn id="89" dur="1" fill="hold">
                                          <p:stCondLst>
                                            <p:cond delay="0"/>
                                          </p:stCondLst>
                                        </p:cTn>
                                        <p:tgtEl>
                                          <p:spTgt spid="28"/>
                                        </p:tgtEl>
                                        <p:attrNameLst>
                                          <p:attrName>style.visibility</p:attrName>
                                        </p:attrNameLst>
                                      </p:cBhvr>
                                      <p:to>
                                        <p:strVal val="visible"/>
                                      </p:to>
                                    </p:set>
                                    <p:animEffect transition="in" filter="fade">
                                      <p:cBhvr>
                                        <p:cTn id="90" dur="500"/>
                                        <p:tgtEl>
                                          <p:spTgt spid="28"/>
                                        </p:tgtEl>
                                      </p:cBhvr>
                                    </p:animEffect>
                                    <p:anim calcmode="lin" valueType="num">
                                      <p:cBhvr>
                                        <p:cTn id="91" dur="500" fill="hold"/>
                                        <p:tgtEl>
                                          <p:spTgt spid="28"/>
                                        </p:tgtEl>
                                        <p:attrNameLst>
                                          <p:attrName>ppt_x</p:attrName>
                                        </p:attrNameLst>
                                      </p:cBhvr>
                                      <p:tavLst>
                                        <p:tav tm="0">
                                          <p:val>
                                            <p:strVal val="#ppt_x"/>
                                          </p:val>
                                        </p:tav>
                                        <p:tav tm="100000">
                                          <p:val>
                                            <p:strVal val="#ppt_x"/>
                                          </p:val>
                                        </p:tav>
                                      </p:tavLst>
                                    </p:anim>
                                    <p:anim calcmode="lin" valueType="num">
                                      <p:cBhvr>
                                        <p:cTn id="92" dur="500" fill="hold"/>
                                        <p:tgtEl>
                                          <p:spTgt spid="28"/>
                                        </p:tgtEl>
                                        <p:attrNameLst>
                                          <p:attrName>ppt_y</p:attrName>
                                        </p:attrNameLst>
                                      </p:cBhvr>
                                      <p:tavLst>
                                        <p:tav tm="0">
                                          <p:val>
                                            <p:strVal val="#ppt_y+.1"/>
                                          </p:val>
                                        </p:tav>
                                        <p:tav tm="100000">
                                          <p:val>
                                            <p:strVal val="#ppt_y"/>
                                          </p:val>
                                        </p:tav>
                                      </p:tavLst>
                                    </p:anim>
                                  </p:childTnLst>
                                </p:cTn>
                              </p:par>
                              <p:par>
                                <p:cTn id="93" presetID="42" presetClass="entr" presetSubtype="0" fill="hold" nodeType="withEffect">
                                  <p:stCondLst>
                                    <p:cond delay="360"/>
                                  </p:stCondLst>
                                  <p:childTnLst>
                                    <p:set>
                                      <p:cBhvr>
                                        <p:cTn id="94" dur="1" fill="hold">
                                          <p:stCondLst>
                                            <p:cond delay="0"/>
                                          </p:stCondLst>
                                        </p:cTn>
                                        <p:tgtEl>
                                          <p:spTgt spid="29"/>
                                        </p:tgtEl>
                                        <p:attrNameLst>
                                          <p:attrName>style.visibility</p:attrName>
                                        </p:attrNameLst>
                                      </p:cBhvr>
                                      <p:to>
                                        <p:strVal val="visible"/>
                                      </p:to>
                                    </p:set>
                                    <p:animEffect transition="in" filter="fade">
                                      <p:cBhvr>
                                        <p:cTn id="95" dur="500"/>
                                        <p:tgtEl>
                                          <p:spTgt spid="29"/>
                                        </p:tgtEl>
                                      </p:cBhvr>
                                    </p:animEffect>
                                    <p:anim calcmode="lin" valueType="num">
                                      <p:cBhvr>
                                        <p:cTn id="96" dur="500" fill="hold"/>
                                        <p:tgtEl>
                                          <p:spTgt spid="29"/>
                                        </p:tgtEl>
                                        <p:attrNameLst>
                                          <p:attrName>ppt_x</p:attrName>
                                        </p:attrNameLst>
                                      </p:cBhvr>
                                      <p:tavLst>
                                        <p:tav tm="0">
                                          <p:val>
                                            <p:strVal val="#ppt_x"/>
                                          </p:val>
                                        </p:tav>
                                        <p:tav tm="100000">
                                          <p:val>
                                            <p:strVal val="#ppt_x"/>
                                          </p:val>
                                        </p:tav>
                                      </p:tavLst>
                                    </p:anim>
                                    <p:anim calcmode="lin" valueType="num">
                                      <p:cBhvr>
                                        <p:cTn id="97" dur="500" fill="hold"/>
                                        <p:tgtEl>
                                          <p:spTgt spid="29"/>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360"/>
                                  </p:stCondLst>
                                  <p:childTnLst>
                                    <p:set>
                                      <p:cBhvr>
                                        <p:cTn id="99" dur="1" fill="hold">
                                          <p:stCondLst>
                                            <p:cond delay="0"/>
                                          </p:stCondLst>
                                        </p:cTn>
                                        <p:tgtEl>
                                          <p:spTgt spid="30"/>
                                        </p:tgtEl>
                                        <p:attrNameLst>
                                          <p:attrName>style.visibility</p:attrName>
                                        </p:attrNameLst>
                                      </p:cBhvr>
                                      <p:to>
                                        <p:strVal val="visible"/>
                                      </p:to>
                                    </p:set>
                                    <p:animEffect transition="in" filter="fade">
                                      <p:cBhvr>
                                        <p:cTn id="100" dur="500"/>
                                        <p:tgtEl>
                                          <p:spTgt spid="30"/>
                                        </p:tgtEl>
                                      </p:cBhvr>
                                    </p:animEffect>
                                    <p:anim calcmode="lin" valueType="num">
                                      <p:cBhvr>
                                        <p:cTn id="101" dur="500" fill="hold"/>
                                        <p:tgtEl>
                                          <p:spTgt spid="30"/>
                                        </p:tgtEl>
                                        <p:attrNameLst>
                                          <p:attrName>ppt_x</p:attrName>
                                        </p:attrNameLst>
                                      </p:cBhvr>
                                      <p:tavLst>
                                        <p:tav tm="0">
                                          <p:val>
                                            <p:strVal val="#ppt_x"/>
                                          </p:val>
                                        </p:tav>
                                        <p:tav tm="100000">
                                          <p:val>
                                            <p:strVal val="#ppt_x"/>
                                          </p:val>
                                        </p:tav>
                                      </p:tavLst>
                                    </p:anim>
                                    <p:anim calcmode="lin" valueType="num">
                                      <p:cBhvr>
                                        <p:cTn id="102" dur="500" fill="hold"/>
                                        <p:tgtEl>
                                          <p:spTgt spid="30"/>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360"/>
                                  </p:stCondLst>
                                  <p:childTnLst>
                                    <p:set>
                                      <p:cBhvr>
                                        <p:cTn id="104" dur="1" fill="hold">
                                          <p:stCondLst>
                                            <p:cond delay="0"/>
                                          </p:stCondLst>
                                        </p:cTn>
                                        <p:tgtEl>
                                          <p:spTgt spid="31"/>
                                        </p:tgtEl>
                                        <p:attrNameLst>
                                          <p:attrName>style.visibility</p:attrName>
                                        </p:attrNameLst>
                                      </p:cBhvr>
                                      <p:to>
                                        <p:strVal val="visible"/>
                                      </p:to>
                                    </p:set>
                                    <p:animEffect transition="in" filter="fade">
                                      <p:cBhvr>
                                        <p:cTn id="105" dur="500"/>
                                        <p:tgtEl>
                                          <p:spTgt spid="31"/>
                                        </p:tgtEl>
                                      </p:cBhvr>
                                    </p:animEffect>
                                    <p:anim calcmode="lin" valueType="num">
                                      <p:cBhvr>
                                        <p:cTn id="106" dur="500" fill="hold"/>
                                        <p:tgtEl>
                                          <p:spTgt spid="31"/>
                                        </p:tgtEl>
                                        <p:attrNameLst>
                                          <p:attrName>ppt_x</p:attrName>
                                        </p:attrNameLst>
                                      </p:cBhvr>
                                      <p:tavLst>
                                        <p:tav tm="0">
                                          <p:val>
                                            <p:strVal val="#ppt_x"/>
                                          </p:val>
                                        </p:tav>
                                        <p:tav tm="100000">
                                          <p:val>
                                            <p:strVal val="#ppt_x"/>
                                          </p:val>
                                        </p:tav>
                                      </p:tavLst>
                                    </p:anim>
                                    <p:anim calcmode="lin" valueType="num">
                                      <p:cBhvr>
                                        <p:cTn id="107" dur="500" fill="hold"/>
                                        <p:tgtEl>
                                          <p:spTgt spid="31"/>
                                        </p:tgtEl>
                                        <p:attrNameLst>
                                          <p:attrName>ppt_y</p:attrName>
                                        </p:attrNameLst>
                                      </p:cBhvr>
                                      <p:tavLst>
                                        <p:tav tm="0">
                                          <p:val>
                                            <p:strVal val="#ppt_y+.1"/>
                                          </p:val>
                                        </p:tav>
                                        <p:tav tm="100000">
                                          <p:val>
                                            <p:strVal val="#ppt_y"/>
                                          </p:val>
                                        </p:tav>
                                      </p:tavLst>
                                    </p:anim>
                                  </p:childTnLst>
                                </p:cTn>
                              </p:par>
                              <p:par>
                                <p:cTn id="108" presetID="42" presetClass="entr" presetSubtype="0" fill="hold" nodeType="withEffect">
                                  <p:stCondLst>
                                    <p:cond delay="480"/>
                                  </p:stCondLst>
                                  <p:childTnLst>
                                    <p:set>
                                      <p:cBhvr>
                                        <p:cTn id="109" dur="1" fill="hold">
                                          <p:stCondLst>
                                            <p:cond delay="0"/>
                                          </p:stCondLst>
                                        </p:cTn>
                                        <p:tgtEl>
                                          <p:spTgt spid="32"/>
                                        </p:tgtEl>
                                        <p:attrNameLst>
                                          <p:attrName>style.visibility</p:attrName>
                                        </p:attrNameLst>
                                      </p:cBhvr>
                                      <p:to>
                                        <p:strVal val="visible"/>
                                      </p:to>
                                    </p:set>
                                    <p:animEffect transition="in" filter="fade">
                                      <p:cBhvr>
                                        <p:cTn id="110" dur="500"/>
                                        <p:tgtEl>
                                          <p:spTgt spid="32"/>
                                        </p:tgtEl>
                                      </p:cBhvr>
                                    </p:animEffect>
                                    <p:anim calcmode="lin" valueType="num">
                                      <p:cBhvr>
                                        <p:cTn id="111" dur="500" fill="hold"/>
                                        <p:tgtEl>
                                          <p:spTgt spid="32"/>
                                        </p:tgtEl>
                                        <p:attrNameLst>
                                          <p:attrName>ppt_x</p:attrName>
                                        </p:attrNameLst>
                                      </p:cBhvr>
                                      <p:tavLst>
                                        <p:tav tm="0">
                                          <p:val>
                                            <p:strVal val="#ppt_x"/>
                                          </p:val>
                                        </p:tav>
                                        <p:tav tm="100000">
                                          <p:val>
                                            <p:strVal val="#ppt_x"/>
                                          </p:val>
                                        </p:tav>
                                      </p:tavLst>
                                    </p:anim>
                                    <p:anim calcmode="lin" valueType="num">
                                      <p:cBhvr>
                                        <p:cTn id="112" dur="500" fill="hold"/>
                                        <p:tgtEl>
                                          <p:spTgt spid="32"/>
                                        </p:tgtEl>
                                        <p:attrNameLst>
                                          <p:attrName>ppt_y</p:attrName>
                                        </p:attrNameLst>
                                      </p:cBhvr>
                                      <p:tavLst>
                                        <p:tav tm="0">
                                          <p:val>
                                            <p:strVal val="#ppt_y+.1"/>
                                          </p:val>
                                        </p:tav>
                                        <p:tav tm="100000">
                                          <p:val>
                                            <p:strVal val="#ppt_y"/>
                                          </p:val>
                                        </p:tav>
                                      </p:tavLst>
                                    </p:anim>
                                  </p:childTnLst>
                                </p:cTn>
                              </p:par>
                              <p:par>
                                <p:cTn id="113" presetID="42" presetClass="entr" presetSubtype="0" fill="hold" nodeType="withEffect">
                                  <p:stCondLst>
                                    <p:cond delay="480"/>
                                  </p:stCondLst>
                                  <p:childTnLst>
                                    <p:set>
                                      <p:cBhvr>
                                        <p:cTn id="114" dur="1" fill="hold">
                                          <p:stCondLst>
                                            <p:cond delay="0"/>
                                          </p:stCondLst>
                                        </p:cTn>
                                        <p:tgtEl>
                                          <p:spTgt spid="33"/>
                                        </p:tgtEl>
                                        <p:attrNameLst>
                                          <p:attrName>style.visibility</p:attrName>
                                        </p:attrNameLst>
                                      </p:cBhvr>
                                      <p:to>
                                        <p:strVal val="visible"/>
                                      </p:to>
                                    </p:set>
                                    <p:animEffect transition="in" filter="fade">
                                      <p:cBhvr>
                                        <p:cTn id="115" dur="500"/>
                                        <p:tgtEl>
                                          <p:spTgt spid="33"/>
                                        </p:tgtEl>
                                      </p:cBhvr>
                                    </p:animEffect>
                                    <p:anim calcmode="lin" valueType="num">
                                      <p:cBhvr>
                                        <p:cTn id="116" dur="500" fill="hold"/>
                                        <p:tgtEl>
                                          <p:spTgt spid="33"/>
                                        </p:tgtEl>
                                        <p:attrNameLst>
                                          <p:attrName>ppt_x</p:attrName>
                                        </p:attrNameLst>
                                      </p:cBhvr>
                                      <p:tavLst>
                                        <p:tav tm="0">
                                          <p:val>
                                            <p:strVal val="#ppt_x"/>
                                          </p:val>
                                        </p:tav>
                                        <p:tav tm="100000">
                                          <p:val>
                                            <p:strVal val="#ppt_x"/>
                                          </p:val>
                                        </p:tav>
                                      </p:tavLst>
                                    </p:anim>
                                    <p:anim calcmode="lin" valueType="num">
                                      <p:cBhvr>
                                        <p:cTn id="117" dur="500" fill="hold"/>
                                        <p:tgtEl>
                                          <p:spTgt spid="33"/>
                                        </p:tgtEl>
                                        <p:attrNameLst>
                                          <p:attrName>ppt_y</p:attrName>
                                        </p:attrNameLst>
                                      </p:cBhvr>
                                      <p:tavLst>
                                        <p:tav tm="0">
                                          <p:val>
                                            <p:strVal val="#ppt_y+.1"/>
                                          </p:val>
                                        </p:tav>
                                        <p:tav tm="100000">
                                          <p:val>
                                            <p:strVal val="#ppt_y"/>
                                          </p:val>
                                        </p:tav>
                                      </p:tavLst>
                                    </p:anim>
                                  </p:childTnLst>
                                </p:cTn>
                              </p:par>
                              <p:par>
                                <p:cTn id="118" presetID="42" presetClass="entr" presetSubtype="0" fill="hold" grpId="0" nodeType="withEffect">
                                  <p:stCondLst>
                                    <p:cond delay="480"/>
                                  </p:stCondLst>
                                  <p:childTnLst>
                                    <p:set>
                                      <p:cBhvr>
                                        <p:cTn id="119" dur="1" fill="hold">
                                          <p:stCondLst>
                                            <p:cond delay="0"/>
                                          </p:stCondLst>
                                        </p:cTn>
                                        <p:tgtEl>
                                          <p:spTgt spid="34"/>
                                        </p:tgtEl>
                                        <p:attrNameLst>
                                          <p:attrName>style.visibility</p:attrName>
                                        </p:attrNameLst>
                                      </p:cBhvr>
                                      <p:to>
                                        <p:strVal val="visible"/>
                                      </p:to>
                                    </p:set>
                                    <p:animEffect transition="in" filter="fade">
                                      <p:cBhvr>
                                        <p:cTn id="120" dur="500"/>
                                        <p:tgtEl>
                                          <p:spTgt spid="34"/>
                                        </p:tgtEl>
                                      </p:cBhvr>
                                    </p:animEffect>
                                    <p:anim calcmode="lin" valueType="num">
                                      <p:cBhvr>
                                        <p:cTn id="121" dur="500" fill="hold"/>
                                        <p:tgtEl>
                                          <p:spTgt spid="34"/>
                                        </p:tgtEl>
                                        <p:attrNameLst>
                                          <p:attrName>ppt_x</p:attrName>
                                        </p:attrNameLst>
                                      </p:cBhvr>
                                      <p:tavLst>
                                        <p:tav tm="0">
                                          <p:val>
                                            <p:strVal val="#ppt_x"/>
                                          </p:val>
                                        </p:tav>
                                        <p:tav tm="100000">
                                          <p:val>
                                            <p:strVal val="#ppt_x"/>
                                          </p:val>
                                        </p:tav>
                                      </p:tavLst>
                                    </p:anim>
                                    <p:anim calcmode="lin" valueType="num">
                                      <p:cBhvr>
                                        <p:cTn id="122" dur="500" fill="hold"/>
                                        <p:tgtEl>
                                          <p:spTgt spid="34"/>
                                        </p:tgtEl>
                                        <p:attrNameLst>
                                          <p:attrName>ppt_y</p:attrName>
                                        </p:attrNameLst>
                                      </p:cBhvr>
                                      <p:tavLst>
                                        <p:tav tm="0">
                                          <p:val>
                                            <p:strVal val="#ppt_y+.1"/>
                                          </p:val>
                                        </p:tav>
                                        <p:tav tm="100000">
                                          <p:val>
                                            <p:strVal val="#ppt_y"/>
                                          </p:val>
                                        </p:tav>
                                      </p:tavLst>
                                    </p:anim>
                                  </p:childTnLst>
                                </p:cTn>
                              </p:par>
                              <p:par>
                                <p:cTn id="123" presetID="42" presetClass="entr" presetSubtype="0" fill="hold" grpId="0" nodeType="withEffect">
                                  <p:stCondLst>
                                    <p:cond delay="480"/>
                                  </p:stCondLst>
                                  <p:childTnLst>
                                    <p:set>
                                      <p:cBhvr>
                                        <p:cTn id="124" dur="1" fill="hold">
                                          <p:stCondLst>
                                            <p:cond delay="0"/>
                                          </p:stCondLst>
                                        </p:cTn>
                                        <p:tgtEl>
                                          <p:spTgt spid="35"/>
                                        </p:tgtEl>
                                        <p:attrNameLst>
                                          <p:attrName>style.visibility</p:attrName>
                                        </p:attrNameLst>
                                      </p:cBhvr>
                                      <p:to>
                                        <p:strVal val="visible"/>
                                      </p:to>
                                    </p:set>
                                    <p:animEffect transition="in" filter="fade">
                                      <p:cBhvr>
                                        <p:cTn id="125" dur="500"/>
                                        <p:tgtEl>
                                          <p:spTgt spid="35"/>
                                        </p:tgtEl>
                                      </p:cBhvr>
                                    </p:animEffect>
                                    <p:anim calcmode="lin" valueType="num">
                                      <p:cBhvr>
                                        <p:cTn id="126" dur="500" fill="hold"/>
                                        <p:tgtEl>
                                          <p:spTgt spid="35"/>
                                        </p:tgtEl>
                                        <p:attrNameLst>
                                          <p:attrName>ppt_x</p:attrName>
                                        </p:attrNameLst>
                                      </p:cBhvr>
                                      <p:tavLst>
                                        <p:tav tm="0">
                                          <p:val>
                                            <p:strVal val="#ppt_x"/>
                                          </p:val>
                                        </p:tav>
                                        <p:tav tm="100000">
                                          <p:val>
                                            <p:strVal val="#ppt_x"/>
                                          </p:val>
                                        </p:tav>
                                      </p:tavLst>
                                    </p:anim>
                                    <p:anim calcmode="lin" valueType="num">
                                      <p:cBhvr>
                                        <p:cTn id="127" dur="5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8" grpId="0" animBg="1"/>
      <p:bldP spid="19" grpId="0" animBg="1"/>
      <p:bldP spid="22" grpId="0" animBg="1"/>
      <p:bldP spid="23" grpId="0" animBg="1"/>
      <p:bldP spid="26" grpId="0" animBg="1"/>
      <p:bldP spid="27" grpId="0" animBg="1"/>
      <p:bldP spid="30" grpId="0" animBg="1"/>
      <p:bldP spid="31" grpId="0" animBg="1"/>
      <p:bldP spid="34" grpId="0" animBg="1"/>
      <p:bldP spid="3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8F4"/>
        </a:solidFill>
        <a:effectLst/>
      </p:bgPr>
    </p:bg>
    <p:spTree>
      <p:nvGrpSpPr>
        <p:cNvPr id="1" name=""/>
        <p:cNvGrpSpPr/>
        <p:nvPr/>
      </p:nvGrpSpPr>
      <p:grpSpPr>
        <a:xfrm>
          <a:off x="0" y="0"/>
          <a:ext cx="0" cy="0"/>
          <a:chOff x="0" y="0"/>
          <a:chExt cx="0" cy="0"/>
        </a:xfrm>
      </p:grpSpPr>
      <p:sp>
        <p:nvSpPr>
          <p:cNvPr id="2" name="!!TopBar"/>
          <p:cNvSpPr/>
          <p:nvPr/>
        </p:nvSpPr>
        <p:spPr>
          <a:xfrm>
            <a:off x="0" y="0"/>
            <a:ext cx="12191695" cy="91440"/>
          </a:xfrm>
          <a:prstGeom prst="rect">
            <a:avLst/>
          </a:prstGeom>
          <a:solidFill>
            <a:srgbClr val="12201B"/>
          </a:solidFill>
          <a:ln/>
        </p:spPr>
      </p:sp>
      <p:sp>
        <p:nvSpPr>
          <p:cNvPr id="3" name="!!LogoBg"/>
          <p:cNvSpPr/>
          <p:nvPr/>
        </p:nvSpPr>
        <p:spPr>
          <a:xfrm>
            <a:off x="11256264" y="274320"/>
            <a:ext cx="402336" cy="402336"/>
          </a:xfrm>
          <a:prstGeom prst="ellipse">
            <a:avLst/>
          </a:prstGeom>
          <a:solidFill>
            <a:srgbClr val="FFFFFF"/>
          </a:solidFill>
          <a:ln/>
        </p:spPr>
      </p:sp>
      <p:pic>
        <p:nvPicPr>
          <p:cNvPr id="4" name="!!Logo" descr="Logo Trường Đại học Trà Vinh"/>
          <p:cNvPicPr>
            <a:picLocks noChangeAspect="1"/>
          </p:cNvPicPr>
          <p:nvPr/>
        </p:nvPicPr>
        <p:blipFill>
          <a:blip r:embed="rId3"/>
          <a:stretch>
            <a:fillRect/>
          </a:stretch>
        </p:blipFill>
        <p:spPr>
          <a:xfrm>
            <a:off x="11269980" y="288036"/>
            <a:ext cx="374904" cy="374904"/>
          </a:xfrm>
          <a:prstGeom prst="rect">
            <a:avLst/>
          </a:prstGeom>
        </p:spPr>
      </p:pic>
      <p:sp>
        <p:nvSpPr>
          <p:cNvPr id="5" name="!!Label"/>
          <p:cNvSpPr txBox="1"/>
          <p:nvPr/>
        </p:nvSpPr>
        <p:spPr>
          <a:xfrm>
            <a:off x="8138160" y="365760"/>
            <a:ext cx="2971800" cy="274320"/>
          </a:xfrm>
          <a:prstGeom prst="rect">
            <a:avLst/>
          </a:prstGeom>
          <a:noFill/>
          <a:ln/>
        </p:spPr>
        <p:txBody>
          <a:bodyPr wrap="square" lIns="0" tIns="0" rIns="0" bIns="0" rtlCol="0" anchor="t"/>
          <a:lstStyle/>
          <a:p>
            <a:pPr marL="0" indent="0" algn="r">
              <a:buNone/>
            </a:pPr>
            <a:r>
              <a:rPr lang="en-US" sz="1000" b="1" kern="0" spc="150" dirty="0">
                <a:solidFill>
                  <a:srgbClr val="43705F"/>
                </a:solidFill>
                <a:latin typeface="Segoe UI" pitchFamily="34" charset="0"/>
                <a:ea typeface="Segoe UI" pitchFamily="34" charset="-122"/>
                <a:cs typeface="Segoe UI" pitchFamily="34" charset="-120"/>
              </a:rPr>
              <a:t>DỮ LIỆU</a:t>
            </a:r>
            <a:endParaRPr lang="en-US" sz="1000" dirty="0"/>
          </a:p>
        </p:txBody>
      </p:sp>
      <p:sp>
        <p:nvSpPr>
          <p:cNvPr id="6" name="!!Title"/>
          <p:cNvSpPr txBox="1"/>
          <p:nvPr/>
        </p:nvSpPr>
        <p:spPr>
          <a:xfrm>
            <a:off x="548640" y="329184"/>
            <a:ext cx="8138160" cy="548640"/>
          </a:xfrm>
          <a:prstGeom prst="rect">
            <a:avLst/>
          </a:prstGeom>
          <a:noFill/>
          <a:ln/>
        </p:spPr>
        <p:txBody>
          <a:bodyPr wrap="square" lIns="0" tIns="0" rIns="0" bIns="0" rtlCol="0" anchor="t"/>
          <a:lstStyle/>
          <a:p>
            <a:pPr marL="0" indent="0">
              <a:buNone/>
            </a:pPr>
            <a:r>
              <a:rPr lang="en-US" sz="2800" b="1" dirty="0">
                <a:solidFill>
                  <a:srgbClr val="1C2B25"/>
                </a:solidFill>
                <a:latin typeface="Cambria" pitchFamily="34" charset="0"/>
                <a:ea typeface="Cambria" pitchFamily="34" charset="-122"/>
                <a:cs typeface="Cambria" pitchFamily="34" charset="-120"/>
              </a:rPr>
              <a:t>Bộ dữ liệu có nguồn</a:t>
            </a:r>
            <a:endParaRPr lang="en-US" sz="2800" dirty="0"/>
          </a:p>
        </p:txBody>
      </p:sp>
      <p:sp>
        <p:nvSpPr>
          <p:cNvPr id="7" name="!!Subtitle"/>
          <p:cNvSpPr txBox="1"/>
          <p:nvPr/>
        </p:nvSpPr>
        <p:spPr>
          <a:xfrm>
            <a:off x="548640" y="914400"/>
            <a:ext cx="10241280" cy="274320"/>
          </a:xfrm>
          <a:prstGeom prst="rect">
            <a:avLst/>
          </a:prstGeom>
          <a:noFill/>
          <a:ln/>
        </p:spPr>
        <p:txBody>
          <a:bodyPr wrap="square" lIns="0" tIns="0" rIns="0" bIns="0" rtlCol="0" anchor="t"/>
          <a:lstStyle/>
          <a:p>
            <a:pPr marL="0" indent="0">
              <a:buNone/>
            </a:pPr>
            <a:r>
              <a:rPr lang="en-US" sz="1250" dirty="0">
                <a:solidFill>
                  <a:srgbClr val="4E5B54"/>
                </a:solidFill>
                <a:latin typeface="Segoe UI" pitchFamily="34" charset="0"/>
                <a:ea typeface="Segoe UI" pitchFamily="34" charset="-122"/>
                <a:cs typeface="Segoe UI" pitchFamily="34" charset="-120"/>
              </a:rPr>
              <a:t>Bản ghi nào cũng có đường dẫn nguồn, ảnh nào cũng ghi tác giả và giấy phép</a:t>
            </a:r>
            <a:endParaRPr lang="en-US" sz="1250" dirty="0"/>
          </a:p>
        </p:txBody>
      </p:sp>
      <p:sp>
        <p:nvSpPr>
          <p:cNvPr id="8" name="!!Accent"/>
          <p:cNvSpPr/>
          <p:nvPr/>
        </p:nvSpPr>
        <p:spPr>
          <a:xfrm>
            <a:off x="548640" y="1280160"/>
            <a:ext cx="1005840" cy="45720"/>
          </a:xfrm>
          <a:prstGeom prst="rect">
            <a:avLst/>
          </a:prstGeom>
          <a:solidFill>
            <a:srgbClr val="43705F"/>
          </a:solidFill>
          <a:ln/>
        </p:spPr>
      </p:sp>
      <p:sp>
        <p:nvSpPr>
          <p:cNvPr id="9" name="!!Footer"/>
          <p:cNvSpPr txBox="1"/>
          <p:nvPr/>
        </p:nvSpPr>
        <p:spPr>
          <a:xfrm>
            <a:off x="548640" y="6455664"/>
            <a:ext cx="7315200" cy="219456"/>
          </a:xfrm>
          <a:prstGeom prst="rect">
            <a:avLst/>
          </a:prstGeom>
          <a:noFill/>
          <a:ln/>
        </p:spPr>
        <p:txBody>
          <a:bodyPr wrap="square" lIns="0" tIns="0" rIns="0" bIns="0" rtlCol="0" anchor="t"/>
          <a:lstStyle/>
          <a:p>
            <a:pPr marL="0" indent="0">
              <a:buNone/>
            </a:pPr>
            <a:r>
              <a:rPr lang="en-US" sz="900" dirty="0">
                <a:solidFill>
                  <a:srgbClr val="4E5B54"/>
                </a:solidFill>
                <a:latin typeface="Segoe UI" pitchFamily="34" charset="0"/>
                <a:ea typeface="Segoe UI" pitchFamily="34" charset="-122"/>
                <a:cs typeface="Segoe UI" pitchFamily="34" charset="-120"/>
              </a:rPr>
              <a:t>Đồ án thực tập cơ sở ngành · Website di tích Việt Nam</a:t>
            </a:r>
            <a:endParaRPr lang="en-US" sz="900" dirty="0"/>
          </a:p>
        </p:txBody>
      </p:sp>
      <p:sp>
        <p:nvSpPr>
          <p:cNvPr id="10" name="!!PageNum"/>
          <p:cNvSpPr txBox="1"/>
          <p:nvPr/>
        </p:nvSpPr>
        <p:spPr>
          <a:xfrm>
            <a:off x="11091672" y="6455664"/>
            <a:ext cx="548640" cy="219456"/>
          </a:xfrm>
          <a:prstGeom prst="rect">
            <a:avLst/>
          </a:prstGeom>
          <a:noFill/>
          <a:ln/>
        </p:spPr>
        <p:txBody>
          <a:bodyPr wrap="square" lIns="0" tIns="0" rIns="0" bIns="0" rtlCol="0" anchor="t"/>
          <a:lstStyle/>
          <a:p>
            <a:pPr marL="0" indent="0" algn="r">
              <a:buNone/>
            </a:pPr>
            <a:r>
              <a:rPr lang="en-US" sz="900" dirty="0">
                <a:solidFill>
                  <a:srgbClr val="4E5B54"/>
                </a:solidFill>
                <a:latin typeface="Segoe UI" pitchFamily="34" charset="0"/>
                <a:ea typeface="Segoe UI" pitchFamily="34" charset="-122"/>
                <a:cs typeface="Segoe UI" pitchFamily="34" charset="-120"/>
              </a:rPr>
              <a:t>13</a:t>
            </a:r>
            <a:endParaRPr lang="en-US" sz="900" dirty="0"/>
          </a:p>
        </p:txBody>
      </p:sp>
      <p:sp>
        <p:nvSpPr>
          <p:cNvPr id="11" name="S13 Rectangle 11"/>
          <p:cNvSpPr/>
          <p:nvPr/>
        </p:nvSpPr>
        <p:spPr>
          <a:xfrm>
            <a:off x="548640" y="1572768"/>
            <a:ext cx="2560320" cy="1737360"/>
          </a:xfrm>
          <a:prstGeom prst="rect">
            <a:avLst/>
          </a:prstGeom>
          <a:solidFill>
            <a:srgbClr val="FFFFFF"/>
          </a:solidFill>
          <a:ln w="9525">
            <a:solidFill>
              <a:srgbClr val="C9CDC2"/>
            </a:solidFill>
            <a:prstDash val="solid"/>
          </a:ln>
          <a:effectLst>
            <a:outerShdw blurRad="127000" dist="25400" dir="5400000" algn="bl" rotWithShape="0">
              <a:srgbClr val="000000">
                <a:alpha val="12000"/>
              </a:srgbClr>
            </a:outerShdw>
          </a:effectLst>
        </p:spPr>
      </p:sp>
      <p:sp>
        <p:nvSpPr>
          <p:cNvPr id="12" name="S13 TextBox 12"/>
          <p:cNvSpPr txBox="1"/>
          <p:nvPr/>
        </p:nvSpPr>
        <p:spPr>
          <a:xfrm>
            <a:off x="777240" y="1737360"/>
            <a:ext cx="2194560" cy="731520"/>
          </a:xfrm>
          <a:prstGeom prst="rect">
            <a:avLst/>
          </a:prstGeom>
          <a:noFill/>
          <a:ln/>
        </p:spPr>
        <p:txBody>
          <a:bodyPr wrap="square" lIns="0" tIns="0" rIns="0" bIns="0" rtlCol="0" anchor="t"/>
          <a:lstStyle/>
          <a:p>
            <a:pPr marL="0" indent="0">
              <a:buNone/>
            </a:pPr>
            <a:r>
              <a:rPr lang="en-US" sz="4600" b="1" dirty="0">
                <a:solidFill>
                  <a:srgbClr val="9E2B25"/>
                </a:solidFill>
                <a:latin typeface="Cambria" pitchFamily="34" charset="0"/>
                <a:ea typeface="Cambria" pitchFamily="34" charset="-122"/>
                <a:cs typeface="Cambria" pitchFamily="34" charset="-120"/>
              </a:rPr>
              <a:t>209</a:t>
            </a:r>
            <a:endParaRPr lang="en-US" sz="4600" dirty="0"/>
          </a:p>
        </p:txBody>
      </p:sp>
      <p:sp>
        <p:nvSpPr>
          <p:cNvPr id="13" name="S13 TextBox 13"/>
          <p:cNvSpPr txBox="1"/>
          <p:nvPr/>
        </p:nvSpPr>
        <p:spPr>
          <a:xfrm>
            <a:off x="777240" y="2487168"/>
            <a:ext cx="2148840" cy="731520"/>
          </a:xfrm>
          <a:prstGeom prst="rect">
            <a:avLst/>
          </a:prstGeom>
          <a:noFill/>
          <a:ln/>
        </p:spPr>
        <p:txBody>
          <a:bodyPr wrap="square" lIns="0" tIns="0" rIns="0" bIns="0" rtlCol="0" anchor="t"/>
          <a:lstStyle/>
          <a:p>
            <a:pPr marL="0" indent="0">
              <a:buNone/>
            </a:pPr>
            <a:r>
              <a:rPr lang="en-US" sz="1200" dirty="0">
                <a:solidFill>
                  <a:srgbClr val="4E5B54"/>
                </a:solidFill>
                <a:latin typeface="Segoe UI" pitchFamily="34" charset="0"/>
                <a:ea typeface="Segoe UI" pitchFamily="34" charset="-122"/>
                <a:cs typeface="Segoe UI" pitchFamily="34" charset="-120"/>
              </a:rPr>
              <a:t>bản ghi: 173 di tích và 36 di sản văn hóa phi vật thể</a:t>
            </a:r>
            <a:endParaRPr lang="en-US" sz="1200" dirty="0"/>
          </a:p>
        </p:txBody>
      </p:sp>
      <p:sp>
        <p:nvSpPr>
          <p:cNvPr id="14" name="S13 Rectangle 14"/>
          <p:cNvSpPr/>
          <p:nvPr/>
        </p:nvSpPr>
        <p:spPr>
          <a:xfrm>
            <a:off x="3291840" y="1572768"/>
            <a:ext cx="2560320" cy="1737360"/>
          </a:xfrm>
          <a:prstGeom prst="rect">
            <a:avLst/>
          </a:prstGeom>
          <a:solidFill>
            <a:srgbClr val="FFFFFF"/>
          </a:solidFill>
          <a:ln w="9525">
            <a:solidFill>
              <a:srgbClr val="C9CDC2"/>
            </a:solidFill>
            <a:prstDash val="solid"/>
          </a:ln>
          <a:effectLst>
            <a:outerShdw blurRad="127000" dist="25400" dir="5400000" algn="bl" rotWithShape="0">
              <a:srgbClr val="000000">
                <a:alpha val="12000"/>
              </a:srgbClr>
            </a:outerShdw>
          </a:effectLst>
        </p:spPr>
      </p:sp>
      <p:sp>
        <p:nvSpPr>
          <p:cNvPr id="15" name="S13 TextBox 15"/>
          <p:cNvSpPr txBox="1"/>
          <p:nvPr/>
        </p:nvSpPr>
        <p:spPr>
          <a:xfrm>
            <a:off x="3520440" y="1737360"/>
            <a:ext cx="2194560" cy="731520"/>
          </a:xfrm>
          <a:prstGeom prst="rect">
            <a:avLst/>
          </a:prstGeom>
          <a:noFill/>
          <a:ln/>
        </p:spPr>
        <p:txBody>
          <a:bodyPr wrap="square" lIns="0" tIns="0" rIns="0" bIns="0" rtlCol="0" anchor="t"/>
          <a:lstStyle/>
          <a:p>
            <a:pPr marL="0" indent="0">
              <a:buNone/>
            </a:pPr>
            <a:r>
              <a:rPr lang="en-US" sz="4600" b="1" dirty="0">
                <a:solidFill>
                  <a:srgbClr val="7A5C10"/>
                </a:solidFill>
                <a:latin typeface="Cambria" pitchFamily="34" charset="0"/>
                <a:ea typeface="Cambria" pitchFamily="34" charset="-122"/>
                <a:cs typeface="Cambria" pitchFamily="34" charset="-120"/>
              </a:rPr>
              <a:t>150</a:t>
            </a:r>
            <a:endParaRPr lang="en-US" sz="4600" dirty="0"/>
          </a:p>
        </p:txBody>
      </p:sp>
      <p:sp>
        <p:nvSpPr>
          <p:cNvPr id="16" name="S13 TextBox 16"/>
          <p:cNvSpPr txBox="1"/>
          <p:nvPr/>
        </p:nvSpPr>
        <p:spPr>
          <a:xfrm>
            <a:off x="3520440" y="2487168"/>
            <a:ext cx="2148840" cy="731520"/>
          </a:xfrm>
          <a:prstGeom prst="rect">
            <a:avLst/>
          </a:prstGeom>
          <a:noFill/>
          <a:ln/>
        </p:spPr>
        <p:txBody>
          <a:bodyPr wrap="square" lIns="0" tIns="0" rIns="0" bIns="0" rtlCol="0" anchor="t"/>
          <a:lstStyle/>
          <a:p>
            <a:pPr marL="0" indent="0">
              <a:buNone/>
            </a:pPr>
            <a:r>
              <a:rPr lang="en-US" sz="1200" dirty="0">
                <a:solidFill>
                  <a:srgbClr val="4E5B54"/>
                </a:solidFill>
                <a:latin typeface="Segoe UI" pitchFamily="34" charset="0"/>
                <a:ea typeface="Segoe UI" pitchFamily="34" charset="-122"/>
                <a:cs typeface="Segoe UI" pitchFamily="34" charset="-120"/>
              </a:rPr>
              <a:t>bản ghi quốc gia đặc biệt, phủ đủ 153 di tích qua 19 đợt</a:t>
            </a:r>
            <a:endParaRPr lang="en-US" sz="1200" dirty="0"/>
          </a:p>
        </p:txBody>
      </p:sp>
      <p:sp>
        <p:nvSpPr>
          <p:cNvPr id="17" name="S13 Rectangle 17"/>
          <p:cNvSpPr/>
          <p:nvPr/>
        </p:nvSpPr>
        <p:spPr>
          <a:xfrm>
            <a:off x="548640" y="3474720"/>
            <a:ext cx="2560320" cy="1737360"/>
          </a:xfrm>
          <a:prstGeom prst="rect">
            <a:avLst/>
          </a:prstGeom>
          <a:solidFill>
            <a:srgbClr val="FFFFFF"/>
          </a:solidFill>
          <a:ln w="9525">
            <a:solidFill>
              <a:srgbClr val="C9CDC2"/>
            </a:solidFill>
            <a:prstDash val="solid"/>
          </a:ln>
          <a:effectLst>
            <a:outerShdw blurRad="127000" dist="25400" dir="5400000" algn="bl" rotWithShape="0">
              <a:srgbClr val="000000">
                <a:alpha val="12000"/>
              </a:srgbClr>
            </a:outerShdw>
          </a:effectLst>
        </p:spPr>
      </p:sp>
      <p:sp>
        <p:nvSpPr>
          <p:cNvPr id="18" name="S13 TextBox 18"/>
          <p:cNvSpPr txBox="1"/>
          <p:nvPr/>
        </p:nvSpPr>
        <p:spPr>
          <a:xfrm>
            <a:off x="777240" y="3639312"/>
            <a:ext cx="2194560" cy="731520"/>
          </a:xfrm>
          <a:prstGeom prst="rect">
            <a:avLst/>
          </a:prstGeom>
          <a:noFill/>
          <a:ln/>
        </p:spPr>
        <p:txBody>
          <a:bodyPr wrap="square" lIns="0" tIns="0" rIns="0" bIns="0" rtlCol="0" anchor="t"/>
          <a:lstStyle/>
          <a:p>
            <a:pPr marL="0" indent="0">
              <a:buNone/>
            </a:pPr>
            <a:r>
              <a:rPr lang="en-US" sz="4600" b="1" dirty="0">
                <a:solidFill>
                  <a:srgbClr val="43705F"/>
                </a:solidFill>
                <a:latin typeface="Cambria" pitchFamily="34" charset="0"/>
                <a:ea typeface="Cambria" pitchFamily="34" charset="-122"/>
                <a:cs typeface="Cambria" pitchFamily="34" charset="-120"/>
              </a:rPr>
              <a:t>33/34</a:t>
            </a:r>
            <a:endParaRPr lang="en-US" sz="4600" dirty="0"/>
          </a:p>
        </p:txBody>
      </p:sp>
      <p:sp>
        <p:nvSpPr>
          <p:cNvPr id="19" name="S13 TextBox 19"/>
          <p:cNvSpPr txBox="1"/>
          <p:nvPr/>
        </p:nvSpPr>
        <p:spPr>
          <a:xfrm>
            <a:off x="777240" y="4389120"/>
            <a:ext cx="2148840" cy="731520"/>
          </a:xfrm>
          <a:prstGeom prst="rect">
            <a:avLst/>
          </a:prstGeom>
          <a:noFill/>
          <a:ln/>
        </p:spPr>
        <p:txBody>
          <a:bodyPr wrap="square" lIns="0" tIns="0" rIns="0" bIns="0" rtlCol="0" anchor="t"/>
          <a:lstStyle/>
          <a:p>
            <a:pPr marL="0" indent="0">
              <a:buNone/>
            </a:pPr>
            <a:r>
              <a:rPr lang="en-US" sz="1200" dirty="0">
                <a:solidFill>
                  <a:srgbClr val="4E5B54"/>
                </a:solidFill>
                <a:latin typeface="Segoe UI" pitchFamily="34" charset="0"/>
                <a:ea typeface="Segoe UI" pitchFamily="34" charset="-122"/>
                <a:cs typeface="Segoe UI" pitchFamily="34" charset="-120"/>
              </a:rPr>
              <a:t>tỉnh thành có dữ liệu; miền Bắc 113, Trung 61, Nam 35</a:t>
            </a:r>
            <a:endParaRPr lang="en-US" sz="1200" dirty="0"/>
          </a:p>
        </p:txBody>
      </p:sp>
      <p:sp>
        <p:nvSpPr>
          <p:cNvPr id="20" name="S13 Rectangle 20"/>
          <p:cNvSpPr/>
          <p:nvPr/>
        </p:nvSpPr>
        <p:spPr>
          <a:xfrm>
            <a:off x="3291840" y="3474720"/>
            <a:ext cx="2560320" cy="1737360"/>
          </a:xfrm>
          <a:prstGeom prst="rect">
            <a:avLst/>
          </a:prstGeom>
          <a:solidFill>
            <a:srgbClr val="FFFFFF"/>
          </a:solidFill>
          <a:ln w="9525">
            <a:solidFill>
              <a:srgbClr val="C9CDC2"/>
            </a:solidFill>
            <a:prstDash val="solid"/>
          </a:ln>
          <a:effectLst>
            <a:outerShdw blurRad="127000" dist="25400" dir="5400000" algn="bl" rotWithShape="0">
              <a:srgbClr val="000000">
                <a:alpha val="12000"/>
              </a:srgbClr>
            </a:outerShdw>
          </a:effectLst>
        </p:spPr>
      </p:sp>
      <p:sp>
        <p:nvSpPr>
          <p:cNvPr id="21" name="S13 TextBox 21"/>
          <p:cNvSpPr txBox="1"/>
          <p:nvPr/>
        </p:nvSpPr>
        <p:spPr>
          <a:xfrm>
            <a:off x="3520440" y="3639312"/>
            <a:ext cx="2194560" cy="731520"/>
          </a:xfrm>
          <a:prstGeom prst="rect">
            <a:avLst/>
          </a:prstGeom>
          <a:noFill/>
          <a:ln/>
        </p:spPr>
        <p:txBody>
          <a:bodyPr wrap="square" lIns="0" tIns="0" rIns="0" bIns="0" rtlCol="0" anchor="t"/>
          <a:lstStyle/>
          <a:p>
            <a:pPr marL="0" indent="0">
              <a:buNone/>
            </a:pPr>
            <a:r>
              <a:rPr lang="en-US" sz="4600" b="1" dirty="0">
                <a:solidFill>
                  <a:srgbClr val="1C2B25"/>
                </a:solidFill>
                <a:latin typeface="Cambria" pitchFamily="34" charset="0"/>
                <a:ea typeface="Cambria" pitchFamily="34" charset="-122"/>
                <a:cs typeface="Cambria" pitchFamily="34" charset="-120"/>
              </a:rPr>
              <a:t>216</a:t>
            </a:r>
            <a:endParaRPr lang="en-US" sz="4600" dirty="0"/>
          </a:p>
        </p:txBody>
      </p:sp>
      <p:sp>
        <p:nvSpPr>
          <p:cNvPr id="22" name="S13 TextBox 22"/>
          <p:cNvSpPr txBox="1"/>
          <p:nvPr/>
        </p:nvSpPr>
        <p:spPr>
          <a:xfrm>
            <a:off x="3520440" y="4389120"/>
            <a:ext cx="2148840" cy="731520"/>
          </a:xfrm>
          <a:prstGeom prst="rect">
            <a:avLst/>
          </a:prstGeom>
          <a:noFill/>
          <a:ln/>
        </p:spPr>
        <p:txBody>
          <a:bodyPr wrap="square" lIns="0" tIns="0" rIns="0" bIns="0" rtlCol="0" anchor="t"/>
          <a:lstStyle/>
          <a:p>
            <a:pPr marL="0" indent="0">
              <a:buNone/>
            </a:pPr>
            <a:r>
              <a:rPr lang="en-US" sz="1200" dirty="0">
                <a:solidFill>
                  <a:srgbClr val="4E5B54"/>
                </a:solidFill>
                <a:latin typeface="Segoe UI" pitchFamily="34" charset="0"/>
                <a:ea typeface="Segoe UI" pitchFamily="34" charset="-122"/>
                <a:cs typeface="Segoe UI" pitchFamily="34" charset="-120"/>
              </a:rPr>
              <a:t>ảnh cho 134 bản ghi, ghi rõ tác giả và giấy phép</a:t>
            </a:r>
            <a:endParaRPr lang="en-US" sz="1200" dirty="0"/>
          </a:p>
        </p:txBody>
      </p:sp>
      <p:sp>
        <p:nvSpPr>
          <p:cNvPr id="23" name="S13 Rectangle 23"/>
          <p:cNvSpPr/>
          <p:nvPr/>
        </p:nvSpPr>
        <p:spPr>
          <a:xfrm>
            <a:off x="548640" y="5413248"/>
            <a:ext cx="5303520" cy="804672"/>
          </a:xfrm>
          <a:prstGeom prst="rect">
            <a:avLst/>
          </a:prstGeom>
          <a:solidFill>
            <a:srgbClr val="E6E8E1"/>
          </a:solidFill>
          <a:ln/>
        </p:spPr>
        <p:txBody>
          <a:bodyPr wrap="square" lIns="177800" tIns="0" rIns="177800" bIns="0" rtlCol="0" anchor="ctr"/>
          <a:lstStyle/>
          <a:p>
            <a:pPr marL="0" indent="0">
              <a:buNone/>
            </a:pPr>
            <a:r>
              <a:rPr lang="en-US" sz="1200" dirty="0">
                <a:solidFill>
                  <a:srgbClr val="1C2B25"/>
                </a:solidFill>
                <a:latin typeface="Segoe UI" pitchFamily="34" charset="0"/>
                <a:ea typeface="Segoe UI" pitchFamily="34" charset="-122"/>
                <a:cs typeface="Segoe UI" pitchFamily="34" charset="-120"/>
              </a:rPr>
              <a:t>Nguồn ưu tiên: Cục Di sản văn hóa, Cổng Thông tin điện tử Chính phủ, cổng tỉnh. Ảnh chủ yếu từ Wikimedia Commons.</a:t>
            </a:r>
            <a:endParaRPr lang="en-US" sz="1200" dirty="0"/>
          </a:p>
        </p:txBody>
      </p:sp>
      <p:sp>
        <p:nvSpPr>
          <p:cNvPr id="24" name="S13 Rectangle 24"/>
          <p:cNvSpPr/>
          <p:nvPr/>
        </p:nvSpPr>
        <p:spPr>
          <a:xfrm>
            <a:off x="6217920" y="1572768"/>
            <a:ext cx="5422392" cy="4645152"/>
          </a:xfrm>
          <a:prstGeom prst="rect">
            <a:avLst/>
          </a:prstGeom>
          <a:solidFill>
            <a:srgbClr val="FFFFFF"/>
          </a:solidFill>
          <a:ln w="9525">
            <a:solidFill>
              <a:srgbClr val="C9CDC2"/>
            </a:solidFill>
            <a:prstDash val="solid"/>
          </a:ln>
          <a:effectLst>
            <a:outerShdw blurRad="127000" dist="25400" dir="5400000" algn="bl" rotWithShape="0">
              <a:srgbClr val="000000">
                <a:alpha val="12000"/>
              </a:srgbClr>
            </a:outerShdw>
          </a:effectLst>
        </p:spPr>
      </p:sp>
      <p:sp>
        <p:nvSpPr>
          <p:cNvPr id="25" name="S13 TextBox 25"/>
          <p:cNvSpPr txBox="1"/>
          <p:nvPr/>
        </p:nvSpPr>
        <p:spPr>
          <a:xfrm>
            <a:off x="6492240" y="1755648"/>
            <a:ext cx="4846320" cy="365760"/>
          </a:xfrm>
          <a:prstGeom prst="rect">
            <a:avLst/>
          </a:prstGeom>
          <a:noFill/>
          <a:ln/>
        </p:spPr>
        <p:txBody>
          <a:bodyPr wrap="square" lIns="0" tIns="0" rIns="0" bIns="0" rtlCol="0" anchor="t"/>
          <a:lstStyle/>
          <a:p>
            <a:pPr marL="0" indent="0">
              <a:buNone/>
            </a:pPr>
            <a:r>
              <a:rPr lang="en-US" sz="1700" b="1" dirty="0">
                <a:solidFill>
                  <a:srgbClr val="1C2B25"/>
                </a:solidFill>
                <a:latin typeface="Cambria" pitchFamily="34" charset="0"/>
                <a:ea typeface="Cambria" pitchFamily="34" charset="-122"/>
                <a:cs typeface="Cambria" pitchFamily="34" charset="-120"/>
              </a:rPr>
              <a:t>Số bản ghi theo loại</a:t>
            </a:r>
            <a:endParaRPr lang="en-US" sz="1700" dirty="0"/>
          </a:p>
        </p:txBody>
      </p:sp>
      <p:sp>
        <p:nvSpPr>
          <p:cNvPr id="26" name="S13 TextBox 26"/>
          <p:cNvSpPr txBox="1"/>
          <p:nvPr/>
        </p:nvSpPr>
        <p:spPr>
          <a:xfrm>
            <a:off x="6492240" y="2286000"/>
            <a:ext cx="4846320" cy="256032"/>
          </a:xfrm>
          <a:prstGeom prst="rect">
            <a:avLst/>
          </a:prstGeom>
          <a:noFill/>
          <a:ln/>
        </p:spPr>
        <p:txBody>
          <a:bodyPr wrap="square" lIns="0" tIns="0" rIns="0" bIns="0" rtlCol="0" anchor="t"/>
          <a:lstStyle/>
          <a:p>
            <a:pPr marL="0" indent="0">
              <a:buNone/>
            </a:pPr>
            <a:r>
              <a:rPr lang="en-US" sz="1200" dirty="0">
                <a:solidFill>
                  <a:srgbClr val="1C2B25"/>
                </a:solidFill>
                <a:latin typeface="Segoe UI" pitchFamily="34" charset="0"/>
                <a:ea typeface="Segoe UI" pitchFamily="34" charset="-122"/>
                <a:cs typeface="Segoe UI" pitchFamily="34" charset="-120"/>
              </a:rPr>
              <a:t>Di tích lịch sử</a:t>
            </a:r>
            <a:endParaRPr lang="en-US" sz="1200" dirty="0"/>
          </a:p>
        </p:txBody>
      </p:sp>
      <p:sp>
        <p:nvSpPr>
          <p:cNvPr id="27" name="S13 Rectangle 27"/>
          <p:cNvSpPr/>
          <p:nvPr/>
        </p:nvSpPr>
        <p:spPr>
          <a:xfrm>
            <a:off x="6492240" y="2578608"/>
            <a:ext cx="4069080" cy="274320"/>
          </a:xfrm>
          <a:prstGeom prst="rect">
            <a:avLst/>
          </a:prstGeom>
          <a:solidFill>
            <a:srgbClr val="43705F"/>
          </a:solidFill>
          <a:ln/>
        </p:spPr>
      </p:sp>
      <p:sp>
        <p:nvSpPr>
          <p:cNvPr id="28" name="S13 TextBox 28"/>
          <p:cNvSpPr txBox="1"/>
          <p:nvPr/>
        </p:nvSpPr>
        <p:spPr>
          <a:xfrm>
            <a:off x="10652760" y="2551176"/>
            <a:ext cx="640080" cy="329184"/>
          </a:xfrm>
          <a:prstGeom prst="rect">
            <a:avLst/>
          </a:prstGeom>
          <a:noFill/>
          <a:ln/>
        </p:spPr>
        <p:txBody>
          <a:bodyPr wrap="square" lIns="0" tIns="0" rIns="0" bIns="0" rtlCol="0" anchor="ctr"/>
          <a:lstStyle/>
          <a:p>
            <a:pPr marL="0" indent="0">
              <a:buNone/>
            </a:pPr>
            <a:r>
              <a:rPr lang="en-US" sz="1300" b="1" dirty="0">
                <a:solidFill>
                  <a:srgbClr val="1C2B25"/>
                </a:solidFill>
                <a:latin typeface="Segoe UI" pitchFamily="34" charset="0"/>
                <a:ea typeface="Segoe UI" pitchFamily="34" charset="-122"/>
                <a:cs typeface="Segoe UI" pitchFamily="34" charset="-120"/>
              </a:rPr>
              <a:t>103</a:t>
            </a:r>
            <a:endParaRPr lang="en-US" sz="1300" dirty="0"/>
          </a:p>
        </p:txBody>
      </p:sp>
      <p:sp>
        <p:nvSpPr>
          <p:cNvPr id="29" name="S13 TextBox 29"/>
          <p:cNvSpPr txBox="1"/>
          <p:nvPr/>
        </p:nvSpPr>
        <p:spPr>
          <a:xfrm>
            <a:off x="6492240" y="2999232"/>
            <a:ext cx="4846320" cy="256032"/>
          </a:xfrm>
          <a:prstGeom prst="rect">
            <a:avLst/>
          </a:prstGeom>
          <a:noFill/>
          <a:ln/>
        </p:spPr>
        <p:txBody>
          <a:bodyPr wrap="square" lIns="0" tIns="0" rIns="0" bIns="0" rtlCol="0" anchor="t"/>
          <a:lstStyle/>
          <a:p>
            <a:pPr marL="0" indent="0">
              <a:buNone/>
            </a:pPr>
            <a:r>
              <a:rPr lang="en-US" sz="1200" dirty="0">
                <a:solidFill>
                  <a:srgbClr val="1C2B25"/>
                </a:solidFill>
                <a:latin typeface="Segoe UI" pitchFamily="34" charset="0"/>
                <a:ea typeface="Segoe UI" pitchFamily="34" charset="-122"/>
                <a:cs typeface="Segoe UI" pitchFamily="34" charset="-120"/>
              </a:rPr>
              <a:t>Di tích kiến trúc nghệ thuật</a:t>
            </a:r>
            <a:endParaRPr lang="en-US" sz="1200" dirty="0"/>
          </a:p>
        </p:txBody>
      </p:sp>
      <p:sp>
        <p:nvSpPr>
          <p:cNvPr id="30" name="S13 Rectangle 30"/>
          <p:cNvSpPr/>
          <p:nvPr/>
        </p:nvSpPr>
        <p:spPr>
          <a:xfrm>
            <a:off x="6492240" y="3291840"/>
            <a:ext cx="1540720" cy="274320"/>
          </a:xfrm>
          <a:prstGeom prst="rect">
            <a:avLst/>
          </a:prstGeom>
          <a:solidFill>
            <a:srgbClr val="43705F"/>
          </a:solidFill>
          <a:ln/>
        </p:spPr>
      </p:sp>
      <p:sp>
        <p:nvSpPr>
          <p:cNvPr id="31" name="S13 TextBox 31"/>
          <p:cNvSpPr txBox="1"/>
          <p:nvPr/>
        </p:nvSpPr>
        <p:spPr>
          <a:xfrm>
            <a:off x="8124400" y="3264408"/>
            <a:ext cx="640080" cy="329184"/>
          </a:xfrm>
          <a:prstGeom prst="rect">
            <a:avLst/>
          </a:prstGeom>
          <a:noFill/>
          <a:ln/>
        </p:spPr>
        <p:txBody>
          <a:bodyPr wrap="square" lIns="0" tIns="0" rIns="0" bIns="0" rtlCol="0" anchor="ctr"/>
          <a:lstStyle/>
          <a:p>
            <a:pPr marL="0" indent="0">
              <a:buNone/>
            </a:pPr>
            <a:r>
              <a:rPr lang="en-US" sz="1300" b="1" dirty="0">
                <a:solidFill>
                  <a:srgbClr val="1C2B25"/>
                </a:solidFill>
                <a:latin typeface="Segoe UI" pitchFamily="34" charset="0"/>
                <a:ea typeface="Segoe UI" pitchFamily="34" charset="-122"/>
                <a:cs typeface="Segoe UI" pitchFamily="34" charset="-120"/>
              </a:rPr>
              <a:t>39</a:t>
            </a:r>
            <a:endParaRPr lang="en-US" sz="1300" dirty="0"/>
          </a:p>
        </p:txBody>
      </p:sp>
      <p:sp>
        <p:nvSpPr>
          <p:cNvPr id="32" name="S13 TextBox 32"/>
          <p:cNvSpPr txBox="1"/>
          <p:nvPr/>
        </p:nvSpPr>
        <p:spPr>
          <a:xfrm>
            <a:off x="6492240" y="3712464"/>
            <a:ext cx="4846320" cy="256032"/>
          </a:xfrm>
          <a:prstGeom prst="rect">
            <a:avLst/>
          </a:prstGeom>
          <a:noFill/>
          <a:ln/>
        </p:spPr>
        <p:txBody>
          <a:bodyPr wrap="square" lIns="0" tIns="0" rIns="0" bIns="0" rtlCol="0" anchor="t"/>
          <a:lstStyle/>
          <a:p>
            <a:pPr marL="0" indent="0">
              <a:buNone/>
            </a:pPr>
            <a:r>
              <a:rPr lang="en-US" sz="1200" dirty="0">
                <a:solidFill>
                  <a:srgbClr val="1C2B25"/>
                </a:solidFill>
                <a:latin typeface="Segoe UI" pitchFamily="34" charset="0"/>
                <a:ea typeface="Segoe UI" pitchFamily="34" charset="-122"/>
                <a:cs typeface="Segoe UI" pitchFamily="34" charset="-120"/>
              </a:rPr>
              <a:t>Di tích khảo cổ</a:t>
            </a:r>
            <a:endParaRPr lang="en-US" sz="1200" dirty="0"/>
          </a:p>
        </p:txBody>
      </p:sp>
      <p:sp>
        <p:nvSpPr>
          <p:cNvPr id="33" name="S13 Rectangle 33"/>
          <p:cNvSpPr/>
          <p:nvPr/>
        </p:nvSpPr>
        <p:spPr>
          <a:xfrm>
            <a:off x="6492240" y="4005072"/>
            <a:ext cx="553079" cy="274320"/>
          </a:xfrm>
          <a:prstGeom prst="rect">
            <a:avLst/>
          </a:prstGeom>
          <a:solidFill>
            <a:srgbClr val="43705F"/>
          </a:solidFill>
          <a:ln/>
        </p:spPr>
      </p:sp>
      <p:sp>
        <p:nvSpPr>
          <p:cNvPr id="34" name="S13 TextBox 34"/>
          <p:cNvSpPr txBox="1"/>
          <p:nvPr/>
        </p:nvSpPr>
        <p:spPr>
          <a:xfrm>
            <a:off x="7136759" y="3977640"/>
            <a:ext cx="640080" cy="329184"/>
          </a:xfrm>
          <a:prstGeom prst="rect">
            <a:avLst/>
          </a:prstGeom>
          <a:noFill/>
          <a:ln/>
        </p:spPr>
        <p:txBody>
          <a:bodyPr wrap="square" lIns="0" tIns="0" rIns="0" bIns="0" rtlCol="0" anchor="ctr"/>
          <a:lstStyle/>
          <a:p>
            <a:pPr marL="0" indent="0">
              <a:buNone/>
            </a:pPr>
            <a:r>
              <a:rPr lang="en-US" sz="1300" b="1" dirty="0">
                <a:solidFill>
                  <a:srgbClr val="1C2B25"/>
                </a:solidFill>
                <a:latin typeface="Segoe UI" pitchFamily="34" charset="0"/>
                <a:ea typeface="Segoe UI" pitchFamily="34" charset="-122"/>
                <a:cs typeface="Segoe UI" pitchFamily="34" charset="-120"/>
              </a:rPr>
              <a:t>14</a:t>
            </a:r>
            <a:endParaRPr lang="en-US" sz="1300" dirty="0"/>
          </a:p>
        </p:txBody>
      </p:sp>
      <p:sp>
        <p:nvSpPr>
          <p:cNvPr id="35" name="S13 TextBox 35"/>
          <p:cNvSpPr txBox="1"/>
          <p:nvPr/>
        </p:nvSpPr>
        <p:spPr>
          <a:xfrm>
            <a:off x="6492240" y="4425696"/>
            <a:ext cx="4846320" cy="256032"/>
          </a:xfrm>
          <a:prstGeom prst="rect">
            <a:avLst/>
          </a:prstGeom>
          <a:noFill/>
          <a:ln/>
        </p:spPr>
        <p:txBody>
          <a:bodyPr wrap="square" lIns="0" tIns="0" rIns="0" bIns="0" rtlCol="0" anchor="t"/>
          <a:lstStyle/>
          <a:p>
            <a:pPr marL="0" indent="0">
              <a:buNone/>
            </a:pPr>
            <a:r>
              <a:rPr lang="en-US" sz="1200" dirty="0">
                <a:solidFill>
                  <a:srgbClr val="1C2B25"/>
                </a:solidFill>
                <a:latin typeface="Segoe UI" pitchFamily="34" charset="0"/>
                <a:ea typeface="Segoe UI" pitchFamily="34" charset="-122"/>
                <a:cs typeface="Segoe UI" pitchFamily="34" charset="-120"/>
              </a:rPr>
              <a:t>Danh lam thắng cảnh</a:t>
            </a:r>
            <a:endParaRPr lang="en-US" sz="1200" dirty="0"/>
          </a:p>
        </p:txBody>
      </p:sp>
      <p:sp>
        <p:nvSpPr>
          <p:cNvPr id="36" name="S13 Rectangle 36"/>
          <p:cNvSpPr/>
          <p:nvPr/>
        </p:nvSpPr>
        <p:spPr>
          <a:xfrm>
            <a:off x="6492240" y="4718304"/>
            <a:ext cx="671596" cy="274320"/>
          </a:xfrm>
          <a:prstGeom prst="rect">
            <a:avLst/>
          </a:prstGeom>
          <a:solidFill>
            <a:srgbClr val="43705F"/>
          </a:solidFill>
          <a:ln/>
        </p:spPr>
      </p:sp>
      <p:sp>
        <p:nvSpPr>
          <p:cNvPr id="37" name="S13 TextBox 37"/>
          <p:cNvSpPr txBox="1"/>
          <p:nvPr/>
        </p:nvSpPr>
        <p:spPr>
          <a:xfrm>
            <a:off x="7255276" y="4690872"/>
            <a:ext cx="640080" cy="329184"/>
          </a:xfrm>
          <a:prstGeom prst="rect">
            <a:avLst/>
          </a:prstGeom>
          <a:noFill/>
          <a:ln/>
        </p:spPr>
        <p:txBody>
          <a:bodyPr wrap="square" lIns="0" tIns="0" rIns="0" bIns="0" rtlCol="0" anchor="ctr"/>
          <a:lstStyle/>
          <a:p>
            <a:pPr marL="0" indent="0">
              <a:buNone/>
            </a:pPr>
            <a:r>
              <a:rPr lang="en-US" sz="1300" b="1" dirty="0">
                <a:solidFill>
                  <a:srgbClr val="1C2B25"/>
                </a:solidFill>
                <a:latin typeface="Segoe UI" pitchFamily="34" charset="0"/>
                <a:ea typeface="Segoe UI" pitchFamily="34" charset="-122"/>
                <a:cs typeface="Segoe UI" pitchFamily="34" charset="-120"/>
              </a:rPr>
              <a:t>17</a:t>
            </a:r>
            <a:endParaRPr lang="en-US" sz="1300" dirty="0"/>
          </a:p>
        </p:txBody>
      </p:sp>
      <p:sp>
        <p:nvSpPr>
          <p:cNvPr id="38" name="S13 TextBox 38"/>
          <p:cNvSpPr txBox="1"/>
          <p:nvPr/>
        </p:nvSpPr>
        <p:spPr>
          <a:xfrm>
            <a:off x="6492240" y="5138928"/>
            <a:ext cx="4846320" cy="256032"/>
          </a:xfrm>
          <a:prstGeom prst="rect">
            <a:avLst/>
          </a:prstGeom>
          <a:noFill/>
          <a:ln/>
        </p:spPr>
        <p:txBody>
          <a:bodyPr wrap="square" lIns="0" tIns="0" rIns="0" bIns="0" rtlCol="0" anchor="t"/>
          <a:lstStyle/>
          <a:p>
            <a:pPr marL="0" indent="0">
              <a:buNone/>
            </a:pPr>
            <a:r>
              <a:rPr lang="en-US" sz="1200" dirty="0">
                <a:solidFill>
                  <a:srgbClr val="1C2B25"/>
                </a:solidFill>
                <a:latin typeface="Segoe UI" pitchFamily="34" charset="0"/>
                <a:ea typeface="Segoe UI" pitchFamily="34" charset="-122"/>
                <a:cs typeface="Segoe UI" pitchFamily="34" charset="-120"/>
              </a:rPr>
              <a:t>Di sản văn hóa phi vật thể</a:t>
            </a:r>
            <a:endParaRPr lang="en-US" sz="1200" dirty="0"/>
          </a:p>
        </p:txBody>
      </p:sp>
      <p:sp>
        <p:nvSpPr>
          <p:cNvPr id="39" name="S13 Rectangle 39"/>
          <p:cNvSpPr/>
          <p:nvPr/>
        </p:nvSpPr>
        <p:spPr>
          <a:xfrm>
            <a:off x="6492240" y="5431536"/>
            <a:ext cx="1422203" cy="274320"/>
          </a:xfrm>
          <a:prstGeom prst="rect">
            <a:avLst/>
          </a:prstGeom>
          <a:solidFill>
            <a:srgbClr val="7A5C10"/>
          </a:solidFill>
          <a:ln/>
        </p:spPr>
      </p:sp>
      <p:sp>
        <p:nvSpPr>
          <p:cNvPr id="40" name="S13 TextBox 40"/>
          <p:cNvSpPr txBox="1"/>
          <p:nvPr/>
        </p:nvSpPr>
        <p:spPr>
          <a:xfrm>
            <a:off x="8005883" y="5404104"/>
            <a:ext cx="640080" cy="329184"/>
          </a:xfrm>
          <a:prstGeom prst="rect">
            <a:avLst/>
          </a:prstGeom>
          <a:noFill/>
          <a:ln/>
        </p:spPr>
        <p:txBody>
          <a:bodyPr wrap="square" lIns="0" tIns="0" rIns="0" bIns="0" rtlCol="0" anchor="ctr"/>
          <a:lstStyle/>
          <a:p>
            <a:pPr marL="0" indent="0">
              <a:buNone/>
            </a:pPr>
            <a:r>
              <a:rPr lang="en-US" sz="1300" b="1" dirty="0">
                <a:solidFill>
                  <a:srgbClr val="1C2B25"/>
                </a:solidFill>
                <a:latin typeface="Segoe UI" pitchFamily="34" charset="0"/>
                <a:ea typeface="Segoe UI" pitchFamily="34" charset="-122"/>
                <a:cs typeface="Segoe UI" pitchFamily="34" charset="-120"/>
              </a:rPr>
              <a:t>36</a:t>
            </a:r>
            <a:endParaRPr lang="en-US" sz="1300" dirty="0"/>
          </a:p>
        </p:txBody>
      </p:sp>
      <p:sp>
        <p:nvSpPr>
          <p:cNvPr id="41" name="S13 TextBox 41"/>
          <p:cNvSpPr txBox="1"/>
          <p:nvPr/>
        </p:nvSpPr>
        <p:spPr>
          <a:xfrm>
            <a:off x="6492240" y="5833872"/>
            <a:ext cx="4937760" cy="274320"/>
          </a:xfrm>
          <a:prstGeom prst="rect">
            <a:avLst/>
          </a:prstGeom>
          <a:noFill/>
          <a:ln/>
        </p:spPr>
        <p:txBody>
          <a:bodyPr wrap="square" lIns="0" tIns="0" rIns="0" bIns="0" rtlCol="0" anchor="t"/>
          <a:lstStyle/>
          <a:p>
            <a:pPr marL="0" indent="0">
              <a:buNone/>
            </a:pPr>
            <a:r>
              <a:rPr lang="en-US" sz="1050" dirty="0">
                <a:solidFill>
                  <a:srgbClr val="4E5B54"/>
                </a:solidFill>
                <a:latin typeface="Segoe UI" pitchFamily="34" charset="0"/>
                <a:ea typeface="Segoe UI" pitchFamily="34" charset="-122"/>
                <a:cs typeface="Segoe UI" pitchFamily="34" charset="-120"/>
              </a:rPr>
              <a:t>Bốn loại đầu theo Luật Di sản văn hóa, loại thứ năm là phần mở rộng.</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anim calcmode="lin" valueType="num">
                                      <p:cBhvr>
                                        <p:cTn id="8" dur="500" fill="hold"/>
                                        <p:tgtEl>
                                          <p:spTgt spid="11"/>
                                        </p:tgtEl>
                                        <p:attrNameLst>
                                          <p:attrName>ppt_x</p:attrName>
                                        </p:attrNameLst>
                                      </p:cBhvr>
                                      <p:tavLst>
                                        <p:tav tm="0">
                                          <p:val>
                                            <p:strVal val="#ppt_x"/>
                                          </p:val>
                                        </p:tav>
                                        <p:tav tm="100000">
                                          <p:val>
                                            <p:strVal val="#ppt_x"/>
                                          </p:val>
                                        </p:tav>
                                      </p:tavLst>
                                    </p:anim>
                                    <p:anim calcmode="lin" valueType="num">
                                      <p:cBhvr>
                                        <p:cTn id="9" dur="500" fill="hold"/>
                                        <p:tgtEl>
                                          <p:spTgt spid="11"/>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42"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anim calcmode="lin" valueType="num">
                                      <p:cBhvr>
                                        <p:cTn id="16" dur="500" fill="hold"/>
                                        <p:tgtEl>
                                          <p:spTgt spid="13"/>
                                        </p:tgtEl>
                                        <p:attrNameLst>
                                          <p:attrName>ppt_x</p:attrName>
                                        </p:attrNameLst>
                                      </p:cBhvr>
                                      <p:tavLst>
                                        <p:tav tm="0">
                                          <p:val>
                                            <p:strVal val="#ppt_x"/>
                                          </p:val>
                                        </p:tav>
                                        <p:tav tm="100000">
                                          <p:val>
                                            <p:strVal val="#ppt_x"/>
                                          </p:val>
                                        </p:tav>
                                      </p:tavLst>
                                    </p:anim>
                                    <p:anim calcmode="lin" valueType="num">
                                      <p:cBhvr>
                                        <p:cTn id="17" dur="500" fill="hold"/>
                                        <p:tgtEl>
                                          <p:spTgt spid="13"/>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12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anim calcmode="lin" valueType="num">
                                      <p:cBhvr>
                                        <p:cTn id="21" dur="500" fill="hold"/>
                                        <p:tgtEl>
                                          <p:spTgt spid="14"/>
                                        </p:tgtEl>
                                        <p:attrNameLst>
                                          <p:attrName>ppt_x</p:attrName>
                                        </p:attrNameLst>
                                      </p:cBhvr>
                                      <p:tavLst>
                                        <p:tav tm="0">
                                          <p:val>
                                            <p:strVal val="#ppt_x"/>
                                          </p:val>
                                        </p:tav>
                                        <p:tav tm="100000">
                                          <p:val>
                                            <p:strVal val="#ppt_x"/>
                                          </p:val>
                                        </p:tav>
                                      </p:tavLst>
                                    </p:anim>
                                    <p:anim calcmode="lin" valueType="num">
                                      <p:cBhvr>
                                        <p:cTn id="22" dur="500" fill="hold"/>
                                        <p:tgtEl>
                                          <p:spTgt spid="14"/>
                                        </p:tgtEl>
                                        <p:attrNameLst>
                                          <p:attrName>ppt_y</p:attrName>
                                        </p:attrNameLst>
                                      </p:cBhvr>
                                      <p:tavLst>
                                        <p:tav tm="0">
                                          <p:val>
                                            <p:strVal val="#ppt_y+.1"/>
                                          </p:val>
                                        </p:tav>
                                        <p:tav tm="100000">
                                          <p:val>
                                            <p:strVal val="#ppt_y"/>
                                          </p:val>
                                        </p:tav>
                                      </p:tavLst>
                                    </p:anim>
                                  </p:childTnLst>
                                </p:cTn>
                              </p:par>
                              <p:par>
                                <p:cTn id="23" presetID="10" presetClass="entr" presetSubtype="0" fill="hold" grpId="0" nodeType="withEffect">
                                  <p:stCondLst>
                                    <p:cond delay="12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par>
                                <p:cTn id="26" presetID="42" presetClass="entr" presetSubtype="0" fill="hold" grpId="0" nodeType="withEffect">
                                  <p:stCondLst>
                                    <p:cond delay="12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anim calcmode="lin" valueType="num">
                                      <p:cBhvr>
                                        <p:cTn id="29" dur="500" fill="hold"/>
                                        <p:tgtEl>
                                          <p:spTgt spid="16"/>
                                        </p:tgtEl>
                                        <p:attrNameLst>
                                          <p:attrName>ppt_x</p:attrName>
                                        </p:attrNameLst>
                                      </p:cBhvr>
                                      <p:tavLst>
                                        <p:tav tm="0">
                                          <p:val>
                                            <p:strVal val="#ppt_x"/>
                                          </p:val>
                                        </p:tav>
                                        <p:tav tm="100000">
                                          <p:val>
                                            <p:strVal val="#ppt_x"/>
                                          </p:val>
                                        </p:tav>
                                      </p:tavLst>
                                    </p:anim>
                                    <p:anim calcmode="lin" valueType="num">
                                      <p:cBhvr>
                                        <p:cTn id="30" dur="500" fill="hold"/>
                                        <p:tgtEl>
                                          <p:spTgt spid="16"/>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24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anim calcmode="lin" valueType="num">
                                      <p:cBhvr>
                                        <p:cTn id="34" dur="500" fill="hold"/>
                                        <p:tgtEl>
                                          <p:spTgt spid="17"/>
                                        </p:tgtEl>
                                        <p:attrNameLst>
                                          <p:attrName>ppt_x</p:attrName>
                                        </p:attrNameLst>
                                      </p:cBhvr>
                                      <p:tavLst>
                                        <p:tav tm="0">
                                          <p:val>
                                            <p:strVal val="#ppt_x"/>
                                          </p:val>
                                        </p:tav>
                                        <p:tav tm="100000">
                                          <p:val>
                                            <p:strVal val="#ppt_x"/>
                                          </p:val>
                                        </p:tav>
                                      </p:tavLst>
                                    </p:anim>
                                    <p:anim calcmode="lin" valueType="num">
                                      <p:cBhvr>
                                        <p:cTn id="35" dur="500" fill="hold"/>
                                        <p:tgtEl>
                                          <p:spTgt spid="17"/>
                                        </p:tgtEl>
                                        <p:attrNameLst>
                                          <p:attrName>ppt_y</p:attrName>
                                        </p:attrNameLst>
                                      </p:cBhvr>
                                      <p:tavLst>
                                        <p:tav tm="0">
                                          <p:val>
                                            <p:strVal val="#ppt_y+.1"/>
                                          </p:val>
                                        </p:tav>
                                        <p:tav tm="100000">
                                          <p:val>
                                            <p:strVal val="#ppt_y"/>
                                          </p:val>
                                        </p:tav>
                                      </p:tavLst>
                                    </p:anim>
                                  </p:childTnLst>
                                </p:cTn>
                              </p:par>
                              <p:par>
                                <p:cTn id="36" presetID="10" presetClass="entr" presetSubtype="0" fill="hold" grpId="0" nodeType="withEffect">
                                  <p:stCondLst>
                                    <p:cond delay="24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par>
                                <p:cTn id="39" presetID="42" presetClass="entr" presetSubtype="0" fill="hold" grpId="0" nodeType="withEffect">
                                  <p:stCondLst>
                                    <p:cond delay="24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anim calcmode="lin" valueType="num">
                                      <p:cBhvr>
                                        <p:cTn id="42" dur="500" fill="hold"/>
                                        <p:tgtEl>
                                          <p:spTgt spid="19"/>
                                        </p:tgtEl>
                                        <p:attrNameLst>
                                          <p:attrName>ppt_x</p:attrName>
                                        </p:attrNameLst>
                                      </p:cBhvr>
                                      <p:tavLst>
                                        <p:tav tm="0">
                                          <p:val>
                                            <p:strVal val="#ppt_x"/>
                                          </p:val>
                                        </p:tav>
                                        <p:tav tm="100000">
                                          <p:val>
                                            <p:strVal val="#ppt_x"/>
                                          </p:val>
                                        </p:tav>
                                      </p:tavLst>
                                    </p:anim>
                                    <p:anim calcmode="lin" valueType="num">
                                      <p:cBhvr>
                                        <p:cTn id="43" dur="500" fill="hold"/>
                                        <p:tgtEl>
                                          <p:spTgt spid="19"/>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36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anim calcmode="lin" valueType="num">
                                      <p:cBhvr>
                                        <p:cTn id="47" dur="500" fill="hold"/>
                                        <p:tgtEl>
                                          <p:spTgt spid="20"/>
                                        </p:tgtEl>
                                        <p:attrNameLst>
                                          <p:attrName>ppt_x</p:attrName>
                                        </p:attrNameLst>
                                      </p:cBhvr>
                                      <p:tavLst>
                                        <p:tav tm="0">
                                          <p:val>
                                            <p:strVal val="#ppt_x"/>
                                          </p:val>
                                        </p:tav>
                                        <p:tav tm="100000">
                                          <p:val>
                                            <p:strVal val="#ppt_x"/>
                                          </p:val>
                                        </p:tav>
                                      </p:tavLst>
                                    </p:anim>
                                    <p:anim calcmode="lin" valueType="num">
                                      <p:cBhvr>
                                        <p:cTn id="48" dur="500" fill="hold"/>
                                        <p:tgtEl>
                                          <p:spTgt spid="20"/>
                                        </p:tgtEl>
                                        <p:attrNameLst>
                                          <p:attrName>ppt_y</p:attrName>
                                        </p:attrNameLst>
                                      </p:cBhvr>
                                      <p:tavLst>
                                        <p:tav tm="0">
                                          <p:val>
                                            <p:strVal val="#ppt_y+.1"/>
                                          </p:val>
                                        </p:tav>
                                        <p:tav tm="100000">
                                          <p:val>
                                            <p:strVal val="#ppt_y"/>
                                          </p:val>
                                        </p:tav>
                                      </p:tavLst>
                                    </p:anim>
                                  </p:childTnLst>
                                </p:cTn>
                              </p:par>
                              <p:par>
                                <p:cTn id="49" presetID="10" presetClass="entr" presetSubtype="0" fill="hold" grpId="0" nodeType="withEffect">
                                  <p:stCondLst>
                                    <p:cond delay="36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500"/>
                                        <p:tgtEl>
                                          <p:spTgt spid="21"/>
                                        </p:tgtEl>
                                      </p:cBhvr>
                                    </p:animEffect>
                                  </p:childTnLst>
                                </p:cTn>
                              </p:par>
                              <p:par>
                                <p:cTn id="52" presetID="42" presetClass="entr" presetSubtype="0" fill="hold" grpId="0" nodeType="withEffect">
                                  <p:stCondLst>
                                    <p:cond delay="36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500"/>
                                        <p:tgtEl>
                                          <p:spTgt spid="22"/>
                                        </p:tgtEl>
                                      </p:cBhvr>
                                    </p:animEffect>
                                    <p:anim calcmode="lin" valueType="num">
                                      <p:cBhvr>
                                        <p:cTn id="55" dur="500" fill="hold"/>
                                        <p:tgtEl>
                                          <p:spTgt spid="22"/>
                                        </p:tgtEl>
                                        <p:attrNameLst>
                                          <p:attrName>ppt_x</p:attrName>
                                        </p:attrNameLst>
                                      </p:cBhvr>
                                      <p:tavLst>
                                        <p:tav tm="0">
                                          <p:val>
                                            <p:strVal val="#ppt_x"/>
                                          </p:val>
                                        </p:tav>
                                        <p:tav tm="100000">
                                          <p:val>
                                            <p:strVal val="#ppt_x"/>
                                          </p:val>
                                        </p:tav>
                                      </p:tavLst>
                                    </p:anim>
                                    <p:anim calcmode="lin" valueType="num">
                                      <p:cBhvr>
                                        <p:cTn id="56" dur="500" fill="hold"/>
                                        <p:tgtEl>
                                          <p:spTgt spid="22"/>
                                        </p:tgtEl>
                                        <p:attrNameLst>
                                          <p:attrName>ppt_y</p:attrName>
                                        </p:attrNameLst>
                                      </p:cBhvr>
                                      <p:tavLst>
                                        <p:tav tm="0">
                                          <p:val>
                                            <p:strVal val="#ppt_y+.1"/>
                                          </p:val>
                                        </p:tav>
                                        <p:tav tm="100000">
                                          <p:val>
                                            <p:strVal val="#ppt_y"/>
                                          </p:val>
                                        </p:tav>
                                      </p:tavLst>
                                    </p:anim>
                                  </p:childTnLst>
                                </p:cTn>
                              </p:par>
                            </p:childTnLst>
                          </p:cTn>
                        </p:par>
                        <p:par>
                          <p:cTn id="57" fill="hold">
                            <p:stCondLst>
                              <p:cond delay="860"/>
                            </p:stCondLst>
                            <p:childTnLst>
                              <p:par>
                                <p:cTn id="58" presetID="6" presetClass="emph" presetSubtype="0" autoRev="1" fill="hold" grpId="1" nodeType="afterEffect">
                                  <p:stCondLst>
                                    <p:cond delay="50"/>
                                  </p:stCondLst>
                                  <p:childTnLst>
                                    <p:animScale>
                                      <p:cBhvr>
                                        <p:cTn id="59" dur="450" fill="hold"/>
                                        <p:tgtEl>
                                          <p:spTgt spid="12"/>
                                        </p:tgtEl>
                                      </p:cBhvr>
                                      <p:by x="150000" y="150000"/>
                                      <p:to x="108000" y="108000"/>
                                    </p:animScale>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12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22" presetClass="entr" presetSubtype="8" fill="hold" nodeType="withEffect">
                                  <p:stCondLst>
                                    <p:cond delay="120"/>
                                  </p:stCondLst>
                                  <p:childTnLst>
                                    <p:set>
                                      <p:cBhvr>
                                        <p:cTn id="72" dur="1" fill="hold">
                                          <p:stCondLst>
                                            <p:cond delay="0"/>
                                          </p:stCondLst>
                                        </p:cTn>
                                        <p:tgtEl>
                                          <p:spTgt spid="27"/>
                                        </p:tgtEl>
                                        <p:attrNameLst>
                                          <p:attrName>style.visibility</p:attrName>
                                        </p:attrNameLst>
                                      </p:cBhvr>
                                      <p:to>
                                        <p:strVal val="visible"/>
                                      </p:to>
                                    </p:set>
                                    <p:animEffect transition="in" filter="wipe(left)">
                                      <p:cBhvr>
                                        <p:cTn id="73" dur="500"/>
                                        <p:tgtEl>
                                          <p:spTgt spid="27"/>
                                        </p:tgtEl>
                                      </p:cBhvr>
                                    </p:animEffect>
                                  </p:childTnLst>
                                </p:cTn>
                              </p:par>
                              <p:par>
                                <p:cTn id="74" presetID="10" presetClass="entr" presetSubtype="0" fill="hold" grpId="0" nodeType="withEffect">
                                  <p:stCondLst>
                                    <p:cond delay="12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24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22" presetClass="entr" presetSubtype="8" fill="hold" nodeType="withEffect">
                                  <p:stCondLst>
                                    <p:cond delay="240"/>
                                  </p:stCondLst>
                                  <p:childTnLst>
                                    <p:set>
                                      <p:cBhvr>
                                        <p:cTn id="81" dur="1" fill="hold">
                                          <p:stCondLst>
                                            <p:cond delay="0"/>
                                          </p:stCondLst>
                                        </p:cTn>
                                        <p:tgtEl>
                                          <p:spTgt spid="30"/>
                                        </p:tgtEl>
                                        <p:attrNameLst>
                                          <p:attrName>style.visibility</p:attrName>
                                        </p:attrNameLst>
                                      </p:cBhvr>
                                      <p:to>
                                        <p:strVal val="visible"/>
                                      </p:to>
                                    </p:set>
                                    <p:animEffect transition="in" filter="wipe(left)">
                                      <p:cBhvr>
                                        <p:cTn id="82" dur="500"/>
                                        <p:tgtEl>
                                          <p:spTgt spid="30"/>
                                        </p:tgtEl>
                                      </p:cBhvr>
                                    </p:animEffect>
                                  </p:childTnLst>
                                </p:cTn>
                              </p:par>
                              <p:par>
                                <p:cTn id="83" presetID="10" presetClass="entr" presetSubtype="0" fill="hold" grpId="0" nodeType="withEffect">
                                  <p:stCondLst>
                                    <p:cond delay="24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36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22" presetClass="entr" presetSubtype="8" fill="hold" nodeType="withEffect">
                                  <p:stCondLst>
                                    <p:cond delay="360"/>
                                  </p:stCondLst>
                                  <p:childTnLst>
                                    <p:set>
                                      <p:cBhvr>
                                        <p:cTn id="90" dur="1" fill="hold">
                                          <p:stCondLst>
                                            <p:cond delay="0"/>
                                          </p:stCondLst>
                                        </p:cTn>
                                        <p:tgtEl>
                                          <p:spTgt spid="33"/>
                                        </p:tgtEl>
                                        <p:attrNameLst>
                                          <p:attrName>style.visibility</p:attrName>
                                        </p:attrNameLst>
                                      </p:cBhvr>
                                      <p:to>
                                        <p:strVal val="visible"/>
                                      </p:to>
                                    </p:set>
                                    <p:animEffect transition="in" filter="wipe(left)">
                                      <p:cBhvr>
                                        <p:cTn id="91" dur="500"/>
                                        <p:tgtEl>
                                          <p:spTgt spid="33"/>
                                        </p:tgtEl>
                                      </p:cBhvr>
                                    </p:animEffect>
                                  </p:childTnLst>
                                </p:cTn>
                              </p:par>
                              <p:par>
                                <p:cTn id="92" presetID="10" presetClass="entr" presetSubtype="0" fill="hold" grpId="0" nodeType="withEffect">
                                  <p:stCondLst>
                                    <p:cond delay="36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par>
                                <p:cTn id="95" presetID="10" presetClass="entr" presetSubtype="0" fill="hold" grpId="0" nodeType="withEffect">
                                  <p:stCondLst>
                                    <p:cond delay="48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22" presetClass="entr" presetSubtype="8" fill="hold" nodeType="withEffect">
                                  <p:stCondLst>
                                    <p:cond delay="480"/>
                                  </p:stCondLst>
                                  <p:childTnLst>
                                    <p:set>
                                      <p:cBhvr>
                                        <p:cTn id="99" dur="1" fill="hold">
                                          <p:stCondLst>
                                            <p:cond delay="0"/>
                                          </p:stCondLst>
                                        </p:cTn>
                                        <p:tgtEl>
                                          <p:spTgt spid="36"/>
                                        </p:tgtEl>
                                        <p:attrNameLst>
                                          <p:attrName>style.visibility</p:attrName>
                                        </p:attrNameLst>
                                      </p:cBhvr>
                                      <p:to>
                                        <p:strVal val="visible"/>
                                      </p:to>
                                    </p:set>
                                    <p:animEffect transition="in" filter="wipe(left)">
                                      <p:cBhvr>
                                        <p:cTn id="100" dur="500"/>
                                        <p:tgtEl>
                                          <p:spTgt spid="36"/>
                                        </p:tgtEl>
                                      </p:cBhvr>
                                    </p:animEffect>
                                  </p:childTnLst>
                                </p:cTn>
                              </p:par>
                              <p:par>
                                <p:cTn id="101" presetID="10" presetClass="entr" presetSubtype="0" fill="hold" grpId="0" nodeType="withEffect">
                                  <p:stCondLst>
                                    <p:cond delay="48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par>
                                <p:cTn id="104" presetID="10" presetClass="entr" presetSubtype="0" fill="hold" grpId="0" nodeType="withEffect">
                                  <p:stCondLst>
                                    <p:cond delay="60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500"/>
                                        <p:tgtEl>
                                          <p:spTgt spid="38"/>
                                        </p:tgtEl>
                                      </p:cBhvr>
                                    </p:animEffect>
                                  </p:childTnLst>
                                </p:cTn>
                              </p:par>
                              <p:par>
                                <p:cTn id="107" presetID="22" presetClass="entr" presetSubtype="8" fill="hold" nodeType="withEffect">
                                  <p:stCondLst>
                                    <p:cond delay="600"/>
                                  </p:stCondLst>
                                  <p:childTnLst>
                                    <p:set>
                                      <p:cBhvr>
                                        <p:cTn id="108" dur="1" fill="hold">
                                          <p:stCondLst>
                                            <p:cond delay="0"/>
                                          </p:stCondLst>
                                        </p:cTn>
                                        <p:tgtEl>
                                          <p:spTgt spid="39"/>
                                        </p:tgtEl>
                                        <p:attrNameLst>
                                          <p:attrName>style.visibility</p:attrName>
                                        </p:attrNameLst>
                                      </p:cBhvr>
                                      <p:to>
                                        <p:strVal val="visible"/>
                                      </p:to>
                                    </p:set>
                                    <p:animEffect transition="in" filter="wipe(left)">
                                      <p:cBhvr>
                                        <p:cTn id="109" dur="500"/>
                                        <p:tgtEl>
                                          <p:spTgt spid="39"/>
                                        </p:tgtEl>
                                      </p:cBhvr>
                                    </p:animEffect>
                                  </p:childTnLst>
                                </p:cTn>
                              </p:par>
                              <p:par>
                                <p:cTn id="110" presetID="10" presetClass="entr" presetSubtype="0" fill="hold" grpId="0" nodeType="withEffect">
                                  <p:stCondLst>
                                    <p:cond delay="60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par>
                                <p:cTn id="113" presetID="10" presetClass="entr" presetSubtype="0" fill="hold" grpId="0" nodeType="withEffect">
                                  <p:stCondLst>
                                    <p:cond delay="72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500"/>
                                        <p:tgtEl>
                                          <p:spTgt spid="41"/>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23"/>
                                        </p:tgtEl>
                                        <p:attrNameLst>
                                          <p:attrName>style.visibility</p:attrName>
                                        </p:attrNameLst>
                                      </p:cBhvr>
                                      <p:to>
                                        <p:strVal val="visible"/>
                                      </p:to>
                                    </p:set>
                                    <p:animEffect transition="in" filter="fade">
                                      <p:cBhvr>
                                        <p:cTn id="12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3" grpId="0" animBg="1"/>
      <p:bldP spid="15" grpId="0" animBg="1"/>
      <p:bldP spid="16" grpId="0" animBg="1"/>
      <p:bldP spid="18" grpId="0" animBg="1"/>
      <p:bldP spid="19" grpId="0" animBg="1"/>
      <p:bldP spid="21" grpId="0" animBg="1"/>
      <p:bldP spid="22" grpId="0" animBg="1"/>
      <p:bldP spid="23" grpId="0" animBg="1"/>
      <p:bldP spid="25" grpId="0" animBg="1"/>
      <p:bldP spid="26" grpId="0" animBg="1"/>
      <p:bldP spid="28" grpId="0" animBg="1"/>
      <p:bldP spid="29" grpId="0" animBg="1"/>
      <p:bldP spid="31" grpId="0" animBg="1"/>
      <p:bldP spid="32" grpId="0" animBg="1"/>
      <p:bldP spid="34" grpId="0" animBg="1"/>
      <p:bldP spid="35" grpId="0" animBg="1"/>
      <p:bldP spid="37" grpId="0" animBg="1"/>
      <p:bldP spid="38" grpId="0" animBg="1"/>
      <p:bldP spid="40" grpId="0" animBg="1"/>
      <p:bldP spid="4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8F4"/>
        </a:solidFill>
        <a:effectLst/>
      </p:bgPr>
    </p:bg>
    <p:spTree>
      <p:nvGrpSpPr>
        <p:cNvPr id="1" name=""/>
        <p:cNvGrpSpPr/>
        <p:nvPr/>
      </p:nvGrpSpPr>
      <p:grpSpPr>
        <a:xfrm>
          <a:off x="0" y="0"/>
          <a:ext cx="0" cy="0"/>
          <a:chOff x="0" y="0"/>
          <a:chExt cx="0" cy="0"/>
        </a:xfrm>
      </p:grpSpPr>
      <p:sp>
        <p:nvSpPr>
          <p:cNvPr id="2" name="!!TopBar"/>
          <p:cNvSpPr/>
          <p:nvPr/>
        </p:nvSpPr>
        <p:spPr>
          <a:xfrm>
            <a:off x="0" y="0"/>
            <a:ext cx="12191695" cy="91440"/>
          </a:xfrm>
          <a:prstGeom prst="rect">
            <a:avLst/>
          </a:prstGeom>
          <a:solidFill>
            <a:srgbClr val="12201B"/>
          </a:solidFill>
          <a:ln/>
        </p:spPr>
      </p:sp>
      <p:sp>
        <p:nvSpPr>
          <p:cNvPr id="3" name="!!LogoBg"/>
          <p:cNvSpPr/>
          <p:nvPr/>
        </p:nvSpPr>
        <p:spPr>
          <a:xfrm>
            <a:off x="11256264" y="274320"/>
            <a:ext cx="402336" cy="402336"/>
          </a:xfrm>
          <a:prstGeom prst="ellipse">
            <a:avLst/>
          </a:prstGeom>
          <a:solidFill>
            <a:srgbClr val="FFFFFF"/>
          </a:solidFill>
          <a:ln/>
        </p:spPr>
      </p:sp>
      <p:pic>
        <p:nvPicPr>
          <p:cNvPr id="4" name="!!Logo" descr="Logo Trường Đại học Trà Vinh"/>
          <p:cNvPicPr>
            <a:picLocks noChangeAspect="1"/>
          </p:cNvPicPr>
          <p:nvPr/>
        </p:nvPicPr>
        <p:blipFill>
          <a:blip r:embed="rId3"/>
          <a:stretch>
            <a:fillRect/>
          </a:stretch>
        </p:blipFill>
        <p:spPr>
          <a:xfrm>
            <a:off x="11269980" y="288036"/>
            <a:ext cx="374904" cy="374904"/>
          </a:xfrm>
          <a:prstGeom prst="rect">
            <a:avLst/>
          </a:prstGeom>
        </p:spPr>
      </p:pic>
      <p:sp>
        <p:nvSpPr>
          <p:cNvPr id="5" name="!!Label"/>
          <p:cNvSpPr txBox="1"/>
          <p:nvPr/>
        </p:nvSpPr>
        <p:spPr>
          <a:xfrm>
            <a:off x="8138160" y="365760"/>
            <a:ext cx="2971800" cy="274320"/>
          </a:xfrm>
          <a:prstGeom prst="rect">
            <a:avLst/>
          </a:prstGeom>
          <a:noFill/>
          <a:ln/>
        </p:spPr>
        <p:txBody>
          <a:bodyPr wrap="square" lIns="0" tIns="0" rIns="0" bIns="0" rtlCol="0" anchor="t"/>
          <a:lstStyle/>
          <a:p>
            <a:pPr marL="0" indent="0" algn="r">
              <a:buNone/>
            </a:pPr>
            <a:r>
              <a:rPr lang="en-US" sz="1000" b="1" kern="0" spc="150" dirty="0">
                <a:solidFill>
                  <a:srgbClr val="43705F"/>
                </a:solidFill>
                <a:latin typeface="Segoe UI" pitchFamily="34" charset="0"/>
                <a:ea typeface="Segoe UI" pitchFamily="34" charset="-122"/>
                <a:cs typeface="Segoe UI" pitchFamily="34" charset="-120"/>
              </a:rPr>
              <a:t>KIỂM THỬ</a:t>
            </a:r>
            <a:endParaRPr lang="en-US" sz="1000" dirty="0"/>
          </a:p>
        </p:txBody>
      </p:sp>
      <p:sp>
        <p:nvSpPr>
          <p:cNvPr id="6" name="!!Title"/>
          <p:cNvSpPr txBox="1"/>
          <p:nvPr/>
        </p:nvSpPr>
        <p:spPr>
          <a:xfrm>
            <a:off x="548640" y="329184"/>
            <a:ext cx="8138160" cy="548640"/>
          </a:xfrm>
          <a:prstGeom prst="rect">
            <a:avLst/>
          </a:prstGeom>
          <a:noFill/>
          <a:ln/>
        </p:spPr>
        <p:txBody>
          <a:bodyPr wrap="square" lIns="0" tIns="0" rIns="0" bIns="0" rtlCol="0" anchor="t"/>
          <a:lstStyle/>
          <a:p>
            <a:pPr marL="0" indent="0">
              <a:buNone/>
            </a:pPr>
            <a:r>
              <a:rPr lang="en-US" sz="2800" b="1" dirty="0">
                <a:solidFill>
                  <a:srgbClr val="1C2B25"/>
                </a:solidFill>
                <a:latin typeface="Cambria" pitchFamily="34" charset="0"/>
                <a:ea typeface="Cambria" pitchFamily="34" charset="-122"/>
                <a:cs typeface="Cambria" pitchFamily="34" charset="-120"/>
              </a:rPr>
              <a:t>Kết quả kiểm thử</a:t>
            </a:r>
            <a:endParaRPr lang="en-US" sz="2800" dirty="0"/>
          </a:p>
        </p:txBody>
      </p:sp>
      <p:sp>
        <p:nvSpPr>
          <p:cNvPr id="7" name="!!Subtitle"/>
          <p:cNvSpPr txBox="1"/>
          <p:nvPr/>
        </p:nvSpPr>
        <p:spPr>
          <a:xfrm>
            <a:off x="548640" y="914400"/>
            <a:ext cx="10241280" cy="274320"/>
          </a:xfrm>
          <a:prstGeom prst="rect">
            <a:avLst/>
          </a:prstGeom>
          <a:noFill/>
          <a:ln/>
        </p:spPr>
        <p:txBody>
          <a:bodyPr wrap="square" lIns="0" tIns="0" rIns="0" bIns="0" rtlCol="0" anchor="t"/>
          <a:lstStyle/>
          <a:p>
            <a:pPr marL="0" indent="0">
              <a:buNone/>
            </a:pPr>
            <a:r>
              <a:rPr lang="en-US" sz="1250" dirty="0">
                <a:solidFill>
                  <a:srgbClr val="4E5B54"/>
                </a:solidFill>
                <a:latin typeface="Segoe UI" pitchFamily="34" charset="0"/>
                <a:ea typeface="Segoe UI" pitchFamily="34" charset="-122"/>
                <a:cs typeface="Segoe UI" pitchFamily="34" charset="-120"/>
              </a:rPr>
              <a:t>50 test case hộp đen, chạy trên bản publish Release ở môi trường Production</a:t>
            </a:r>
            <a:endParaRPr lang="en-US" sz="1250" dirty="0"/>
          </a:p>
        </p:txBody>
      </p:sp>
      <p:sp>
        <p:nvSpPr>
          <p:cNvPr id="8" name="!!Accent"/>
          <p:cNvSpPr/>
          <p:nvPr/>
        </p:nvSpPr>
        <p:spPr>
          <a:xfrm>
            <a:off x="548640" y="1280160"/>
            <a:ext cx="1005840" cy="45720"/>
          </a:xfrm>
          <a:prstGeom prst="rect">
            <a:avLst/>
          </a:prstGeom>
          <a:solidFill>
            <a:srgbClr val="43705F"/>
          </a:solidFill>
          <a:ln/>
        </p:spPr>
      </p:sp>
      <p:sp>
        <p:nvSpPr>
          <p:cNvPr id="9" name="!!Footer"/>
          <p:cNvSpPr txBox="1"/>
          <p:nvPr/>
        </p:nvSpPr>
        <p:spPr>
          <a:xfrm>
            <a:off x="548640" y="6455664"/>
            <a:ext cx="7315200" cy="219456"/>
          </a:xfrm>
          <a:prstGeom prst="rect">
            <a:avLst/>
          </a:prstGeom>
          <a:noFill/>
          <a:ln/>
        </p:spPr>
        <p:txBody>
          <a:bodyPr wrap="square" lIns="0" tIns="0" rIns="0" bIns="0" rtlCol="0" anchor="t"/>
          <a:lstStyle/>
          <a:p>
            <a:pPr marL="0" indent="0">
              <a:buNone/>
            </a:pPr>
            <a:r>
              <a:rPr lang="en-US" sz="900" dirty="0">
                <a:solidFill>
                  <a:srgbClr val="4E5B54"/>
                </a:solidFill>
                <a:latin typeface="Segoe UI" pitchFamily="34" charset="0"/>
                <a:ea typeface="Segoe UI" pitchFamily="34" charset="-122"/>
                <a:cs typeface="Segoe UI" pitchFamily="34" charset="-120"/>
              </a:rPr>
              <a:t>Đồ án thực tập cơ sở ngành · Website di tích Việt Nam</a:t>
            </a:r>
            <a:endParaRPr lang="en-US" sz="900" dirty="0"/>
          </a:p>
        </p:txBody>
      </p:sp>
      <p:sp>
        <p:nvSpPr>
          <p:cNvPr id="10" name="!!PageNum"/>
          <p:cNvSpPr txBox="1"/>
          <p:nvPr/>
        </p:nvSpPr>
        <p:spPr>
          <a:xfrm>
            <a:off x="11091672" y="6455664"/>
            <a:ext cx="548640" cy="219456"/>
          </a:xfrm>
          <a:prstGeom prst="rect">
            <a:avLst/>
          </a:prstGeom>
          <a:noFill/>
          <a:ln/>
        </p:spPr>
        <p:txBody>
          <a:bodyPr wrap="square" lIns="0" tIns="0" rIns="0" bIns="0" rtlCol="0" anchor="t"/>
          <a:lstStyle/>
          <a:p>
            <a:pPr marL="0" indent="0" algn="r">
              <a:buNone/>
            </a:pPr>
            <a:r>
              <a:rPr lang="en-US" sz="900" dirty="0">
                <a:solidFill>
                  <a:srgbClr val="4E5B54"/>
                </a:solidFill>
                <a:latin typeface="Segoe UI" pitchFamily="34" charset="0"/>
                <a:ea typeface="Segoe UI" pitchFamily="34" charset="-122"/>
                <a:cs typeface="Segoe UI" pitchFamily="34" charset="-120"/>
              </a:rPr>
              <a:t>14</a:t>
            </a:r>
            <a:endParaRPr lang="en-US" sz="900" dirty="0"/>
          </a:p>
        </p:txBody>
      </p:sp>
      <p:sp>
        <p:nvSpPr>
          <p:cNvPr id="11" name="S14 TextBox 11"/>
          <p:cNvSpPr txBox="1"/>
          <p:nvPr/>
        </p:nvSpPr>
        <p:spPr>
          <a:xfrm>
            <a:off x="548640" y="1572768"/>
            <a:ext cx="5394960" cy="237744"/>
          </a:xfrm>
          <a:prstGeom prst="rect">
            <a:avLst/>
          </a:prstGeom>
          <a:noFill/>
          <a:ln/>
        </p:spPr>
        <p:txBody>
          <a:bodyPr wrap="square" lIns="0" tIns="0" rIns="0" bIns="0" rtlCol="0" anchor="t"/>
          <a:lstStyle/>
          <a:p>
            <a:pPr marL="0" indent="0">
              <a:buNone/>
            </a:pPr>
            <a:r>
              <a:rPr lang="en-US" sz="1050" b="1" kern="0" spc="150" dirty="0">
                <a:solidFill>
                  <a:srgbClr val="4E5B54"/>
                </a:solidFill>
                <a:latin typeface="Segoe UI" pitchFamily="34" charset="0"/>
                <a:ea typeface="Segoe UI" pitchFamily="34" charset="-122"/>
                <a:cs typeface="Segoe UI" pitchFamily="34" charset="-120"/>
              </a:rPr>
              <a:t>NHÓM KIỂM THỬ</a:t>
            </a:r>
            <a:endParaRPr lang="en-US" sz="1050" dirty="0"/>
          </a:p>
        </p:txBody>
      </p:sp>
      <p:sp>
        <p:nvSpPr>
          <p:cNvPr id="12" name="S14 TextBox 12"/>
          <p:cNvSpPr txBox="1"/>
          <p:nvPr/>
        </p:nvSpPr>
        <p:spPr>
          <a:xfrm>
            <a:off x="6080760" y="1572768"/>
            <a:ext cx="1417320" cy="237744"/>
          </a:xfrm>
          <a:prstGeom prst="rect">
            <a:avLst/>
          </a:prstGeom>
          <a:noFill/>
          <a:ln/>
        </p:spPr>
        <p:txBody>
          <a:bodyPr wrap="square" lIns="0" tIns="0" rIns="0" bIns="0" rtlCol="0" anchor="t"/>
          <a:lstStyle/>
          <a:p>
            <a:pPr marL="0" indent="0" algn="ctr">
              <a:buNone/>
            </a:pPr>
            <a:r>
              <a:rPr lang="en-US" sz="1050" b="1" kern="0" spc="150" dirty="0">
                <a:solidFill>
                  <a:srgbClr val="4E5B54"/>
                </a:solidFill>
                <a:latin typeface="Segoe UI" pitchFamily="34" charset="0"/>
                <a:ea typeface="Segoe UI" pitchFamily="34" charset="-122"/>
                <a:cs typeface="Segoe UI" pitchFamily="34" charset="-120"/>
              </a:rPr>
              <a:t>KẾT QUẢ</a:t>
            </a:r>
            <a:endParaRPr lang="en-US" sz="1050" dirty="0"/>
          </a:p>
        </p:txBody>
      </p:sp>
      <p:sp>
        <p:nvSpPr>
          <p:cNvPr id="13" name="S14 Rounded Rectangle 13"/>
          <p:cNvSpPr/>
          <p:nvPr/>
        </p:nvSpPr>
        <p:spPr>
          <a:xfrm>
            <a:off x="548640" y="1901952"/>
            <a:ext cx="5394960" cy="457200"/>
          </a:xfrm>
          <a:prstGeom prst="roundRect">
            <a:avLst>
              <a:gd name="adj" fmla="val 12000"/>
            </a:avLst>
          </a:prstGeom>
          <a:solidFill>
            <a:srgbClr val="E2EAE4"/>
          </a:solidFill>
          <a:ln/>
        </p:spPr>
        <p:txBody>
          <a:bodyPr wrap="square" lIns="177800" tIns="0" rIns="177800" bIns="0" rtlCol="0" anchor="ctr"/>
          <a:lstStyle/>
          <a:p>
            <a:pPr marL="0" indent="0">
              <a:buNone/>
            </a:pPr>
            <a:r>
              <a:rPr lang="en-US" sz="1250" dirty="0">
                <a:solidFill>
                  <a:srgbClr val="1C2B25"/>
                </a:solidFill>
                <a:latin typeface="Segoe UI" pitchFamily="34" charset="0"/>
                <a:ea typeface="Segoe UI" pitchFamily="34" charset="-122"/>
                <a:cs typeface="Segoe UI" pitchFamily="34" charset="-120"/>
              </a:rPr>
              <a:t>Người xem (U01 đến U08)</a:t>
            </a:r>
            <a:endParaRPr lang="en-US" sz="1250" dirty="0"/>
          </a:p>
        </p:txBody>
      </p:sp>
      <p:sp>
        <p:nvSpPr>
          <p:cNvPr id="14" name="S14 Rounded Rectangle 14"/>
          <p:cNvSpPr/>
          <p:nvPr/>
        </p:nvSpPr>
        <p:spPr>
          <a:xfrm>
            <a:off x="6080760" y="1901952"/>
            <a:ext cx="1417320" cy="457200"/>
          </a:xfrm>
          <a:prstGeom prst="roundRect">
            <a:avLst>
              <a:gd name="adj" fmla="val 12000"/>
            </a:avLst>
          </a:prstGeom>
          <a:solidFill>
            <a:srgbClr val="43705F"/>
          </a:solidFill>
          <a:ln/>
        </p:spPr>
        <p:txBody>
          <a:bodyPr wrap="square" lIns="0" tIns="0" rIns="0" bIns="0" rtlCol="0" anchor="ctr"/>
          <a:lstStyle/>
          <a:p>
            <a:pPr marL="0" indent="0" algn="ctr">
              <a:buNone/>
            </a:pPr>
            <a:r>
              <a:rPr lang="en-US" sz="1200" b="1" dirty="0">
                <a:solidFill>
                  <a:srgbClr val="F8F8F4"/>
                </a:solidFill>
                <a:latin typeface="Segoe UI" pitchFamily="34" charset="0"/>
                <a:ea typeface="Segoe UI" pitchFamily="34" charset="-122"/>
                <a:cs typeface="Segoe UI" pitchFamily="34" charset="-120"/>
              </a:rPr>
              <a:t>15/15 Đạt</a:t>
            </a:r>
            <a:endParaRPr lang="en-US" sz="1200" dirty="0"/>
          </a:p>
        </p:txBody>
      </p:sp>
      <p:sp>
        <p:nvSpPr>
          <p:cNvPr id="15" name="S14 Rounded Rectangle 15"/>
          <p:cNvSpPr/>
          <p:nvPr/>
        </p:nvSpPr>
        <p:spPr>
          <a:xfrm>
            <a:off x="548640" y="2446020"/>
            <a:ext cx="5394960" cy="457200"/>
          </a:xfrm>
          <a:prstGeom prst="roundRect">
            <a:avLst>
              <a:gd name="adj" fmla="val 12000"/>
            </a:avLst>
          </a:prstGeom>
          <a:solidFill>
            <a:srgbClr val="FFFFFF"/>
          </a:solidFill>
          <a:ln w="9525">
            <a:solidFill>
              <a:srgbClr val="C9CDC2"/>
            </a:solidFill>
          </a:ln>
        </p:spPr>
        <p:txBody>
          <a:bodyPr wrap="square" lIns="177800" tIns="0" rIns="177800" bIns="0" rtlCol="0" anchor="ctr"/>
          <a:lstStyle/>
          <a:p>
            <a:pPr marL="0" indent="0">
              <a:buNone/>
            </a:pPr>
            <a:r>
              <a:rPr lang="en-US" sz="1250" dirty="0">
                <a:solidFill>
                  <a:srgbClr val="1C2B25"/>
                </a:solidFill>
                <a:latin typeface="Segoe UI" pitchFamily="34" charset="0"/>
                <a:ea typeface="Segoe UI" pitchFamily="34" charset="-122"/>
                <a:cs typeface="Segoe UI" pitchFamily="34" charset="-120"/>
              </a:rPr>
              <a:t>Đăng nhập và phiên (A01)</a:t>
            </a:r>
            <a:endParaRPr lang="en-US" sz="1250" dirty="0"/>
          </a:p>
        </p:txBody>
      </p:sp>
      <p:sp>
        <p:nvSpPr>
          <p:cNvPr id="16" name="S14 Rounded Rectangle 16"/>
          <p:cNvSpPr/>
          <p:nvPr/>
        </p:nvSpPr>
        <p:spPr>
          <a:xfrm>
            <a:off x="6080760" y="2446020"/>
            <a:ext cx="1417320" cy="457200"/>
          </a:xfrm>
          <a:prstGeom prst="roundRect">
            <a:avLst>
              <a:gd name="adj" fmla="val 12000"/>
            </a:avLst>
          </a:prstGeom>
          <a:solidFill>
            <a:srgbClr val="43705F"/>
          </a:solidFill>
          <a:ln/>
        </p:spPr>
        <p:txBody>
          <a:bodyPr wrap="square" lIns="0" tIns="0" rIns="0" bIns="0" rtlCol="0" anchor="ctr"/>
          <a:lstStyle/>
          <a:p>
            <a:pPr marL="0" indent="0" algn="ctr">
              <a:buNone/>
            </a:pPr>
            <a:r>
              <a:rPr lang="en-US" sz="1200" b="1" dirty="0">
                <a:solidFill>
                  <a:srgbClr val="F8F8F4"/>
                </a:solidFill>
                <a:latin typeface="Segoe UI" pitchFamily="34" charset="0"/>
                <a:ea typeface="Segoe UI" pitchFamily="34" charset="-122"/>
                <a:cs typeface="Segoe UI" pitchFamily="34" charset="-120"/>
              </a:rPr>
              <a:t>6/6 Đạt</a:t>
            </a:r>
            <a:endParaRPr lang="en-US" sz="1200" dirty="0"/>
          </a:p>
        </p:txBody>
      </p:sp>
      <p:sp>
        <p:nvSpPr>
          <p:cNvPr id="17" name="S14 Rounded Rectangle 17"/>
          <p:cNvSpPr/>
          <p:nvPr/>
        </p:nvSpPr>
        <p:spPr>
          <a:xfrm>
            <a:off x="548640" y="2990088"/>
            <a:ext cx="5394960" cy="457200"/>
          </a:xfrm>
          <a:prstGeom prst="roundRect">
            <a:avLst>
              <a:gd name="adj" fmla="val 12000"/>
            </a:avLst>
          </a:prstGeom>
          <a:solidFill>
            <a:srgbClr val="E2EAE4"/>
          </a:solidFill>
          <a:ln/>
        </p:spPr>
        <p:txBody>
          <a:bodyPr wrap="square" lIns="177800" tIns="0" rIns="177800" bIns="0" rtlCol="0" anchor="ctr"/>
          <a:lstStyle/>
          <a:p>
            <a:pPr marL="0" indent="0">
              <a:buNone/>
            </a:pPr>
            <a:r>
              <a:rPr lang="en-US" sz="1250" dirty="0">
                <a:solidFill>
                  <a:srgbClr val="1C2B25"/>
                </a:solidFill>
                <a:latin typeface="Segoe UI" pitchFamily="34" charset="0"/>
                <a:ea typeface="Segoe UI" pitchFamily="34" charset="-122"/>
                <a:cs typeface="Segoe UI" pitchFamily="34" charset="-120"/>
              </a:rPr>
              <a:t>Quản lý di tích (A02)</a:t>
            </a:r>
            <a:endParaRPr lang="en-US" sz="1250" dirty="0"/>
          </a:p>
        </p:txBody>
      </p:sp>
      <p:sp>
        <p:nvSpPr>
          <p:cNvPr id="18" name="S14 Rounded Rectangle 18"/>
          <p:cNvSpPr/>
          <p:nvPr/>
        </p:nvSpPr>
        <p:spPr>
          <a:xfrm>
            <a:off x="6080760" y="2990088"/>
            <a:ext cx="1417320" cy="457200"/>
          </a:xfrm>
          <a:prstGeom prst="roundRect">
            <a:avLst>
              <a:gd name="adj" fmla="val 12000"/>
            </a:avLst>
          </a:prstGeom>
          <a:solidFill>
            <a:srgbClr val="43705F"/>
          </a:solidFill>
          <a:ln/>
        </p:spPr>
        <p:txBody>
          <a:bodyPr wrap="square" lIns="0" tIns="0" rIns="0" bIns="0" rtlCol="0" anchor="ctr"/>
          <a:lstStyle/>
          <a:p>
            <a:pPr marL="0" indent="0" algn="ctr">
              <a:buNone/>
            </a:pPr>
            <a:r>
              <a:rPr lang="en-US" sz="1200" b="1" dirty="0">
                <a:solidFill>
                  <a:srgbClr val="F8F8F4"/>
                </a:solidFill>
                <a:latin typeface="Segoe UI" pitchFamily="34" charset="0"/>
                <a:ea typeface="Segoe UI" pitchFamily="34" charset="-122"/>
                <a:cs typeface="Segoe UI" pitchFamily="34" charset="-120"/>
              </a:rPr>
              <a:t>7/7 Đạt</a:t>
            </a:r>
            <a:endParaRPr lang="en-US" sz="1200" dirty="0"/>
          </a:p>
        </p:txBody>
      </p:sp>
      <p:sp>
        <p:nvSpPr>
          <p:cNvPr id="19" name="S14 Rounded Rectangle 19"/>
          <p:cNvSpPr/>
          <p:nvPr/>
        </p:nvSpPr>
        <p:spPr>
          <a:xfrm>
            <a:off x="548640" y="3534156"/>
            <a:ext cx="5394960" cy="457200"/>
          </a:xfrm>
          <a:prstGeom prst="roundRect">
            <a:avLst>
              <a:gd name="adj" fmla="val 12000"/>
            </a:avLst>
          </a:prstGeom>
          <a:solidFill>
            <a:srgbClr val="FFFFFF"/>
          </a:solidFill>
          <a:ln w="9525">
            <a:solidFill>
              <a:srgbClr val="C9CDC2"/>
            </a:solidFill>
          </a:ln>
        </p:spPr>
        <p:txBody>
          <a:bodyPr wrap="square" lIns="177800" tIns="0" rIns="177800" bIns="0" rtlCol="0" anchor="ctr"/>
          <a:lstStyle/>
          <a:p>
            <a:pPr marL="0" indent="0">
              <a:buNone/>
            </a:pPr>
            <a:r>
              <a:rPr lang="en-US" sz="1250" dirty="0">
                <a:solidFill>
                  <a:srgbClr val="1C2B25"/>
                </a:solidFill>
                <a:latin typeface="Segoe UI" pitchFamily="34" charset="0"/>
                <a:ea typeface="Segoe UI" pitchFamily="34" charset="-122"/>
                <a:cs typeface="Segoe UI" pitchFamily="34" charset="-120"/>
              </a:rPr>
              <a:t>Ảnh di tích (A03)</a:t>
            </a:r>
            <a:endParaRPr lang="en-US" sz="1250" dirty="0"/>
          </a:p>
        </p:txBody>
      </p:sp>
      <p:sp>
        <p:nvSpPr>
          <p:cNvPr id="20" name="S14 Rounded Rectangle 20"/>
          <p:cNvSpPr/>
          <p:nvPr/>
        </p:nvSpPr>
        <p:spPr>
          <a:xfrm>
            <a:off x="6080760" y="3534156"/>
            <a:ext cx="1417320" cy="457200"/>
          </a:xfrm>
          <a:prstGeom prst="roundRect">
            <a:avLst>
              <a:gd name="adj" fmla="val 12000"/>
            </a:avLst>
          </a:prstGeom>
          <a:solidFill>
            <a:srgbClr val="43705F"/>
          </a:solidFill>
          <a:ln/>
        </p:spPr>
        <p:txBody>
          <a:bodyPr wrap="square" lIns="0" tIns="0" rIns="0" bIns="0" rtlCol="0" anchor="ctr"/>
          <a:lstStyle/>
          <a:p>
            <a:pPr marL="0" indent="0" algn="ctr">
              <a:buNone/>
            </a:pPr>
            <a:r>
              <a:rPr lang="en-US" sz="1200" b="1" dirty="0">
                <a:solidFill>
                  <a:srgbClr val="F8F8F4"/>
                </a:solidFill>
                <a:latin typeface="Segoe UI" pitchFamily="34" charset="0"/>
                <a:ea typeface="Segoe UI" pitchFamily="34" charset="-122"/>
                <a:cs typeface="Segoe UI" pitchFamily="34" charset="-120"/>
              </a:rPr>
              <a:t>6/6 Đạt</a:t>
            </a:r>
            <a:endParaRPr lang="en-US" sz="1200" dirty="0"/>
          </a:p>
        </p:txBody>
      </p:sp>
      <p:sp>
        <p:nvSpPr>
          <p:cNvPr id="21" name="S14 Rounded Rectangle 21"/>
          <p:cNvSpPr/>
          <p:nvPr/>
        </p:nvSpPr>
        <p:spPr>
          <a:xfrm>
            <a:off x="548640" y="4078224"/>
            <a:ext cx="5394960" cy="457200"/>
          </a:xfrm>
          <a:prstGeom prst="roundRect">
            <a:avLst>
              <a:gd name="adj" fmla="val 12000"/>
            </a:avLst>
          </a:prstGeom>
          <a:solidFill>
            <a:srgbClr val="E2EAE4"/>
          </a:solidFill>
          <a:ln/>
        </p:spPr>
        <p:txBody>
          <a:bodyPr wrap="square" lIns="177800" tIns="0" rIns="177800" bIns="0" rtlCol="0" anchor="ctr"/>
          <a:lstStyle/>
          <a:p>
            <a:pPr marL="0" indent="0">
              <a:buNone/>
            </a:pPr>
            <a:r>
              <a:rPr lang="en-US" sz="1250" dirty="0">
                <a:solidFill>
                  <a:srgbClr val="1C2B25"/>
                </a:solidFill>
                <a:latin typeface="Segoe UI" pitchFamily="34" charset="0"/>
                <a:ea typeface="Segoe UI" pitchFamily="34" charset="-122"/>
                <a:cs typeface="Segoe UI" pitchFamily="34" charset="-120"/>
              </a:rPr>
              <a:t>Tỉnh thành và loại (A04, A05)</a:t>
            </a:r>
            <a:endParaRPr lang="en-US" sz="1250" dirty="0"/>
          </a:p>
        </p:txBody>
      </p:sp>
      <p:sp>
        <p:nvSpPr>
          <p:cNvPr id="22" name="S14 Rounded Rectangle 22"/>
          <p:cNvSpPr/>
          <p:nvPr/>
        </p:nvSpPr>
        <p:spPr>
          <a:xfrm>
            <a:off x="6080760" y="4078224"/>
            <a:ext cx="1417320" cy="457200"/>
          </a:xfrm>
          <a:prstGeom prst="roundRect">
            <a:avLst>
              <a:gd name="adj" fmla="val 12000"/>
            </a:avLst>
          </a:prstGeom>
          <a:solidFill>
            <a:srgbClr val="43705F"/>
          </a:solidFill>
          <a:ln/>
        </p:spPr>
        <p:txBody>
          <a:bodyPr wrap="square" lIns="0" tIns="0" rIns="0" bIns="0" rtlCol="0" anchor="ctr"/>
          <a:lstStyle/>
          <a:p>
            <a:pPr marL="0" indent="0" algn="ctr">
              <a:buNone/>
            </a:pPr>
            <a:r>
              <a:rPr lang="en-US" sz="1200" b="1" dirty="0">
                <a:solidFill>
                  <a:srgbClr val="F8F8F4"/>
                </a:solidFill>
                <a:latin typeface="Segoe UI" pitchFamily="34" charset="0"/>
                <a:ea typeface="Segoe UI" pitchFamily="34" charset="-122"/>
                <a:cs typeface="Segoe UI" pitchFamily="34" charset="-120"/>
              </a:rPr>
              <a:t>4/4 Đạt</a:t>
            </a:r>
            <a:endParaRPr lang="en-US" sz="1200" dirty="0"/>
          </a:p>
        </p:txBody>
      </p:sp>
      <p:sp>
        <p:nvSpPr>
          <p:cNvPr id="23" name="S14 Rounded Rectangle 23"/>
          <p:cNvSpPr/>
          <p:nvPr/>
        </p:nvSpPr>
        <p:spPr>
          <a:xfrm>
            <a:off x="548640" y="4622292"/>
            <a:ext cx="5394960" cy="457200"/>
          </a:xfrm>
          <a:prstGeom prst="roundRect">
            <a:avLst>
              <a:gd name="adj" fmla="val 12000"/>
            </a:avLst>
          </a:prstGeom>
          <a:solidFill>
            <a:srgbClr val="FFFFFF"/>
          </a:solidFill>
          <a:ln w="9525">
            <a:solidFill>
              <a:srgbClr val="C9CDC2"/>
            </a:solidFill>
          </a:ln>
        </p:spPr>
        <p:txBody>
          <a:bodyPr wrap="square" lIns="177800" tIns="0" rIns="177800" bIns="0" rtlCol="0" anchor="ctr"/>
          <a:lstStyle/>
          <a:p>
            <a:pPr marL="0" indent="0">
              <a:buNone/>
            </a:pPr>
            <a:r>
              <a:rPr lang="en-US" sz="1250" dirty="0">
                <a:solidFill>
                  <a:srgbClr val="1C2B25"/>
                </a:solidFill>
                <a:latin typeface="Segoe UI" pitchFamily="34" charset="0"/>
                <a:ea typeface="Segoe UI" pitchFamily="34" charset="-122"/>
                <a:cs typeface="Segoe UI" pitchFamily="34" charset="-120"/>
              </a:rPr>
              <a:t>Thống kê (A06)</a:t>
            </a:r>
            <a:endParaRPr lang="en-US" sz="1250" dirty="0"/>
          </a:p>
        </p:txBody>
      </p:sp>
      <p:sp>
        <p:nvSpPr>
          <p:cNvPr id="24" name="S14 Rounded Rectangle 24"/>
          <p:cNvSpPr/>
          <p:nvPr/>
        </p:nvSpPr>
        <p:spPr>
          <a:xfrm>
            <a:off x="6080760" y="4622292"/>
            <a:ext cx="1417320" cy="457200"/>
          </a:xfrm>
          <a:prstGeom prst="roundRect">
            <a:avLst>
              <a:gd name="adj" fmla="val 12000"/>
            </a:avLst>
          </a:prstGeom>
          <a:solidFill>
            <a:srgbClr val="43705F"/>
          </a:solidFill>
          <a:ln/>
        </p:spPr>
        <p:txBody>
          <a:bodyPr wrap="square" lIns="0" tIns="0" rIns="0" bIns="0" rtlCol="0" anchor="ctr"/>
          <a:lstStyle/>
          <a:p>
            <a:pPr marL="0" indent="0" algn="ctr">
              <a:buNone/>
            </a:pPr>
            <a:r>
              <a:rPr lang="en-US" sz="1200" b="1" dirty="0">
                <a:solidFill>
                  <a:srgbClr val="F8F8F4"/>
                </a:solidFill>
                <a:latin typeface="Segoe UI" pitchFamily="34" charset="0"/>
                <a:ea typeface="Segoe UI" pitchFamily="34" charset="-122"/>
                <a:cs typeface="Segoe UI" pitchFamily="34" charset="-120"/>
              </a:rPr>
              <a:t>2/2 Đạt</a:t>
            </a:r>
            <a:endParaRPr lang="en-US" sz="1200" dirty="0"/>
          </a:p>
        </p:txBody>
      </p:sp>
      <p:sp>
        <p:nvSpPr>
          <p:cNvPr id="25" name="S14 Rounded Rectangle 25"/>
          <p:cNvSpPr/>
          <p:nvPr/>
        </p:nvSpPr>
        <p:spPr>
          <a:xfrm>
            <a:off x="548640" y="5166360"/>
            <a:ext cx="5394960" cy="457200"/>
          </a:xfrm>
          <a:prstGeom prst="roundRect">
            <a:avLst>
              <a:gd name="adj" fmla="val 12000"/>
            </a:avLst>
          </a:prstGeom>
          <a:solidFill>
            <a:srgbClr val="E2EAE4"/>
          </a:solidFill>
          <a:ln/>
        </p:spPr>
        <p:txBody>
          <a:bodyPr wrap="square" lIns="177800" tIns="0" rIns="177800" bIns="0" rtlCol="0" anchor="ctr"/>
          <a:lstStyle/>
          <a:p>
            <a:pPr marL="0" indent="0">
              <a:buNone/>
            </a:pPr>
            <a:r>
              <a:rPr lang="en-US" sz="1250" dirty="0">
                <a:solidFill>
                  <a:srgbClr val="1C2B25"/>
                </a:solidFill>
                <a:latin typeface="Segoe UI" pitchFamily="34" charset="0"/>
                <a:ea typeface="Segoe UI" pitchFamily="34" charset="-122"/>
                <a:cs typeface="Segoe UI" pitchFamily="34" charset="-120"/>
              </a:rPr>
              <a:t>Tài khoản quản trị (A07)</a:t>
            </a:r>
            <a:endParaRPr lang="en-US" sz="1250" dirty="0"/>
          </a:p>
        </p:txBody>
      </p:sp>
      <p:sp>
        <p:nvSpPr>
          <p:cNvPr id="26" name="S14 Rounded Rectangle 26"/>
          <p:cNvSpPr/>
          <p:nvPr/>
        </p:nvSpPr>
        <p:spPr>
          <a:xfrm>
            <a:off x="6080760" y="5166360"/>
            <a:ext cx="1417320" cy="457200"/>
          </a:xfrm>
          <a:prstGeom prst="roundRect">
            <a:avLst>
              <a:gd name="adj" fmla="val 12000"/>
            </a:avLst>
          </a:prstGeom>
          <a:solidFill>
            <a:srgbClr val="43705F"/>
          </a:solidFill>
          <a:ln/>
        </p:spPr>
        <p:txBody>
          <a:bodyPr wrap="square" lIns="0" tIns="0" rIns="0" bIns="0" rtlCol="0" anchor="ctr"/>
          <a:lstStyle/>
          <a:p>
            <a:pPr marL="0" indent="0" algn="ctr">
              <a:buNone/>
            </a:pPr>
            <a:r>
              <a:rPr lang="en-US" sz="1200" b="1" dirty="0">
                <a:solidFill>
                  <a:srgbClr val="F8F8F4"/>
                </a:solidFill>
                <a:latin typeface="Segoe UI" pitchFamily="34" charset="0"/>
                <a:ea typeface="Segoe UI" pitchFamily="34" charset="-122"/>
                <a:cs typeface="Segoe UI" pitchFamily="34" charset="-120"/>
              </a:rPr>
              <a:t>5/5 Đạt</a:t>
            </a:r>
            <a:endParaRPr lang="en-US" sz="1200" dirty="0"/>
          </a:p>
        </p:txBody>
      </p:sp>
      <p:sp>
        <p:nvSpPr>
          <p:cNvPr id="27" name="S14 Rounded Rectangle 27"/>
          <p:cNvSpPr/>
          <p:nvPr/>
        </p:nvSpPr>
        <p:spPr>
          <a:xfrm>
            <a:off x="548640" y="5710428"/>
            <a:ext cx="5394960" cy="457200"/>
          </a:xfrm>
          <a:prstGeom prst="roundRect">
            <a:avLst>
              <a:gd name="adj" fmla="val 12000"/>
            </a:avLst>
          </a:prstGeom>
          <a:solidFill>
            <a:srgbClr val="FFFFFF"/>
          </a:solidFill>
          <a:ln w="9525">
            <a:solidFill>
              <a:srgbClr val="C9CDC2"/>
            </a:solidFill>
          </a:ln>
        </p:spPr>
        <p:txBody>
          <a:bodyPr wrap="square" lIns="177800" tIns="0" rIns="177800" bIns="0" rtlCol="0" anchor="ctr"/>
          <a:lstStyle/>
          <a:p>
            <a:pPr marL="0" indent="0">
              <a:buNone/>
            </a:pPr>
            <a:r>
              <a:rPr lang="en-US" sz="1250" dirty="0">
                <a:solidFill>
                  <a:srgbClr val="1C2B25"/>
                </a:solidFill>
                <a:latin typeface="Segoe UI" pitchFamily="34" charset="0"/>
                <a:ea typeface="Segoe UI" pitchFamily="34" charset="-122"/>
                <a:cs typeface="Segoe UI" pitchFamily="34" charset="-120"/>
              </a:rPr>
              <a:t>Tách cổng và bảo mật (NF04, NF06)</a:t>
            </a:r>
            <a:endParaRPr lang="en-US" sz="1250" dirty="0"/>
          </a:p>
        </p:txBody>
      </p:sp>
      <p:sp>
        <p:nvSpPr>
          <p:cNvPr id="28" name="S14 Rounded Rectangle 28"/>
          <p:cNvSpPr/>
          <p:nvPr/>
        </p:nvSpPr>
        <p:spPr>
          <a:xfrm>
            <a:off x="6080760" y="5710428"/>
            <a:ext cx="1417320" cy="457200"/>
          </a:xfrm>
          <a:prstGeom prst="roundRect">
            <a:avLst>
              <a:gd name="adj" fmla="val 12000"/>
            </a:avLst>
          </a:prstGeom>
          <a:solidFill>
            <a:srgbClr val="43705F"/>
          </a:solidFill>
          <a:ln/>
        </p:spPr>
        <p:txBody>
          <a:bodyPr wrap="square" lIns="0" tIns="0" rIns="0" bIns="0" rtlCol="0" anchor="ctr"/>
          <a:lstStyle/>
          <a:p>
            <a:pPr marL="0" indent="0" algn="ctr">
              <a:buNone/>
            </a:pPr>
            <a:r>
              <a:rPr lang="en-US" sz="1200" b="1" dirty="0">
                <a:solidFill>
                  <a:srgbClr val="F8F8F4"/>
                </a:solidFill>
                <a:latin typeface="Segoe UI" pitchFamily="34" charset="0"/>
                <a:ea typeface="Segoe UI" pitchFamily="34" charset="-122"/>
                <a:cs typeface="Segoe UI" pitchFamily="34" charset="-120"/>
              </a:rPr>
              <a:t>5/5 Đạt</a:t>
            </a:r>
            <a:endParaRPr lang="en-US" sz="1200" dirty="0"/>
          </a:p>
        </p:txBody>
      </p:sp>
      <p:sp>
        <p:nvSpPr>
          <p:cNvPr id="29" name="S14 Rectangle 29"/>
          <p:cNvSpPr/>
          <p:nvPr/>
        </p:nvSpPr>
        <p:spPr>
          <a:xfrm>
            <a:off x="7863840" y="1572768"/>
            <a:ext cx="3776472" cy="4599432"/>
          </a:xfrm>
          <a:prstGeom prst="rect">
            <a:avLst/>
          </a:prstGeom>
          <a:solidFill>
            <a:srgbClr val="FFFFFF"/>
          </a:solidFill>
          <a:ln w="9525">
            <a:solidFill>
              <a:srgbClr val="C9CDC2"/>
            </a:solidFill>
            <a:prstDash val="solid"/>
          </a:ln>
          <a:effectLst>
            <a:outerShdw blurRad="127000" dist="25400" dir="5400000" algn="bl" rotWithShape="0">
              <a:srgbClr val="000000">
                <a:alpha val="12000"/>
              </a:srgbClr>
            </a:outerShdw>
          </a:effectLst>
        </p:spPr>
      </p:sp>
      <p:sp>
        <p:nvSpPr>
          <p:cNvPr id="30" name="S14 TextBox 30"/>
          <p:cNvSpPr txBox="1"/>
          <p:nvPr/>
        </p:nvSpPr>
        <p:spPr>
          <a:xfrm>
            <a:off x="8092440" y="1755648"/>
            <a:ext cx="3383280" cy="384048"/>
          </a:xfrm>
          <a:prstGeom prst="rect">
            <a:avLst/>
          </a:prstGeom>
          <a:noFill/>
          <a:ln/>
        </p:spPr>
        <p:txBody>
          <a:bodyPr wrap="square" lIns="0" tIns="0" rIns="0" bIns="0" rtlCol="0" anchor="t"/>
          <a:lstStyle/>
          <a:p>
            <a:pPr marL="0" indent="0">
              <a:buNone/>
            </a:pPr>
            <a:r>
              <a:rPr lang="en-US" sz="1900" b="1" dirty="0">
                <a:solidFill>
                  <a:srgbClr val="1C2B25"/>
                </a:solidFill>
                <a:latin typeface="Cambria" pitchFamily="34" charset="0"/>
                <a:ea typeface="Cambria" pitchFamily="34" charset="-122"/>
                <a:cs typeface="Cambria" pitchFamily="34" charset="-120"/>
              </a:rPr>
              <a:t>Kết quả chính</a:t>
            </a:r>
            <a:endParaRPr lang="en-US" sz="1900" dirty="0"/>
          </a:p>
        </p:txBody>
      </p:sp>
      <p:sp>
        <p:nvSpPr>
          <p:cNvPr id="31" name="S14 TextBox 31"/>
          <p:cNvSpPr txBox="1"/>
          <p:nvPr/>
        </p:nvSpPr>
        <p:spPr>
          <a:xfrm>
            <a:off x="8092440" y="2212848"/>
            <a:ext cx="3383280" cy="1005840"/>
          </a:xfrm>
          <a:prstGeom prst="rect">
            <a:avLst/>
          </a:prstGeom>
          <a:noFill/>
          <a:ln/>
        </p:spPr>
        <p:txBody>
          <a:bodyPr wrap="square" lIns="0" tIns="0" rIns="0" bIns="0" rtlCol="0" anchor="t"/>
          <a:lstStyle/>
          <a:p>
            <a:pPr marL="0" indent="0">
              <a:buNone/>
            </a:pPr>
            <a:r>
              <a:rPr lang="en-US" sz="6400" b="1" dirty="0">
                <a:solidFill>
                  <a:srgbClr val="9E2B25"/>
                </a:solidFill>
                <a:latin typeface="Cambria" pitchFamily="34" charset="0"/>
                <a:ea typeface="Cambria" pitchFamily="34" charset="-122"/>
                <a:cs typeface="Cambria" pitchFamily="34" charset="-120"/>
              </a:rPr>
              <a:t>50/50</a:t>
            </a:r>
            <a:endParaRPr lang="en-US" sz="6400" dirty="0"/>
          </a:p>
        </p:txBody>
      </p:sp>
      <p:sp>
        <p:nvSpPr>
          <p:cNvPr id="32" name="S14 TextBox 32"/>
          <p:cNvSpPr txBox="1"/>
          <p:nvPr/>
        </p:nvSpPr>
        <p:spPr>
          <a:xfrm>
            <a:off x="8092440" y="3218688"/>
            <a:ext cx="3383280" cy="292608"/>
          </a:xfrm>
          <a:prstGeom prst="rect">
            <a:avLst/>
          </a:prstGeom>
          <a:noFill/>
          <a:ln/>
        </p:spPr>
        <p:txBody>
          <a:bodyPr wrap="square" lIns="0" tIns="0" rIns="0" bIns="0" rtlCol="0" anchor="t"/>
          <a:lstStyle/>
          <a:p>
            <a:pPr marL="0" indent="0">
              <a:buNone/>
            </a:pPr>
            <a:r>
              <a:rPr lang="en-US" sz="1350" b="1" dirty="0">
                <a:solidFill>
                  <a:srgbClr val="1C2B25"/>
                </a:solidFill>
                <a:latin typeface="Segoe UI" pitchFamily="34" charset="0"/>
                <a:ea typeface="Segoe UI" pitchFamily="34" charset="-122"/>
                <a:cs typeface="Segoe UI" pitchFamily="34" charset="-120"/>
              </a:rPr>
              <a:t>test case đạt</a:t>
            </a:r>
            <a:endParaRPr lang="en-US" sz="1350" dirty="0"/>
          </a:p>
        </p:txBody>
      </p:sp>
      <p:sp>
        <p:nvSpPr>
          <p:cNvPr id="33" name="S14 TextBox 33"/>
          <p:cNvSpPr txBox="1"/>
          <p:nvPr/>
        </p:nvSpPr>
        <p:spPr>
          <a:xfrm>
            <a:off x="8092440" y="3703320"/>
            <a:ext cx="3383280" cy="2331720"/>
          </a:xfrm>
          <a:prstGeom prst="rect">
            <a:avLst/>
          </a:prstGeom>
          <a:noFill/>
          <a:ln/>
        </p:spPr>
        <p:txBody>
          <a:bodyPr wrap="square" lIns="0" tIns="0" rIns="0" bIns="0" rtlCol="0" anchor="t"/>
          <a:lstStyle/>
          <a:p>
            <a:pPr marL="165100" indent="-165100">
              <a:spcAft>
                <a:spcPts val="1400"/>
              </a:spcAft>
              <a:buClr>
                <a:srgbClr val="1C2B25"/>
              </a:buClr>
              <a:buSzPct val="100000"/>
              <a:buChar char="•"/>
            </a:pPr>
            <a:r>
              <a:rPr lang="en-US" sz="1300" b="1" dirty="0">
                <a:solidFill>
                  <a:srgbClr val="9E2B25"/>
                </a:solidFill>
                <a:latin typeface="Segoe UI" pitchFamily="34" charset="0"/>
                <a:ea typeface="Segoe UI" pitchFamily="34" charset="-122"/>
                <a:cs typeface="Segoe UI" pitchFamily="34" charset="-120"/>
              </a:rPr>
              <a:t>26</a:t>
            </a:r>
            <a:r>
              <a:rPr lang="en-US" sz="1300" dirty="0">
                <a:solidFill>
                  <a:srgbClr val="1C2B25"/>
                </a:solidFill>
                <a:latin typeface="Segoe UI" pitchFamily="34" charset="0"/>
                <a:ea typeface="Segoe UI" pitchFamily="34" charset="-122"/>
                <a:cs typeface="Segoe UI" pitchFamily="34" charset="-120"/>
              </a:rPr>
              <a:t> test case dùng dữ liệu sai hoặc thao tác trái phép</a:t>
            </a:r>
            <a:endParaRPr lang="en-US" sz="1300" dirty="0"/>
          </a:p>
          <a:p>
            <a:pPr marL="165100" indent="-165100">
              <a:spcAft>
                <a:spcPts val="1400"/>
              </a:spcAft>
              <a:buClr>
                <a:srgbClr val="1C2B25"/>
              </a:buClr>
              <a:buSzPct val="100000"/>
              <a:buChar char="•"/>
            </a:pPr>
            <a:r>
              <a:rPr lang="en-US" sz="1300" dirty="0">
                <a:solidFill>
                  <a:srgbClr val="1C2B25"/>
                </a:solidFill>
                <a:latin typeface="Segoe UI" pitchFamily="34" charset="0"/>
                <a:ea typeface="Segoe UI" pitchFamily="34" charset="-122"/>
                <a:cs typeface="Segoe UI" pitchFamily="34" charset="-120"/>
              </a:rPr>
              <a:t>Lỗi nghiệm thu: </a:t>
            </a:r>
            <a:r>
              <a:rPr lang="en-US" sz="1300" b="1" dirty="0">
                <a:solidFill>
                  <a:srgbClr val="9E2B25"/>
                </a:solidFill>
                <a:latin typeface="Segoe UI" pitchFamily="34" charset="0"/>
                <a:ea typeface="Segoe UI" pitchFamily="34" charset="-122"/>
                <a:cs typeface="Segoe UI" pitchFamily="34" charset="-120"/>
              </a:rPr>
              <a:t>5/48</a:t>
            </a:r>
            <a:r>
              <a:rPr lang="en-US" sz="1300" dirty="0">
                <a:solidFill>
                  <a:srgbClr val="1C2B25"/>
                </a:solidFill>
                <a:latin typeface="Segoe UI" pitchFamily="34" charset="0"/>
                <a:ea typeface="Segoe UI" pitchFamily="34" charset="-122"/>
                <a:cs typeface="Segoe UI" pitchFamily="34" charset="-120"/>
              </a:rPr>
              <a:t> địa chỉ CSS quản trị lộ trên cổng công khai</a:t>
            </a:r>
            <a:endParaRPr lang="en-US" sz="1300" dirty="0"/>
          </a:p>
          <a:p>
            <a:pPr marL="165100" indent="-165100">
              <a:spcAft>
                <a:spcPts val="1400"/>
              </a:spcAft>
              <a:buClr>
                <a:srgbClr val="1C2B25"/>
              </a:buClr>
              <a:buSzPct val="100000"/>
              <a:buChar char="•"/>
            </a:pPr>
            <a:r>
              <a:rPr lang="en-US" sz="1300" dirty="0">
                <a:solidFill>
                  <a:srgbClr val="1C2B25"/>
                </a:solidFill>
                <a:latin typeface="Segoe UI" pitchFamily="34" charset="0"/>
                <a:ea typeface="Segoe UI" pitchFamily="34" charset="-122"/>
                <a:cs typeface="Segoe UI" pitchFamily="34" charset="-120"/>
              </a:rPr>
              <a:t>Sau khi sửa: </a:t>
            </a:r>
            <a:r>
              <a:rPr lang="en-US" sz="1300" b="1" dirty="0">
                <a:solidFill>
                  <a:srgbClr val="9E2B25"/>
                </a:solidFill>
                <a:latin typeface="Segoe UI" pitchFamily="34" charset="0"/>
                <a:ea typeface="Segoe UI" pitchFamily="34" charset="-122"/>
                <a:cs typeface="Segoe UI" pitchFamily="34" charset="-120"/>
              </a:rPr>
              <a:t>1.728/1.728</a:t>
            </a:r>
            <a:r>
              <a:rPr lang="en-US" sz="1300" dirty="0">
                <a:solidFill>
                  <a:srgbClr val="1C2B25"/>
                </a:solidFill>
                <a:latin typeface="Segoe UI" pitchFamily="34" charset="0"/>
                <a:ea typeface="Segoe UI" pitchFamily="34" charset="-122"/>
                <a:cs typeface="Segoe UI" pitchFamily="34" charset="-120"/>
              </a:rPr>
              <a:t> yêu cầu đều trả 404</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42" presetClass="entr" presetSubtype="0" fill="hold" grpId="0" nodeType="withEffect">
                                  <p:stCondLst>
                                    <p:cond delay="12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anim calcmode="lin" valueType="num">
                                      <p:cBhvr>
                                        <p:cTn id="14" dur="500" fill="hold"/>
                                        <p:tgtEl>
                                          <p:spTgt spid="13"/>
                                        </p:tgtEl>
                                        <p:attrNameLst>
                                          <p:attrName>ppt_x</p:attrName>
                                        </p:attrNameLst>
                                      </p:cBhvr>
                                      <p:tavLst>
                                        <p:tav tm="0">
                                          <p:val>
                                            <p:strVal val="#ppt_x"/>
                                          </p:val>
                                        </p:tav>
                                        <p:tav tm="100000">
                                          <p:val>
                                            <p:strVal val="#ppt_x"/>
                                          </p:val>
                                        </p:tav>
                                      </p:tavLst>
                                    </p:anim>
                                    <p:anim calcmode="lin" valueType="num">
                                      <p:cBhvr>
                                        <p:cTn id="15" dur="500" fill="hold"/>
                                        <p:tgtEl>
                                          <p:spTgt spid="13"/>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12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ppt_x</p:attrName>
                                        </p:attrNameLst>
                                      </p:cBhvr>
                                      <p:tavLst>
                                        <p:tav tm="0">
                                          <p:val>
                                            <p:strVal val="#ppt_x"/>
                                          </p:val>
                                        </p:tav>
                                        <p:tav tm="100000">
                                          <p:val>
                                            <p:strVal val="#ppt_x"/>
                                          </p:val>
                                        </p:tav>
                                      </p:tavLst>
                                    </p:anim>
                                    <p:anim calcmode="lin" valueType="num">
                                      <p:cBhvr>
                                        <p:cTn id="20" dur="500" fill="hold"/>
                                        <p:tgtEl>
                                          <p:spTgt spid="14"/>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24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anim calcmode="lin" valueType="num">
                                      <p:cBhvr>
                                        <p:cTn id="24" dur="500" fill="hold"/>
                                        <p:tgtEl>
                                          <p:spTgt spid="15"/>
                                        </p:tgtEl>
                                        <p:attrNameLst>
                                          <p:attrName>ppt_x</p:attrName>
                                        </p:attrNameLst>
                                      </p:cBhvr>
                                      <p:tavLst>
                                        <p:tav tm="0">
                                          <p:val>
                                            <p:strVal val="#ppt_x"/>
                                          </p:val>
                                        </p:tav>
                                        <p:tav tm="100000">
                                          <p:val>
                                            <p:strVal val="#ppt_x"/>
                                          </p:val>
                                        </p:tav>
                                      </p:tavLst>
                                    </p:anim>
                                    <p:anim calcmode="lin" valueType="num">
                                      <p:cBhvr>
                                        <p:cTn id="25" dur="500" fill="hold"/>
                                        <p:tgtEl>
                                          <p:spTgt spid="15"/>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24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anim calcmode="lin" valueType="num">
                                      <p:cBhvr>
                                        <p:cTn id="29" dur="500" fill="hold"/>
                                        <p:tgtEl>
                                          <p:spTgt spid="16"/>
                                        </p:tgtEl>
                                        <p:attrNameLst>
                                          <p:attrName>ppt_x</p:attrName>
                                        </p:attrNameLst>
                                      </p:cBhvr>
                                      <p:tavLst>
                                        <p:tav tm="0">
                                          <p:val>
                                            <p:strVal val="#ppt_x"/>
                                          </p:val>
                                        </p:tav>
                                        <p:tav tm="100000">
                                          <p:val>
                                            <p:strVal val="#ppt_x"/>
                                          </p:val>
                                        </p:tav>
                                      </p:tavLst>
                                    </p:anim>
                                    <p:anim calcmode="lin" valueType="num">
                                      <p:cBhvr>
                                        <p:cTn id="30" dur="500" fill="hold"/>
                                        <p:tgtEl>
                                          <p:spTgt spid="16"/>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36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anim calcmode="lin" valueType="num">
                                      <p:cBhvr>
                                        <p:cTn id="34" dur="500" fill="hold"/>
                                        <p:tgtEl>
                                          <p:spTgt spid="17"/>
                                        </p:tgtEl>
                                        <p:attrNameLst>
                                          <p:attrName>ppt_x</p:attrName>
                                        </p:attrNameLst>
                                      </p:cBhvr>
                                      <p:tavLst>
                                        <p:tav tm="0">
                                          <p:val>
                                            <p:strVal val="#ppt_x"/>
                                          </p:val>
                                        </p:tav>
                                        <p:tav tm="100000">
                                          <p:val>
                                            <p:strVal val="#ppt_x"/>
                                          </p:val>
                                        </p:tav>
                                      </p:tavLst>
                                    </p:anim>
                                    <p:anim calcmode="lin" valueType="num">
                                      <p:cBhvr>
                                        <p:cTn id="35" dur="500" fill="hold"/>
                                        <p:tgtEl>
                                          <p:spTgt spid="17"/>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36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anim calcmode="lin" valueType="num">
                                      <p:cBhvr>
                                        <p:cTn id="39" dur="500" fill="hold"/>
                                        <p:tgtEl>
                                          <p:spTgt spid="18"/>
                                        </p:tgtEl>
                                        <p:attrNameLst>
                                          <p:attrName>ppt_x</p:attrName>
                                        </p:attrNameLst>
                                      </p:cBhvr>
                                      <p:tavLst>
                                        <p:tav tm="0">
                                          <p:val>
                                            <p:strVal val="#ppt_x"/>
                                          </p:val>
                                        </p:tav>
                                        <p:tav tm="100000">
                                          <p:val>
                                            <p:strVal val="#ppt_x"/>
                                          </p:val>
                                        </p:tav>
                                      </p:tavLst>
                                    </p:anim>
                                    <p:anim calcmode="lin" valueType="num">
                                      <p:cBhvr>
                                        <p:cTn id="40" dur="500" fill="hold"/>
                                        <p:tgtEl>
                                          <p:spTgt spid="18"/>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48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anim calcmode="lin" valueType="num">
                                      <p:cBhvr>
                                        <p:cTn id="44" dur="500" fill="hold"/>
                                        <p:tgtEl>
                                          <p:spTgt spid="19"/>
                                        </p:tgtEl>
                                        <p:attrNameLst>
                                          <p:attrName>ppt_x</p:attrName>
                                        </p:attrNameLst>
                                      </p:cBhvr>
                                      <p:tavLst>
                                        <p:tav tm="0">
                                          <p:val>
                                            <p:strVal val="#ppt_x"/>
                                          </p:val>
                                        </p:tav>
                                        <p:tav tm="100000">
                                          <p:val>
                                            <p:strVal val="#ppt_x"/>
                                          </p:val>
                                        </p:tav>
                                      </p:tavLst>
                                    </p:anim>
                                    <p:anim calcmode="lin" valueType="num">
                                      <p:cBhvr>
                                        <p:cTn id="45" dur="500" fill="hold"/>
                                        <p:tgtEl>
                                          <p:spTgt spid="19"/>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48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500"/>
                                        <p:tgtEl>
                                          <p:spTgt spid="20"/>
                                        </p:tgtEl>
                                      </p:cBhvr>
                                    </p:animEffect>
                                    <p:anim calcmode="lin" valueType="num">
                                      <p:cBhvr>
                                        <p:cTn id="49" dur="500" fill="hold"/>
                                        <p:tgtEl>
                                          <p:spTgt spid="20"/>
                                        </p:tgtEl>
                                        <p:attrNameLst>
                                          <p:attrName>ppt_x</p:attrName>
                                        </p:attrNameLst>
                                      </p:cBhvr>
                                      <p:tavLst>
                                        <p:tav tm="0">
                                          <p:val>
                                            <p:strVal val="#ppt_x"/>
                                          </p:val>
                                        </p:tav>
                                        <p:tav tm="100000">
                                          <p:val>
                                            <p:strVal val="#ppt_x"/>
                                          </p:val>
                                        </p:tav>
                                      </p:tavLst>
                                    </p:anim>
                                    <p:anim calcmode="lin" valueType="num">
                                      <p:cBhvr>
                                        <p:cTn id="50" dur="500" fill="hold"/>
                                        <p:tgtEl>
                                          <p:spTgt spid="20"/>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60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anim calcmode="lin" valueType="num">
                                      <p:cBhvr>
                                        <p:cTn id="54" dur="500" fill="hold"/>
                                        <p:tgtEl>
                                          <p:spTgt spid="21"/>
                                        </p:tgtEl>
                                        <p:attrNameLst>
                                          <p:attrName>ppt_x</p:attrName>
                                        </p:attrNameLst>
                                      </p:cBhvr>
                                      <p:tavLst>
                                        <p:tav tm="0">
                                          <p:val>
                                            <p:strVal val="#ppt_x"/>
                                          </p:val>
                                        </p:tav>
                                        <p:tav tm="100000">
                                          <p:val>
                                            <p:strVal val="#ppt_x"/>
                                          </p:val>
                                        </p:tav>
                                      </p:tavLst>
                                    </p:anim>
                                    <p:anim calcmode="lin" valueType="num">
                                      <p:cBhvr>
                                        <p:cTn id="55" dur="500" fill="hold"/>
                                        <p:tgtEl>
                                          <p:spTgt spid="21"/>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60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anim calcmode="lin" valueType="num">
                                      <p:cBhvr>
                                        <p:cTn id="59" dur="500" fill="hold"/>
                                        <p:tgtEl>
                                          <p:spTgt spid="22"/>
                                        </p:tgtEl>
                                        <p:attrNameLst>
                                          <p:attrName>ppt_x</p:attrName>
                                        </p:attrNameLst>
                                      </p:cBhvr>
                                      <p:tavLst>
                                        <p:tav tm="0">
                                          <p:val>
                                            <p:strVal val="#ppt_x"/>
                                          </p:val>
                                        </p:tav>
                                        <p:tav tm="100000">
                                          <p:val>
                                            <p:strVal val="#ppt_x"/>
                                          </p:val>
                                        </p:tav>
                                      </p:tavLst>
                                    </p:anim>
                                    <p:anim calcmode="lin" valueType="num">
                                      <p:cBhvr>
                                        <p:cTn id="60" dur="500" fill="hold"/>
                                        <p:tgtEl>
                                          <p:spTgt spid="22"/>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72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00"/>
                                        <p:tgtEl>
                                          <p:spTgt spid="23"/>
                                        </p:tgtEl>
                                      </p:cBhvr>
                                    </p:animEffect>
                                    <p:anim calcmode="lin" valueType="num">
                                      <p:cBhvr>
                                        <p:cTn id="64" dur="500" fill="hold"/>
                                        <p:tgtEl>
                                          <p:spTgt spid="23"/>
                                        </p:tgtEl>
                                        <p:attrNameLst>
                                          <p:attrName>ppt_x</p:attrName>
                                        </p:attrNameLst>
                                      </p:cBhvr>
                                      <p:tavLst>
                                        <p:tav tm="0">
                                          <p:val>
                                            <p:strVal val="#ppt_x"/>
                                          </p:val>
                                        </p:tav>
                                        <p:tav tm="100000">
                                          <p:val>
                                            <p:strVal val="#ppt_x"/>
                                          </p:val>
                                        </p:tav>
                                      </p:tavLst>
                                    </p:anim>
                                    <p:anim calcmode="lin" valueType="num">
                                      <p:cBhvr>
                                        <p:cTn id="65" dur="500" fill="hold"/>
                                        <p:tgtEl>
                                          <p:spTgt spid="23"/>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72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anim calcmode="lin" valueType="num">
                                      <p:cBhvr>
                                        <p:cTn id="69" dur="500" fill="hold"/>
                                        <p:tgtEl>
                                          <p:spTgt spid="24"/>
                                        </p:tgtEl>
                                        <p:attrNameLst>
                                          <p:attrName>ppt_x</p:attrName>
                                        </p:attrNameLst>
                                      </p:cBhvr>
                                      <p:tavLst>
                                        <p:tav tm="0">
                                          <p:val>
                                            <p:strVal val="#ppt_x"/>
                                          </p:val>
                                        </p:tav>
                                        <p:tav tm="100000">
                                          <p:val>
                                            <p:strVal val="#ppt_x"/>
                                          </p:val>
                                        </p:tav>
                                      </p:tavLst>
                                    </p:anim>
                                    <p:anim calcmode="lin" valueType="num">
                                      <p:cBhvr>
                                        <p:cTn id="70" dur="500" fill="hold"/>
                                        <p:tgtEl>
                                          <p:spTgt spid="24"/>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84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anim calcmode="lin" valueType="num">
                                      <p:cBhvr>
                                        <p:cTn id="74" dur="500" fill="hold"/>
                                        <p:tgtEl>
                                          <p:spTgt spid="25"/>
                                        </p:tgtEl>
                                        <p:attrNameLst>
                                          <p:attrName>ppt_x</p:attrName>
                                        </p:attrNameLst>
                                      </p:cBhvr>
                                      <p:tavLst>
                                        <p:tav tm="0">
                                          <p:val>
                                            <p:strVal val="#ppt_x"/>
                                          </p:val>
                                        </p:tav>
                                        <p:tav tm="100000">
                                          <p:val>
                                            <p:strVal val="#ppt_x"/>
                                          </p:val>
                                        </p:tav>
                                      </p:tavLst>
                                    </p:anim>
                                    <p:anim calcmode="lin" valueType="num">
                                      <p:cBhvr>
                                        <p:cTn id="75" dur="500" fill="hold"/>
                                        <p:tgtEl>
                                          <p:spTgt spid="25"/>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84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anim calcmode="lin" valueType="num">
                                      <p:cBhvr>
                                        <p:cTn id="79" dur="500" fill="hold"/>
                                        <p:tgtEl>
                                          <p:spTgt spid="26"/>
                                        </p:tgtEl>
                                        <p:attrNameLst>
                                          <p:attrName>ppt_x</p:attrName>
                                        </p:attrNameLst>
                                      </p:cBhvr>
                                      <p:tavLst>
                                        <p:tav tm="0">
                                          <p:val>
                                            <p:strVal val="#ppt_x"/>
                                          </p:val>
                                        </p:tav>
                                        <p:tav tm="100000">
                                          <p:val>
                                            <p:strVal val="#ppt_x"/>
                                          </p:val>
                                        </p:tav>
                                      </p:tavLst>
                                    </p:anim>
                                    <p:anim calcmode="lin" valueType="num">
                                      <p:cBhvr>
                                        <p:cTn id="80" dur="500" fill="hold"/>
                                        <p:tgtEl>
                                          <p:spTgt spid="26"/>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96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500"/>
                                        <p:tgtEl>
                                          <p:spTgt spid="27"/>
                                        </p:tgtEl>
                                      </p:cBhvr>
                                    </p:animEffect>
                                    <p:anim calcmode="lin" valueType="num">
                                      <p:cBhvr>
                                        <p:cTn id="84" dur="500" fill="hold"/>
                                        <p:tgtEl>
                                          <p:spTgt spid="27"/>
                                        </p:tgtEl>
                                        <p:attrNameLst>
                                          <p:attrName>ppt_x</p:attrName>
                                        </p:attrNameLst>
                                      </p:cBhvr>
                                      <p:tavLst>
                                        <p:tav tm="0">
                                          <p:val>
                                            <p:strVal val="#ppt_x"/>
                                          </p:val>
                                        </p:tav>
                                        <p:tav tm="100000">
                                          <p:val>
                                            <p:strVal val="#ppt_x"/>
                                          </p:val>
                                        </p:tav>
                                      </p:tavLst>
                                    </p:anim>
                                    <p:anim calcmode="lin" valueType="num">
                                      <p:cBhvr>
                                        <p:cTn id="85" dur="500" fill="hold"/>
                                        <p:tgtEl>
                                          <p:spTgt spid="27"/>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96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500"/>
                                        <p:tgtEl>
                                          <p:spTgt spid="28"/>
                                        </p:tgtEl>
                                      </p:cBhvr>
                                    </p:animEffect>
                                    <p:anim calcmode="lin" valueType="num">
                                      <p:cBhvr>
                                        <p:cTn id="89" dur="500" fill="hold"/>
                                        <p:tgtEl>
                                          <p:spTgt spid="28"/>
                                        </p:tgtEl>
                                        <p:attrNameLst>
                                          <p:attrName>ppt_x</p:attrName>
                                        </p:attrNameLst>
                                      </p:cBhvr>
                                      <p:tavLst>
                                        <p:tav tm="0">
                                          <p:val>
                                            <p:strVal val="#ppt_x"/>
                                          </p:val>
                                        </p:tav>
                                        <p:tav tm="100000">
                                          <p:val>
                                            <p:strVal val="#ppt_x"/>
                                          </p:val>
                                        </p:tav>
                                      </p:tavLst>
                                    </p:anim>
                                    <p:anim calcmode="lin" valueType="num">
                                      <p:cBhvr>
                                        <p:cTn id="90" dur="5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29"/>
                                        </p:tgtEl>
                                        <p:attrNameLst>
                                          <p:attrName>style.visibility</p:attrName>
                                        </p:attrNameLst>
                                      </p:cBhvr>
                                      <p:to>
                                        <p:strVal val="visible"/>
                                      </p:to>
                                    </p:set>
                                    <p:animEffect transition="in" filter="fade">
                                      <p:cBhvr>
                                        <p:cTn id="95" dur="500"/>
                                        <p:tgtEl>
                                          <p:spTgt spid="29"/>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0"/>
                                        </p:tgtEl>
                                        <p:attrNameLst>
                                          <p:attrName>style.visibility</p:attrName>
                                        </p:attrNameLst>
                                      </p:cBhvr>
                                      <p:to>
                                        <p:strVal val="visible"/>
                                      </p:to>
                                    </p:set>
                                    <p:animEffect transition="in" filter="fade">
                                      <p:cBhvr>
                                        <p:cTn id="98" dur="500"/>
                                        <p:tgtEl>
                                          <p:spTgt spid="30"/>
                                        </p:tgtEl>
                                      </p:cBhvr>
                                    </p:animEffect>
                                  </p:childTnLst>
                                </p:cTn>
                              </p:par>
                              <p:par>
                                <p:cTn id="99" presetID="10" presetClass="entr" presetSubtype="0" fill="hold" grpId="0" nodeType="withEffect">
                                  <p:stCondLst>
                                    <p:cond delay="120"/>
                                  </p:stCondLst>
                                  <p:childTnLst>
                                    <p:set>
                                      <p:cBhvr>
                                        <p:cTn id="100" dur="1" fill="hold">
                                          <p:stCondLst>
                                            <p:cond delay="0"/>
                                          </p:stCondLst>
                                        </p:cTn>
                                        <p:tgtEl>
                                          <p:spTgt spid="31"/>
                                        </p:tgtEl>
                                        <p:attrNameLst>
                                          <p:attrName>style.visibility</p:attrName>
                                        </p:attrNameLst>
                                      </p:cBhvr>
                                      <p:to>
                                        <p:strVal val="visible"/>
                                      </p:to>
                                    </p:set>
                                    <p:animEffect transition="in" filter="fade">
                                      <p:cBhvr>
                                        <p:cTn id="101" dur="500"/>
                                        <p:tgtEl>
                                          <p:spTgt spid="31"/>
                                        </p:tgtEl>
                                      </p:cBhvr>
                                    </p:animEffect>
                                  </p:childTnLst>
                                </p:cTn>
                              </p:par>
                              <p:par>
                                <p:cTn id="102" presetID="10" presetClass="entr" presetSubtype="0" fill="hold" grpId="0" nodeType="withEffect">
                                  <p:stCondLst>
                                    <p:cond delay="120"/>
                                  </p:stCondLst>
                                  <p:childTnLst>
                                    <p:set>
                                      <p:cBhvr>
                                        <p:cTn id="103" dur="1" fill="hold">
                                          <p:stCondLst>
                                            <p:cond delay="0"/>
                                          </p:stCondLst>
                                        </p:cTn>
                                        <p:tgtEl>
                                          <p:spTgt spid="32"/>
                                        </p:tgtEl>
                                        <p:attrNameLst>
                                          <p:attrName>style.visibility</p:attrName>
                                        </p:attrNameLst>
                                      </p:cBhvr>
                                      <p:to>
                                        <p:strVal val="visible"/>
                                      </p:to>
                                    </p:set>
                                    <p:animEffect transition="in" filter="fade">
                                      <p:cBhvr>
                                        <p:cTn id="104" dur="500"/>
                                        <p:tgtEl>
                                          <p:spTgt spid="32"/>
                                        </p:tgtEl>
                                      </p:cBhvr>
                                    </p:animEffect>
                                  </p:childTnLst>
                                </p:cTn>
                              </p:par>
                              <p:par>
                                <p:cTn id="105" presetID="42" presetClass="entr" presetSubtype="0" fill="hold" grpId="0" nodeType="withEffect">
                                  <p:stCondLst>
                                    <p:cond delay="240"/>
                                  </p:stCondLst>
                                  <p:childTnLst>
                                    <p:set>
                                      <p:cBhvr>
                                        <p:cTn id="106" dur="1" fill="hold">
                                          <p:stCondLst>
                                            <p:cond delay="0"/>
                                          </p:stCondLst>
                                        </p:cTn>
                                        <p:tgtEl>
                                          <p:spTgt spid="33"/>
                                        </p:tgtEl>
                                        <p:attrNameLst>
                                          <p:attrName>style.visibility</p:attrName>
                                        </p:attrNameLst>
                                      </p:cBhvr>
                                      <p:to>
                                        <p:strVal val="visible"/>
                                      </p:to>
                                    </p:set>
                                    <p:animEffect transition="in" filter="fade">
                                      <p:cBhvr>
                                        <p:cTn id="107" dur="500"/>
                                        <p:tgtEl>
                                          <p:spTgt spid="33"/>
                                        </p:tgtEl>
                                      </p:cBhvr>
                                    </p:animEffect>
                                    <p:anim calcmode="lin" valueType="num">
                                      <p:cBhvr>
                                        <p:cTn id="108" dur="500" fill="hold"/>
                                        <p:tgtEl>
                                          <p:spTgt spid="33"/>
                                        </p:tgtEl>
                                        <p:attrNameLst>
                                          <p:attrName>ppt_x</p:attrName>
                                        </p:attrNameLst>
                                      </p:cBhvr>
                                      <p:tavLst>
                                        <p:tav tm="0">
                                          <p:val>
                                            <p:strVal val="#ppt_x"/>
                                          </p:val>
                                        </p:tav>
                                        <p:tav tm="100000">
                                          <p:val>
                                            <p:strVal val="#ppt_x"/>
                                          </p:val>
                                        </p:tav>
                                      </p:tavLst>
                                    </p:anim>
                                    <p:anim calcmode="lin" valueType="num">
                                      <p:cBhvr>
                                        <p:cTn id="109" dur="500" fill="hold"/>
                                        <p:tgtEl>
                                          <p:spTgt spid="33"/>
                                        </p:tgtEl>
                                        <p:attrNameLst>
                                          <p:attrName>ppt_y</p:attrName>
                                        </p:attrNameLst>
                                      </p:cBhvr>
                                      <p:tavLst>
                                        <p:tav tm="0">
                                          <p:val>
                                            <p:strVal val="#ppt_y+.1"/>
                                          </p:val>
                                        </p:tav>
                                        <p:tav tm="100000">
                                          <p:val>
                                            <p:strVal val="#ppt_y"/>
                                          </p:val>
                                        </p:tav>
                                      </p:tavLst>
                                    </p:anim>
                                  </p:childTnLst>
                                </p:cTn>
                              </p:par>
                            </p:childTnLst>
                          </p:cTn>
                        </p:par>
                        <p:par>
                          <p:cTn id="110" fill="hold">
                            <p:stCondLst>
                              <p:cond delay="740"/>
                            </p:stCondLst>
                            <p:childTnLst>
                              <p:par>
                                <p:cTn id="111" presetID="6" presetClass="emph" presetSubtype="0" autoRev="1" fill="hold" grpId="1" nodeType="afterEffect">
                                  <p:stCondLst>
                                    <p:cond delay="50"/>
                                  </p:stCondLst>
                                  <p:childTnLst>
                                    <p:animScale>
                                      <p:cBhvr>
                                        <p:cTn id="112" dur="450" fill="hold"/>
                                        <p:tgtEl>
                                          <p:spTgt spid="31"/>
                                        </p:tgtEl>
                                      </p:cBhvr>
                                      <p:by x="150000" y="150000"/>
                                      <p:to x="108000" y="108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30" grpId="0" animBg="1"/>
      <p:bldP spid="31" grpId="0" animBg="1"/>
      <p:bldP spid="31" grpId="1" animBg="1"/>
      <p:bldP spid="32" grpId="0" animBg="1"/>
      <p:bldP spid="3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8F4"/>
        </a:solidFill>
        <a:effectLst/>
      </p:bgPr>
    </p:bg>
    <p:spTree>
      <p:nvGrpSpPr>
        <p:cNvPr id="1" name=""/>
        <p:cNvGrpSpPr/>
        <p:nvPr/>
      </p:nvGrpSpPr>
      <p:grpSpPr>
        <a:xfrm>
          <a:off x="0" y="0"/>
          <a:ext cx="0" cy="0"/>
          <a:chOff x="0" y="0"/>
          <a:chExt cx="0" cy="0"/>
        </a:xfrm>
      </p:grpSpPr>
      <p:sp>
        <p:nvSpPr>
          <p:cNvPr id="2" name="!!TopBar"/>
          <p:cNvSpPr/>
          <p:nvPr/>
        </p:nvSpPr>
        <p:spPr>
          <a:xfrm>
            <a:off x="0" y="0"/>
            <a:ext cx="12191695" cy="91440"/>
          </a:xfrm>
          <a:prstGeom prst="rect">
            <a:avLst/>
          </a:prstGeom>
          <a:solidFill>
            <a:srgbClr val="12201B"/>
          </a:solidFill>
          <a:ln/>
        </p:spPr>
      </p:sp>
      <p:sp>
        <p:nvSpPr>
          <p:cNvPr id="3" name="!!LogoBg"/>
          <p:cNvSpPr/>
          <p:nvPr/>
        </p:nvSpPr>
        <p:spPr>
          <a:xfrm>
            <a:off x="11256264" y="274320"/>
            <a:ext cx="402336" cy="402336"/>
          </a:xfrm>
          <a:prstGeom prst="ellipse">
            <a:avLst/>
          </a:prstGeom>
          <a:solidFill>
            <a:srgbClr val="FFFFFF"/>
          </a:solidFill>
          <a:ln/>
        </p:spPr>
      </p:sp>
      <p:pic>
        <p:nvPicPr>
          <p:cNvPr id="4" name="!!Logo" descr="Logo Trường Đại học Trà Vinh"/>
          <p:cNvPicPr>
            <a:picLocks noChangeAspect="1"/>
          </p:cNvPicPr>
          <p:nvPr/>
        </p:nvPicPr>
        <p:blipFill>
          <a:blip r:embed="rId3"/>
          <a:stretch>
            <a:fillRect/>
          </a:stretch>
        </p:blipFill>
        <p:spPr>
          <a:xfrm>
            <a:off x="11269980" y="288036"/>
            <a:ext cx="374904" cy="374904"/>
          </a:xfrm>
          <a:prstGeom prst="rect">
            <a:avLst/>
          </a:prstGeom>
        </p:spPr>
      </p:pic>
      <p:sp>
        <p:nvSpPr>
          <p:cNvPr id="5" name="!!Label"/>
          <p:cNvSpPr txBox="1"/>
          <p:nvPr/>
        </p:nvSpPr>
        <p:spPr>
          <a:xfrm>
            <a:off x="8138160" y="365760"/>
            <a:ext cx="2971800" cy="274320"/>
          </a:xfrm>
          <a:prstGeom prst="rect">
            <a:avLst/>
          </a:prstGeom>
          <a:noFill/>
          <a:ln/>
        </p:spPr>
        <p:txBody>
          <a:bodyPr wrap="square" lIns="0" tIns="0" rIns="0" bIns="0" rtlCol="0" anchor="t"/>
          <a:lstStyle/>
          <a:p>
            <a:pPr marL="0" indent="0" algn="r">
              <a:buNone/>
            </a:pPr>
            <a:r>
              <a:rPr lang="en-US" sz="1000" b="1" kern="0" spc="150" dirty="0">
                <a:solidFill>
                  <a:srgbClr val="43705F"/>
                </a:solidFill>
                <a:latin typeface="Segoe UI" pitchFamily="34" charset="0"/>
                <a:ea typeface="Segoe UI" pitchFamily="34" charset="-122"/>
                <a:cs typeface="Segoe UI" pitchFamily="34" charset="-120"/>
              </a:rPr>
              <a:t>TRIỂN KHAI</a:t>
            </a:r>
            <a:endParaRPr lang="en-US" sz="1000" dirty="0"/>
          </a:p>
        </p:txBody>
      </p:sp>
      <p:sp>
        <p:nvSpPr>
          <p:cNvPr id="6" name="!!Title"/>
          <p:cNvSpPr txBox="1"/>
          <p:nvPr/>
        </p:nvSpPr>
        <p:spPr>
          <a:xfrm>
            <a:off x="548640" y="329184"/>
            <a:ext cx="8138160" cy="548640"/>
          </a:xfrm>
          <a:prstGeom prst="rect">
            <a:avLst/>
          </a:prstGeom>
          <a:noFill/>
          <a:ln/>
        </p:spPr>
        <p:txBody>
          <a:bodyPr wrap="square" lIns="0" tIns="0" rIns="0" bIns="0" rtlCol="0" anchor="t"/>
          <a:lstStyle/>
          <a:p>
            <a:pPr marL="0" indent="0">
              <a:buNone/>
            </a:pPr>
            <a:r>
              <a:rPr lang="en-US" sz="2800" b="1" dirty="0">
                <a:solidFill>
                  <a:srgbClr val="1C2B25"/>
                </a:solidFill>
                <a:latin typeface="Cambria" pitchFamily="34" charset="0"/>
                <a:ea typeface="Cambria" pitchFamily="34" charset="-122"/>
                <a:cs typeface="Cambria" pitchFamily="34" charset="-120"/>
              </a:rPr>
              <a:t>Cài đặt và chạy chương trình</a:t>
            </a:r>
            <a:endParaRPr lang="en-US" sz="2800" dirty="0"/>
          </a:p>
        </p:txBody>
      </p:sp>
      <p:sp>
        <p:nvSpPr>
          <p:cNvPr id="7" name="!!Subtitle"/>
          <p:cNvSpPr txBox="1"/>
          <p:nvPr/>
        </p:nvSpPr>
        <p:spPr>
          <a:xfrm>
            <a:off x="548640" y="914400"/>
            <a:ext cx="10241280" cy="274320"/>
          </a:xfrm>
          <a:prstGeom prst="rect">
            <a:avLst/>
          </a:prstGeom>
          <a:noFill/>
          <a:ln/>
        </p:spPr>
        <p:txBody>
          <a:bodyPr wrap="square" lIns="0" tIns="0" rIns="0" bIns="0" rtlCol="0" anchor="t"/>
          <a:lstStyle/>
          <a:p>
            <a:pPr marL="0" indent="0">
              <a:buNone/>
            </a:pPr>
            <a:r>
              <a:rPr lang="en-US" sz="1250" dirty="0">
                <a:solidFill>
                  <a:srgbClr val="4E5B54"/>
                </a:solidFill>
                <a:latin typeface="Segoe UI" pitchFamily="34" charset="0"/>
                <a:ea typeface="Segoe UI" pitchFamily="34" charset="-122"/>
                <a:cs typeface="Segoe UI" pitchFamily="34" charset="-120"/>
              </a:rPr>
              <a:t>Hai cách chạy; lần đầu ứng dụng tự tạo cơ sở dữ liệu và nạp dữ liệu khởi tạo</a:t>
            </a:r>
            <a:endParaRPr lang="en-US" sz="1250" dirty="0"/>
          </a:p>
        </p:txBody>
      </p:sp>
      <p:sp>
        <p:nvSpPr>
          <p:cNvPr id="8" name="!!Accent"/>
          <p:cNvSpPr/>
          <p:nvPr/>
        </p:nvSpPr>
        <p:spPr>
          <a:xfrm>
            <a:off x="548640" y="1280160"/>
            <a:ext cx="1005840" cy="45720"/>
          </a:xfrm>
          <a:prstGeom prst="rect">
            <a:avLst/>
          </a:prstGeom>
          <a:solidFill>
            <a:srgbClr val="43705F"/>
          </a:solidFill>
          <a:ln/>
        </p:spPr>
      </p:sp>
      <p:sp>
        <p:nvSpPr>
          <p:cNvPr id="9" name="!!Footer"/>
          <p:cNvSpPr txBox="1"/>
          <p:nvPr/>
        </p:nvSpPr>
        <p:spPr>
          <a:xfrm>
            <a:off x="548640" y="6455664"/>
            <a:ext cx="7315200" cy="219456"/>
          </a:xfrm>
          <a:prstGeom prst="rect">
            <a:avLst/>
          </a:prstGeom>
          <a:noFill/>
          <a:ln/>
        </p:spPr>
        <p:txBody>
          <a:bodyPr wrap="square" lIns="0" tIns="0" rIns="0" bIns="0" rtlCol="0" anchor="t"/>
          <a:lstStyle/>
          <a:p>
            <a:pPr marL="0" indent="0">
              <a:buNone/>
            </a:pPr>
            <a:r>
              <a:rPr lang="en-US" sz="900" dirty="0">
                <a:solidFill>
                  <a:srgbClr val="4E5B54"/>
                </a:solidFill>
                <a:latin typeface="Segoe UI" pitchFamily="34" charset="0"/>
                <a:ea typeface="Segoe UI" pitchFamily="34" charset="-122"/>
                <a:cs typeface="Segoe UI" pitchFamily="34" charset="-120"/>
              </a:rPr>
              <a:t>Đồ án thực tập cơ sở ngành · Website di tích Việt Nam</a:t>
            </a:r>
            <a:endParaRPr lang="en-US" sz="900" dirty="0"/>
          </a:p>
        </p:txBody>
      </p:sp>
      <p:sp>
        <p:nvSpPr>
          <p:cNvPr id="10" name="!!PageNum"/>
          <p:cNvSpPr txBox="1"/>
          <p:nvPr/>
        </p:nvSpPr>
        <p:spPr>
          <a:xfrm>
            <a:off x="11091672" y="6455664"/>
            <a:ext cx="548640" cy="219456"/>
          </a:xfrm>
          <a:prstGeom prst="rect">
            <a:avLst/>
          </a:prstGeom>
          <a:noFill/>
          <a:ln/>
        </p:spPr>
        <p:txBody>
          <a:bodyPr wrap="square" lIns="0" tIns="0" rIns="0" bIns="0" rtlCol="0" anchor="t"/>
          <a:lstStyle/>
          <a:p>
            <a:pPr marL="0" indent="0" algn="r">
              <a:buNone/>
            </a:pPr>
            <a:r>
              <a:rPr lang="en-US" sz="900" dirty="0">
                <a:solidFill>
                  <a:srgbClr val="4E5B54"/>
                </a:solidFill>
                <a:latin typeface="Segoe UI" pitchFamily="34" charset="0"/>
                <a:ea typeface="Segoe UI" pitchFamily="34" charset="-122"/>
                <a:cs typeface="Segoe UI" pitchFamily="34" charset="-120"/>
              </a:rPr>
              <a:t>15</a:t>
            </a:r>
            <a:endParaRPr lang="en-US" sz="900" dirty="0"/>
          </a:p>
        </p:txBody>
      </p:sp>
      <p:sp>
        <p:nvSpPr>
          <p:cNvPr id="11" name="S15 Oval 11"/>
          <p:cNvSpPr/>
          <p:nvPr/>
        </p:nvSpPr>
        <p:spPr>
          <a:xfrm>
            <a:off x="548640" y="1572768"/>
            <a:ext cx="384048" cy="384048"/>
          </a:xfrm>
          <a:prstGeom prst="ellipse">
            <a:avLst/>
          </a:prstGeom>
          <a:solidFill>
            <a:srgbClr val="12201B"/>
          </a:solidFill>
          <a:ln/>
        </p:spPr>
      </p:sp>
      <p:pic>
        <p:nvPicPr>
          <p:cNvPr id="12" name="S15 Picture 12" descr="D:\02_learning\Courses\DXTTT8\.thuc-tap-co-so-nganh\_workspace\72_slide-no-keyband\assets\vs_F8F8F4.png"/>
          <p:cNvPicPr>
            <a:picLocks noChangeAspect="1"/>
          </p:cNvPicPr>
          <p:nvPr/>
        </p:nvPicPr>
        <p:blipFill>
          <a:blip r:embed="rId4"/>
          <a:stretch>
            <a:fillRect/>
          </a:stretch>
        </p:blipFill>
        <p:spPr>
          <a:xfrm>
            <a:off x="640812" y="1664940"/>
            <a:ext cx="199705" cy="199705"/>
          </a:xfrm>
          <a:prstGeom prst="rect">
            <a:avLst/>
          </a:prstGeom>
        </p:spPr>
      </p:pic>
      <p:sp>
        <p:nvSpPr>
          <p:cNvPr id="13" name="S15 TextBox 13"/>
          <p:cNvSpPr txBox="1"/>
          <p:nvPr/>
        </p:nvSpPr>
        <p:spPr>
          <a:xfrm>
            <a:off x="1024128" y="1572768"/>
            <a:ext cx="3657600" cy="384048"/>
          </a:xfrm>
          <a:prstGeom prst="rect">
            <a:avLst/>
          </a:prstGeom>
          <a:noFill/>
          <a:ln/>
        </p:spPr>
        <p:txBody>
          <a:bodyPr wrap="square" lIns="0" tIns="0" rIns="0" bIns="0" rtlCol="0" anchor="ctr"/>
          <a:lstStyle/>
          <a:p>
            <a:pPr marL="0" indent="0">
              <a:buNone/>
            </a:pPr>
            <a:r>
              <a:rPr lang="en-US" sz="1400" b="1" dirty="0">
                <a:solidFill>
                  <a:srgbClr val="1C2B25"/>
                </a:solidFill>
                <a:latin typeface="Segoe UI" pitchFamily="34" charset="0"/>
                <a:ea typeface="Segoe UI" pitchFamily="34" charset="-122"/>
                <a:cs typeface="Segoe UI" pitchFamily="34" charset="-120"/>
              </a:rPr>
              <a:t>Visual Studio 2026</a:t>
            </a:r>
            <a:endParaRPr lang="en-US" sz="1400" dirty="0"/>
          </a:p>
        </p:txBody>
      </p:sp>
      <p:sp>
        <p:nvSpPr>
          <p:cNvPr id="14" name="S15 Rounded Rectangle 14"/>
          <p:cNvSpPr/>
          <p:nvPr/>
        </p:nvSpPr>
        <p:spPr>
          <a:xfrm>
            <a:off x="548640" y="2286000"/>
            <a:ext cx="1508760" cy="914400"/>
          </a:xfrm>
          <a:prstGeom prst="roundRect">
            <a:avLst>
              <a:gd name="adj" fmla="val 6000"/>
            </a:avLst>
          </a:prstGeom>
          <a:solidFill>
            <a:srgbClr val="FFFFFF"/>
          </a:solidFill>
          <a:ln w="9525">
            <a:solidFill>
              <a:srgbClr val="C9CDC2"/>
            </a:solidFill>
          </a:ln>
        </p:spPr>
        <p:txBody>
          <a:bodyPr wrap="square" lIns="76200" tIns="101600" rIns="76200" bIns="0" rtlCol="0" anchor="ctr"/>
          <a:lstStyle/>
          <a:p>
            <a:pPr marL="0" indent="0" algn="ctr">
              <a:buNone/>
            </a:pPr>
            <a:r>
              <a:rPr lang="en-US" sz="1150" b="1" dirty="0">
                <a:solidFill>
                  <a:srgbClr val="1C2B25"/>
                </a:solidFill>
                <a:latin typeface="Segoe UI" pitchFamily="34" charset="0"/>
                <a:ea typeface="Segoe UI" pitchFamily="34" charset="-122"/>
                <a:cs typeface="Segoe UI" pitchFamily="34" charset="-120"/>
              </a:rPr>
              <a:t>Clone repository</a:t>
            </a:r>
            <a:endParaRPr lang="en-US" sz="1150" dirty="0"/>
          </a:p>
        </p:txBody>
      </p:sp>
      <p:sp>
        <p:nvSpPr>
          <p:cNvPr id="15" name="S15 Oval 15"/>
          <p:cNvSpPr/>
          <p:nvPr/>
        </p:nvSpPr>
        <p:spPr>
          <a:xfrm>
            <a:off x="1138428" y="2121408"/>
            <a:ext cx="329184" cy="329184"/>
          </a:xfrm>
          <a:prstGeom prst="ellipse">
            <a:avLst/>
          </a:prstGeom>
          <a:solidFill>
            <a:srgbClr val="43705F"/>
          </a:solidFill>
          <a:ln/>
        </p:spPr>
        <p:txBody>
          <a:bodyPr wrap="square" lIns="0" tIns="0" rIns="0" bIns="0" rtlCol="0" anchor="ctr"/>
          <a:lstStyle/>
          <a:p>
            <a:pPr marL="0" indent="0" algn="ctr">
              <a:buNone/>
            </a:pPr>
            <a:r>
              <a:rPr lang="en-US" sz="1100" b="1" dirty="0">
                <a:solidFill>
                  <a:srgbClr val="F8F8F4"/>
                </a:solidFill>
                <a:latin typeface="Segoe UI" pitchFamily="34" charset="0"/>
                <a:ea typeface="Segoe UI" pitchFamily="34" charset="-122"/>
                <a:cs typeface="Segoe UI" pitchFamily="34" charset="-120"/>
              </a:rPr>
              <a:t>1</a:t>
            </a:r>
            <a:endParaRPr lang="en-US" sz="1100" dirty="0"/>
          </a:p>
        </p:txBody>
      </p:sp>
      <p:sp>
        <p:nvSpPr>
          <p:cNvPr id="16" name="S15 Line 16"/>
          <p:cNvSpPr/>
          <p:nvPr/>
        </p:nvSpPr>
        <p:spPr>
          <a:xfrm>
            <a:off x="2057400" y="2743200"/>
            <a:ext cx="256032" cy="0"/>
          </a:xfrm>
          <a:prstGeom prst="line">
            <a:avLst/>
          </a:prstGeom>
          <a:noFill/>
          <a:ln w="19050">
            <a:solidFill>
              <a:srgbClr val="43705F"/>
            </a:solidFill>
            <a:prstDash val="solid"/>
          </a:ln>
        </p:spPr>
      </p:sp>
      <p:sp>
        <p:nvSpPr>
          <p:cNvPr id="17" name="S15 Rounded Rectangle 17"/>
          <p:cNvSpPr/>
          <p:nvPr/>
        </p:nvSpPr>
        <p:spPr>
          <a:xfrm>
            <a:off x="2313432" y="2286000"/>
            <a:ext cx="1508760" cy="914400"/>
          </a:xfrm>
          <a:prstGeom prst="roundRect">
            <a:avLst>
              <a:gd name="adj" fmla="val 6000"/>
            </a:avLst>
          </a:prstGeom>
          <a:solidFill>
            <a:srgbClr val="FFFFFF"/>
          </a:solidFill>
          <a:ln w="9525">
            <a:solidFill>
              <a:srgbClr val="C9CDC2"/>
            </a:solidFill>
          </a:ln>
        </p:spPr>
        <p:txBody>
          <a:bodyPr wrap="square" lIns="76200" tIns="101600" rIns="76200" bIns="0" rtlCol="0" anchor="ctr"/>
          <a:lstStyle/>
          <a:p>
            <a:pPr marL="0" indent="0" algn="ctr">
              <a:buNone/>
            </a:pPr>
            <a:r>
              <a:rPr lang="en-US" sz="1150" b="1" dirty="0">
                <a:solidFill>
                  <a:srgbClr val="1C2B25"/>
                </a:solidFill>
                <a:latin typeface="Segoe UI" pitchFamily="34" charset="0"/>
                <a:ea typeface="Segoe UI" pitchFamily="34" charset="-122"/>
                <a:cs typeface="Segoe UI" pitchFamily="34" charset="-120"/>
              </a:rPr>
              <a:t>Mở tệp</a:t>
            </a:r>
            <a:endParaRPr lang="en-US" sz="1150" dirty="0"/>
          </a:p>
          <a:p>
            <a:pPr marL="0" indent="0" algn="ctr">
              <a:buNone/>
            </a:pPr>
            <a:r>
              <a:rPr lang="en-US" sz="1000" b="1" dirty="0">
                <a:solidFill>
                  <a:srgbClr val="1C2B25"/>
                </a:solidFill>
                <a:latin typeface="Segoe UI" pitchFamily="34" charset="0"/>
                <a:ea typeface="Segoe UI" pitchFamily="34" charset="-122"/>
                <a:cs typeface="Segoe UI" pitchFamily="34" charset="-120"/>
              </a:rPr>
              <a:t>DiTichVietNam.slnx</a:t>
            </a:r>
            <a:endParaRPr lang="en-US" sz="1150" dirty="0"/>
          </a:p>
        </p:txBody>
      </p:sp>
      <p:sp>
        <p:nvSpPr>
          <p:cNvPr id="18" name="S15 Oval 18"/>
          <p:cNvSpPr/>
          <p:nvPr/>
        </p:nvSpPr>
        <p:spPr>
          <a:xfrm>
            <a:off x="2903220" y="2121408"/>
            <a:ext cx="329184" cy="329184"/>
          </a:xfrm>
          <a:prstGeom prst="ellipse">
            <a:avLst/>
          </a:prstGeom>
          <a:solidFill>
            <a:srgbClr val="43705F"/>
          </a:solidFill>
          <a:ln/>
        </p:spPr>
        <p:txBody>
          <a:bodyPr wrap="square" lIns="0" tIns="0" rIns="0" bIns="0" rtlCol="0" anchor="ctr"/>
          <a:lstStyle/>
          <a:p>
            <a:pPr marL="0" indent="0" algn="ctr">
              <a:buNone/>
            </a:pPr>
            <a:r>
              <a:rPr lang="en-US" sz="1100" b="1" dirty="0">
                <a:solidFill>
                  <a:srgbClr val="F8F8F4"/>
                </a:solidFill>
                <a:latin typeface="Segoe UI" pitchFamily="34" charset="0"/>
                <a:ea typeface="Segoe UI" pitchFamily="34" charset="-122"/>
                <a:cs typeface="Segoe UI" pitchFamily="34" charset="-120"/>
              </a:rPr>
              <a:t>2</a:t>
            </a:r>
            <a:endParaRPr lang="en-US" sz="1100" dirty="0"/>
          </a:p>
        </p:txBody>
      </p:sp>
      <p:sp>
        <p:nvSpPr>
          <p:cNvPr id="19" name="S15 Line 19"/>
          <p:cNvSpPr/>
          <p:nvPr/>
        </p:nvSpPr>
        <p:spPr>
          <a:xfrm>
            <a:off x="3822192" y="2743200"/>
            <a:ext cx="256032" cy="0"/>
          </a:xfrm>
          <a:prstGeom prst="line">
            <a:avLst/>
          </a:prstGeom>
          <a:noFill/>
          <a:ln w="19050">
            <a:solidFill>
              <a:srgbClr val="43705F"/>
            </a:solidFill>
            <a:prstDash val="solid"/>
          </a:ln>
        </p:spPr>
      </p:sp>
      <p:sp>
        <p:nvSpPr>
          <p:cNvPr id="20" name="S15 Rounded Rectangle 20"/>
          <p:cNvSpPr/>
          <p:nvPr/>
        </p:nvSpPr>
        <p:spPr>
          <a:xfrm>
            <a:off x="4078224" y="2286000"/>
            <a:ext cx="1508760" cy="914400"/>
          </a:xfrm>
          <a:prstGeom prst="roundRect">
            <a:avLst>
              <a:gd name="adj" fmla="val 6000"/>
            </a:avLst>
          </a:prstGeom>
          <a:solidFill>
            <a:srgbClr val="FFFFFF"/>
          </a:solidFill>
          <a:ln w="9525">
            <a:solidFill>
              <a:srgbClr val="C9CDC2"/>
            </a:solidFill>
          </a:ln>
        </p:spPr>
        <p:txBody>
          <a:bodyPr wrap="square" lIns="76200" tIns="101600" rIns="76200" bIns="0" rtlCol="0" anchor="ctr"/>
          <a:lstStyle/>
          <a:p>
            <a:pPr marL="0" indent="0" algn="ctr">
              <a:buNone/>
            </a:pPr>
            <a:r>
              <a:rPr lang="en-US" sz="1150" b="1" dirty="0">
                <a:solidFill>
                  <a:srgbClr val="1C2B25"/>
                </a:solidFill>
                <a:latin typeface="Segoe UI" pitchFamily="34" charset="0"/>
                <a:ea typeface="Segoe UI" pitchFamily="34" charset="-122"/>
                <a:cs typeface="Segoe UI" pitchFamily="34" charset="-120"/>
              </a:rPr>
              <a:t>Chọn profile http</a:t>
            </a:r>
            <a:endParaRPr lang="en-US" sz="1150" dirty="0"/>
          </a:p>
        </p:txBody>
      </p:sp>
      <p:sp>
        <p:nvSpPr>
          <p:cNvPr id="21" name="S15 Oval 21"/>
          <p:cNvSpPr/>
          <p:nvPr/>
        </p:nvSpPr>
        <p:spPr>
          <a:xfrm>
            <a:off x="4668012" y="2121408"/>
            <a:ext cx="329184" cy="329184"/>
          </a:xfrm>
          <a:prstGeom prst="ellipse">
            <a:avLst/>
          </a:prstGeom>
          <a:solidFill>
            <a:srgbClr val="43705F"/>
          </a:solidFill>
          <a:ln/>
        </p:spPr>
        <p:txBody>
          <a:bodyPr wrap="square" lIns="0" tIns="0" rIns="0" bIns="0" rtlCol="0" anchor="ctr"/>
          <a:lstStyle/>
          <a:p>
            <a:pPr marL="0" indent="0" algn="ctr">
              <a:buNone/>
            </a:pPr>
            <a:r>
              <a:rPr lang="en-US" sz="1100" b="1" dirty="0">
                <a:solidFill>
                  <a:srgbClr val="F8F8F4"/>
                </a:solidFill>
                <a:latin typeface="Segoe UI" pitchFamily="34" charset="0"/>
                <a:ea typeface="Segoe UI" pitchFamily="34" charset="-122"/>
                <a:cs typeface="Segoe UI" pitchFamily="34" charset="-120"/>
              </a:rPr>
              <a:t>3</a:t>
            </a:r>
            <a:endParaRPr lang="en-US" sz="1100" dirty="0"/>
          </a:p>
        </p:txBody>
      </p:sp>
      <p:sp>
        <p:nvSpPr>
          <p:cNvPr id="22" name="S15 Line 22"/>
          <p:cNvSpPr/>
          <p:nvPr/>
        </p:nvSpPr>
        <p:spPr>
          <a:xfrm>
            <a:off x="5586984" y="2743200"/>
            <a:ext cx="256032" cy="0"/>
          </a:xfrm>
          <a:prstGeom prst="line">
            <a:avLst/>
          </a:prstGeom>
          <a:noFill/>
          <a:ln w="19050">
            <a:solidFill>
              <a:srgbClr val="43705F"/>
            </a:solidFill>
            <a:prstDash val="solid"/>
          </a:ln>
        </p:spPr>
      </p:sp>
      <p:sp>
        <p:nvSpPr>
          <p:cNvPr id="23" name="S15 Rounded Rectangle 23"/>
          <p:cNvSpPr/>
          <p:nvPr/>
        </p:nvSpPr>
        <p:spPr>
          <a:xfrm>
            <a:off x="5843016" y="2286000"/>
            <a:ext cx="1508760" cy="914400"/>
          </a:xfrm>
          <a:prstGeom prst="roundRect">
            <a:avLst>
              <a:gd name="adj" fmla="val 6000"/>
            </a:avLst>
          </a:prstGeom>
          <a:solidFill>
            <a:srgbClr val="9E2B25"/>
          </a:solidFill>
          <a:ln/>
        </p:spPr>
        <p:txBody>
          <a:bodyPr wrap="square" lIns="76200" tIns="101600" rIns="76200" bIns="0" rtlCol="0" anchor="ctr"/>
          <a:lstStyle/>
          <a:p>
            <a:pPr marL="0" indent="0" algn="ctr">
              <a:buNone/>
            </a:pPr>
            <a:r>
              <a:rPr lang="en-US" sz="1150" b="1" dirty="0">
                <a:solidFill>
                  <a:srgbClr val="F8F8F4"/>
                </a:solidFill>
                <a:latin typeface="Segoe UI" pitchFamily="34" charset="0"/>
                <a:ea typeface="Segoe UI" pitchFamily="34" charset="-122"/>
                <a:cs typeface="Segoe UI" pitchFamily="34" charset="-120"/>
              </a:rPr>
              <a:t>Bấm F5, tự tạo cơ sở dữ liệu</a:t>
            </a:r>
            <a:endParaRPr lang="en-US" sz="1150" dirty="0"/>
          </a:p>
        </p:txBody>
      </p:sp>
      <p:sp>
        <p:nvSpPr>
          <p:cNvPr id="24" name="S15 Oval 24"/>
          <p:cNvSpPr/>
          <p:nvPr/>
        </p:nvSpPr>
        <p:spPr>
          <a:xfrm>
            <a:off x="6432804" y="2121408"/>
            <a:ext cx="329184" cy="329184"/>
          </a:xfrm>
          <a:prstGeom prst="ellipse">
            <a:avLst/>
          </a:prstGeom>
          <a:solidFill>
            <a:srgbClr val="43705F"/>
          </a:solidFill>
          <a:ln/>
        </p:spPr>
        <p:txBody>
          <a:bodyPr wrap="square" lIns="0" tIns="0" rIns="0" bIns="0" rtlCol="0" anchor="ctr"/>
          <a:lstStyle/>
          <a:p>
            <a:pPr marL="0" indent="0" algn="ctr">
              <a:buNone/>
            </a:pPr>
            <a:r>
              <a:rPr lang="en-US" sz="1100" b="1" dirty="0">
                <a:solidFill>
                  <a:srgbClr val="F8F8F4"/>
                </a:solidFill>
                <a:latin typeface="Segoe UI" pitchFamily="34" charset="0"/>
                <a:ea typeface="Segoe UI" pitchFamily="34" charset="-122"/>
                <a:cs typeface="Segoe UI" pitchFamily="34" charset="-120"/>
              </a:rPr>
              <a:t>4</a:t>
            </a:r>
            <a:endParaRPr lang="en-US" sz="1100" dirty="0"/>
          </a:p>
        </p:txBody>
      </p:sp>
      <p:sp>
        <p:nvSpPr>
          <p:cNvPr id="25" name="S15 Oval 25"/>
          <p:cNvSpPr/>
          <p:nvPr/>
        </p:nvSpPr>
        <p:spPr>
          <a:xfrm>
            <a:off x="548640" y="3456432"/>
            <a:ext cx="384048" cy="384048"/>
          </a:xfrm>
          <a:prstGeom prst="ellipse">
            <a:avLst/>
          </a:prstGeom>
          <a:solidFill>
            <a:srgbClr val="12201B"/>
          </a:solidFill>
          <a:ln/>
        </p:spPr>
      </p:sp>
      <p:pic>
        <p:nvPicPr>
          <p:cNvPr id="26" name="S15 Picture 26" descr="D:\02_learning\Courses\DXTTT8\.thuc-tap-co-so-nganh\_workspace\72_slide-no-keyband\assets\docker_F8F8F4.png"/>
          <p:cNvPicPr>
            <a:picLocks noChangeAspect="1"/>
          </p:cNvPicPr>
          <p:nvPr/>
        </p:nvPicPr>
        <p:blipFill>
          <a:blip r:embed="rId5"/>
          <a:stretch>
            <a:fillRect/>
          </a:stretch>
        </p:blipFill>
        <p:spPr>
          <a:xfrm>
            <a:off x="640812" y="3548604"/>
            <a:ext cx="199705" cy="199705"/>
          </a:xfrm>
          <a:prstGeom prst="rect">
            <a:avLst/>
          </a:prstGeom>
        </p:spPr>
      </p:pic>
      <p:sp>
        <p:nvSpPr>
          <p:cNvPr id="27" name="S15 TextBox 27"/>
          <p:cNvSpPr txBox="1"/>
          <p:nvPr/>
        </p:nvSpPr>
        <p:spPr>
          <a:xfrm>
            <a:off x="1024128" y="3456432"/>
            <a:ext cx="3657600" cy="384048"/>
          </a:xfrm>
          <a:prstGeom prst="rect">
            <a:avLst/>
          </a:prstGeom>
          <a:noFill/>
          <a:ln/>
        </p:spPr>
        <p:txBody>
          <a:bodyPr wrap="square" lIns="0" tIns="0" rIns="0" bIns="0" rtlCol="0" anchor="ctr"/>
          <a:lstStyle/>
          <a:p>
            <a:pPr marL="0" indent="0">
              <a:buNone/>
            </a:pPr>
            <a:r>
              <a:rPr lang="en-US" sz="1400" b="1" dirty="0">
                <a:solidFill>
                  <a:srgbClr val="1C2B25"/>
                </a:solidFill>
                <a:latin typeface="Segoe UI" pitchFamily="34" charset="0"/>
                <a:ea typeface="Segoe UI" pitchFamily="34" charset="-122"/>
                <a:cs typeface="Segoe UI" pitchFamily="34" charset="-120"/>
              </a:rPr>
              <a:t>Docker Compose</a:t>
            </a:r>
            <a:endParaRPr lang="en-US" sz="1400" dirty="0"/>
          </a:p>
        </p:txBody>
      </p:sp>
      <p:sp>
        <p:nvSpPr>
          <p:cNvPr id="28" name="S15 Rounded Rectangle 28"/>
          <p:cNvSpPr/>
          <p:nvPr/>
        </p:nvSpPr>
        <p:spPr>
          <a:xfrm>
            <a:off x="548640" y="4169664"/>
            <a:ext cx="1508760" cy="914400"/>
          </a:xfrm>
          <a:prstGeom prst="roundRect">
            <a:avLst>
              <a:gd name="adj" fmla="val 6000"/>
            </a:avLst>
          </a:prstGeom>
          <a:solidFill>
            <a:srgbClr val="FFFFFF"/>
          </a:solidFill>
          <a:ln w="9525">
            <a:solidFill>
              <a:srgbClr val="C9CDC2"/>
            </a:solidFill>
          </a:ln>
        </p:spPr>
        <p:txBody>
          <a:bodyPr wrap="square" lIns="76200" tIns="101600" rIns="76200" bIns="0" rtlCol="0" anchor="ctr"/>
          <a:lstStyle/>
          <a:p>
            <a:pPr marL="0" indent="0" algn="ctr">
              <a:buNone/>
            </a:pPr>
            <a:r>
              <a:rPr lang="en-US" sz="1150" b="1" dirty="0">
                <a:solidFill>
                  <a:srgbClr val="1C2B25"/>
                </a:solidFill>
                <a:latin typeface="Segoe UI" pitchFamily="34" charset="0"/>
                <a:ea typeface="Segoe UI" pitchFamily="34" charset="-122"/>
                <a:cs typeface="Segoe UI" pitchFamily="34" charset="-120"/>
              </a:rPr>
              <a:t>Clone repository</a:t>
            </a:r>
            <a:endParaRPr lang="en-US" sz="1150" dirty="0"/>
          </a:p>
        </p:txBody>
      </p:sp>
      <p:sp>
        <p:nvSpPr>
          <p:cNvPr id="29" name="S15 Oval 29"/>
          <p:cNvSpPr/>
          <p:nvPr/>
        </p:nvSpPr>
        <p:spPr>
          <a:xfrm>
            <a:off x="1138428" y="4005072"/>
            <a:ext cx="329184" cy="329184"/>
          </a:xfrm>
          <a:prstGeom prst="ellipse">
            <a:avLst/>
          </a:prstGeom>
          <a:solidFill>
            <a:srgbClr val="43705F"/>
          </a:solidFill>
          <a:ln/>
        </p:spPr>
        <p:txBody>
          <a:bodyPr wrap="square" lIns="0" tIns="0" rIns="0" bIns="0" rtlCol="0" anchor="ctr"/>
          <a:lstStyle/>
          <a:p>
            <a:pPr marL="0" indent="0" algn="ctr">
              <a:buNone/>
            </a:pPr>
            <a:r>
              <a:rPr lang="en-US" sz="1100" b="1" dirty="0">
                <a:solidFill>
                  <a:srgbClr val="F8F8F4"/>
                </a:solidFill>
                <a:latin typeface="Segoe UI" pitchFamily="34" charset="0"/>
                <a:ea typeface="Segoe UI" pitchFamily="34" charset="-122"/>
                <a:cs typeface="Segoe UI" pitchFamily="34" charset="-120"/>
              </a:rPr>
              <a:t>1</a:t>
            </a:r>
            <a:endParaRPr lang="en-US" sz="1100" dirty="0"/>
          </a:p>
        </p:txBody>
      </p:sp>
      <p:sp>
        <p:nvSpPr>
          <p:cNvPr id="30" name="S15 Line 30"/>
          <p:cNvSpPr/>
          <p:nvPr/>
        </p:nvSpPr>
        <p:spPr>
          <a:xfrm>
            <a:off x="2057400" y="4626864"/>
            <a:ext cx="256032" cy="0"/>
          </a:xfrm>
          <a:prstGeom prst="line">
            <a:avLst/>
          </a:prstGeom>
          <a:noFill/>
          <a:ln w="19050">
            <a:solidFill>
              <a:srgbClr val="43705F"/>
            </a:solidFill>
            <a:prstDash val="solid"/>
          </a:ln>
        </p:spPr>
      </p:sp>
      <p:sp>
        <p:nvSpPr>
          <p:cNvPr id="31" name="S15 Rounded Rectangle 31"/>
          <p:cNvSpPr/>
          <p:nvPr/>
        </p:nvSpPr>
        <p:spPr>
          <a:xfrm>
            <a:off x="2313432" y="4169664"/>
            <a:ext cx="1508760" cy="914400"/>
          </a:xfrm>
          <a:prstGeom prst="roundRect">
            <a:avLst>
              <a:gd name="adj" fmla="val 6000"/>
            </a:avLst>
          </a:prstGeom>
          <a:solidFill>
            <a:srgbClr val="FFFFFF"/>
          </a:solidFill>
          <a:ln w="9525">
            <a:solidFill>
              <a:srgbClr val="C9CDC2"/>
            </a:solidFill>
          </a:ln>
        </p:spPr>
        <p:txBody>
          <a:bodyPr wrap="square" lIns="76200" tIns="101600" rIns="76200" bIns="0" rtlCol="0" anchor="ctr"/>
          <a:lstStyle/>
          <a:p>
            <a:pPr marL="0" indent="0" algn="ctr">
              <a:buNone/>
            </a:pPr>
            <a:r>
              <a:rPr lang="en-US" sz="1150" b="1" dirty="0">
                <a:solidFill>
                  <a:srgbClr val="1C2B25"/>
                </a:solidFill>
                <a:latin typeface="Segoe UI" pitchFamily="34" charset="0"/>
                <a:ea typeface="Segoe UI" pitchFamily="34" charset="-122"/>
                <a:cs typeface="Segoe UI" pitchFamily="34" charset="-120"/>
              </a:rPr>
              <a:t>Vào thư mục docker</a:t>
            </a:r>
            <a:endParaRPr lang="en-US" sz="1150" dirty="0"/>
          </a:p>
        </p:txBody>
      </p:sp>
      <p:sp>
        <p:nvSpPr>
          <p:cNvPr id="32" name="S15 Oval 32"/>
          <p:cNvSpPr/>
          <p:nvPr/>
        </p:nvSpPr>
        <p:spPr>
          <a:xfrm>
            <a:off x="2903220" y="4005072"/>
            <a:ext cx="329184" cy="329184"/>
          </a:xfrm>
          <a:prstGeom prst="ellipse">
            <a:avLst/>
          </a:prstGeom>
          <a:solidFill>
            <a:srgbClr val="43705F"/>
          </a:solidFill>
          <a:ln/>
        </p:spPr>
        <p:txBody>
          <a:bodyPr wrap="square" lIns="0" tIns="0" rIns="0" bIns="0" rtlCol="0" anchor="ctr"/>
          <a:lstStyle/>
          <a:p>
            <a:pPr marL="0" indent="0" algn="ctr">
              <a:buNone/>
            </a:pPr>
            <a:r>
              <a:rPr lang="en-US" sz="1100" b="1" dirty="0">
                <a:solidFill>
                  <a:srgbClr val="F8F8F4"/>
                </a:solidFill>
                <a:latin typeface="Segoe UI" pitchFamily="34" charset="0"/>
                <a:ea typeface="Segoe UI" pitchFamily="34" charset="-122"/>
                <a:cs typeface="Segoe UI" pitchFamily="34" charset="-120"/>
              </a:rPr>
              <a:t>2</a:t>
            </a:r>
            <a:endParaRPr lang="en-US" sz="1100" dirty="0"/>
          </a:p>
        </p:txBody>
      </p:sp>
      <p:sp>
        <p:nvSpPr>
          <p:cNvPr id="33" name="S15 Line 33"/>
          <p:cNvSpPr/>
          <p:nvPr/>
        </p:nvSpPr>
        <p:spPr>
          <a:xfrm>
            <a:off x="3822192" y="4626864"/>
            <a:ext cx="256032" cy="0"/>
          </a:xfrm>
          <a:prstGeom prst="line">
            <a:avLst/>
          </a:prstGeom>
          <a:noFill/>
          <a:ln w="19050">
            <a:solidFill>
              <a:srgbClr val="43705F"/>
            </a:solidFill>
            <a:prstDash val="solid"/>
          </a:ln>
        </p:spPr>
      </p:sp>
      <p:sp>
        <p:nvSpPr>
          <p:cNvPr id="34" name="S15 Rounded Rectangle 34"/>
          <p:cNvSpPr/>
          <p:nvPr/>
        </p:nvSpPr>
        <p:spPr>
          <a:xfrm>
            <a:off x="4078224" y="4169664"/>
            <a:ext cx="1508760" cy="914400"/>
          </a:xfrm>
          <a:prstGeom prst="roundRect">
            <a:avLst>
              <a:gd name="adj" fmla="val 6000"/>
            </a:avLst>
          </a:prstGeom>
          <a:solidFill>
            <a:srgbClr val="12201B"/>
          </a:solidFill>
          <a:ln/>
        </p:spPr>
        <p:txBody>
          <a:bodyPr wrap="square" lIns="76200" tIns="101600" rIns="76200" bIns="0" rtlCol="0" anchor="ctr"/>
          <a:lstStyle/>
          <a:p>
            <a:pPr marL="0" indent="0" algn="ctr">
              <a:buNone/>
            </a:pPr>
            <a:r>
              <a:rPr lang="en-US" sz="1050" dirty="0">
                <a:solidFill>
                  <a:srgbClr val="F8F8F4"/>
                </a:solidFill>
                <a:latin typeface="Consolas" pitchFamily="34" charset="0"/>
                <a:ea typeface="Consolas" pitchFamily="34" charset="-122"/>
                <a:cs typeface="Consolas" pitchFamily="34" charset="-120"/>
              </a:rPr>
              <a:t>docker compose up -d --build</a:t>
            </a:r>
            <a:endParaRPr lang="en-US" sz="1050" dirty="0"/>
          </a:p>
        </p:txBody>
      </p:sp>
      <p:sp>
        <p:nvSpPr>
          <p:cNvPr id="35" name="S15 Oval 35"/>
          <p:cNvSpPr/>
          <p:nvPr/>
        </p:nvSpPr>
        <p:spPr>
          <a:xfrm>
            <a:off x="4668012" y="4005072"/>
            <a:ext cx="329184" cy="329184"/>
          </a:xfrm>
          <a:prstGeom prst="ellipse">
            <a:avLst/>
          </a:prstGeom>
          <a:solidFill>
            <a:srgbClr val="43705F"/>
          </a:solidFill>
          <a:ln/>
        </p:spPr>
        <p:txBody>
          <a:bodyPr wrap="square" lIns="0" tIns="0" rIns="0" bIns="0" rtlCol="0" anchor="ctr"/>
          <a:lstStyle/>
          <a:p>
            <a:pPr marL="0" indent="0" algn="ctr">
              <a:buNone/>
            </a:pPr>
            <a:r>
              <a:rPr lang="en-US" sz="1100" b="1" dirty="0">
                <a:solidFill>
                  <a:srgbClr val="F8F8F4"/>
                </a:solidFill>
                <a:latin typeface="Segoe UI" pitchFamily="34" charset="0"/>
                <a:ea typeface="Segoe UI" pitchFamily="34" charset="-122"/>
                <a:cs typeface="Segoe UI" pitchFamily="34" charset="-120"/>
              </a:rPr>
              <a:t>3</a:t>
            </a:r>
            <a:endParaRPr lang="en-US" sz="1100" dirty="0"/>
          </a:p>
        </p:txBody>
      </p:sp>
      <p:sp>
        <p:nvSpPr>
          <p:cNvPr id="36" name="S15 Line 36"/>
          <p:cNvSpPr/>
          <p:nvPr/>
        </p:nvSpPr>
        <p:spPr>
          <a:xfrm>
            <a:off x="5586984" y="4626864"/>
            <a:ext cx="256032" cy="0"/>
          </a:xfrm>
          <a:prstGeom prst="line">
            <a:avLst/>
          </a:prstGeom>
          <a:noFill/>
          <a:ln w="19050">
            <a:solidFill>
              <a:srgbClr val="43705F"/>
            </a:solidFill>
            <a:prstDash val="solid"/>
          </a:ln>
        </p:spPr>
      </p:sp>
      <p:sp>
        <p:nvSpPr>
          <p:cNvPr id="37" name="S15 Rounded Rectangle 37"/>
          <p:cNvSpPr/>
          <p:nvPr/>
        </p:nvSpPr>
        <p:spPr>
          <a:xfrm>
            <a:off x="5843016" y="4169664"/>
            <a:ext cx="1508760" cy="914400"/>
          </a:xfrm>
          <a:prstGeom prst="roundRect">
            <a:avLst>
              <a:gd name="adj" fmla="val 6000"/>
            </a:avLst>
          </a:prstGeom>
          <a:solidFill>
            <a:srgbClr val="9E2B25"/>
          </a:solidFill>
          <a:ln/>
        </p:spPr>
        <p:txBody>
          <a:bodyPr wrap="square" lIns="76200" tIns="101600" rIns="76200" bIns="0" rtlCol="0" anchor="ctr"/>
          <a:lstStyle/>
          <a:p>
            <a:pPr marL="0" indent="0" algn="ctr">
              <a:buNone/>
            </a:pPr>
            <a:r>
              <a:rPr lang="en-US" sz="1150" b="1" dirty="0">
                <a:solidFill>
                  <a:srgbClr val="F8F8F4"/>
                </a:solidFill>
                <a:latin typeface="Segoe UI" pitchFamily="34" charset="0"/>
                <a:ea typeface="Segoe UI" pitchFamily="34" charset="-122"/>
                <a:cs typeface="Segoe UI" pitchFamily="34" charset="-120"/>
              </a:rPr>
              <a:t>Mở localhost:5112</a:t>
            </a:r>
            <a:endParaRPr lang="en-US" sz="1150" dirty="0"/>
          </a:p>
        </p:txBody>
      </p:sp>
      <p:sp>
        <p:nvSpPr>
          <p:cNvPr id="38" name="S15 Oval 38"/>
          <p:cNvSpPr/>
          <p:nvPr/>
        </p:nvSpPr>
        <p:spPr>
          <a:xfrm>
            <a:off x="6432804" y="4005072"/>
            <a:ext cx="329184" cy="329184"/>
          </a:xfrm>
          <a:prstGeom prst="ellipse">
            <a:avLst/>
          </a:prstGeom>
          <a:solidFill>
            <a:srgbClr val="43705F"/>
          </a:solidFill>
          <a:ln/>
        </p:spPr>
        <p:txBody>
          <a:bodyPr wrap="square" lIns="0" tIns="0" rIns="0" bIns="0" rtlCol="0" anchor="ctr"/>
          <a:lstStyle/>
          <a:p>
            <a:pPr marL="0" indent="0" algn="ctr">
              <a:buNone/>
            </a:pPr>
            <a:r>
              <a:rPr lang="en-US" sz="1100" b="1" dirty="0">
                <a:solidFill>
                  <a:srgbClr val="F8F8F4"/>
                </a:solidFill>
                <a:latin typeface="Segoe UI" pitchFamily="34" charset="0"/>
                <a:ea typeface="Segoe UI" pitchFamily="34" charset="-122"/>
                <a:cs typeface="Segoe UI" pitchFamily="34" charset="-120"/>
              </a:rPr>
              <a:t>4</a:t>
            </a:r>
            <a:endParaRPr lang="en-US" sz="1100" dirty="0"/>
          </a:p>
        </p:txBody>
      </p:sp>
      <p:sp>
        <p:nvSpPr>
          <p:cNvPr id="39" name="S15 Rectangle 39"/>
          <p:cNvSpPr/>
          <p:nvPr/>
        </p:nvSpPr>
        <p:spPr>
          <a:xfrm>
            <a:off x="548640" y="5440680"/>
            <a:ext cx="6803136" cy="777240"/>
          </a:xfrm>
          <a:prstGeom prst="rect">
            <a:avLst/>
          </a:prstGeom>
          <a:solidFill>
            <a:srgbClr val="E6E8E1"/>
          </a:solidFill>
          <a:ln/>
        </p:spPr>
        <p:txBody>
          <a:bodyPr wrap="square" lIns="203200" tIns="0" rIns="203200" bIns="0" rtlCol="0" anchor="ctr"/>
          <a:lstStyle/>
          <a:p>
            <a:pPr marL="0" indent="0">
              <a:buNone/>
            </a:pPr>
            <a:r>
              <a:rPr lang="en-US" sz="1250" b="1" dirty="0">
                <a:solidFill>
                  <a:srgbClr val="1C2B25"/>
                </a:solidFill>
                <a:latin typeface="Segoe UI" pitchFamily="34" charset="0"/>
                <a:ea typeface="Segoe UI" pitchFamily="34" charset="-122"/>
                <a:cs typeface="Segoe UI" pitchFamily="34" charset="-120"/>
              </a:rPr>
              <a:t>Trang công khai: </a:t>
            </a:r>
            <a:r>
              <a:rPr lang="en-US" sz="1250" dirty="0">
                <a:solidFill>
                  <a:srgbClr val="1C2B25"/>
                </a:solidFill>
                <a:latin typeface="Segoe UI" pitchFamily="34" charset="0"/>
                <a:ea typeface="Segoe UI" pitchFamily="34" charset="-122"/>
                <a:cs typeface="Segoe UI" pitchFamily="34" charset="-120"/>
              </a:rPr>
              <a:t>http://localhost:5112</a:t>
            </a:r>
            <a:endParaRPr lang="en-US" sz="1250" dirty="0"/>
          </a:p>
          <a:p>
            <a:pPr marL="0" indent="0">
              <a:buNone/>
            </a:pPr>
            <a:r>
              <a:rPr lang="en-US" sz="1250" b="1" dirty="0">
                <a:solidFill>
                  <a:srgbClr val="1C2B25"/>
                </a:solidFill>
                <a:latin typeface="Segoe UI" pitchFamily="34" charset="0"/>
                <a:ea typeface="Segoe UI" pitchFamily="34" charset="-122"/>
                <a:cs typeface="Segoe UI" pitchFamily="34" charset="-120"/>
              </a:rPr>
              <a:t>Khu quản trị: </a:t>
            </a:r>
            <a:r>
              <a:rPr lang="en-US" sz="1250" dirty="0">
                <a:solidFill>
                  <a:srgbClr val="1C2B25"/>
                </a:solidFill>
                <a:latin typeface="Segoe UI" pitchFamily="34" charset="0"/>
                <a:ea typeface="Segoe UI" pitchFamily="34" charset="-122"/>
                <a:cs typeface="Segoe UI" pitchFamily="34" charset="-120"/>
              </a:rPr>
              <a:t>http://localhost:5113/tai-khoan/dang-nhap</a:t>
            </a:r>
            <a:endParaRPr lang="en-US" sz="1250" dirty="0"/>
          </a:p>
        </p:txBody>
      </p:sp>
      <p:sp>
        <p:nvSpPr>
          <p:cNvPr id="40" name="S15 Rectangle 40"/>
          <p:cNvSpPr/>
          <p:nvPr/>
        </p:nvSpPr>
        <p:spPr>
          <a:xfrm>
            <a:off x="7726680" y="1572768"/>
            <a:ext cx="3913632" cy="2743200"/>
          </a:xfrm>
          <a:prstGeom prst="rect">
            <a:avLst/>
          </a:prstGeom>
          <a:solidFill>
            <a:srgbClr val="FFFFFF"/>
          </a:solidFill>
          <a:ln w="9525">
            <a:solidFill>
              <a:srgbClr val="C9CDC2"/>
            </a:solidFill>
            <a:prstDash val="solid"/>
          </a:ln>
          <a:effectLst>
            <a:outerShdw blurRad="127000" dist="25400" dir="5400000" algn="bl" rotWithShape="0">
              <a:srgbClr val="000000">
                <a:alpha val="12000"/>
              </a:srgbClr>
            </a:outerShdw>
          </a:effectLst>
        </p:spPr>
      </p:sp>
      <p:pic>
        <p:nvPicPr>
          <p:cNvPr id="41" name="S15 Picture 41" descr="Sơ đồ triển khai"/>
          <p:cNvPicPr>
            <a:picLocks noChangeAspect="1"/>
          </p:cNvPicPr>
          <p:nvPr/>
        </p:nvPicPr>
        <p:blipFill>
          <a:blip r:embed="rId6"/>
          <a:stretch>
            <a:fillRect/>
          </a:stretch>
        </p:blipFill>
        <p:spPr>
          <a:xfrm>
            <a:off x="7863840" y="1755648"/>
            <a:ext cx="3639312" cy="2377440"/>
          </a:xfrm>
          <a:prstGeom prst="rect">
            <a:avLst/>
          </a:prstGeom>
        </p:spPr>
      </p:pic>
      <p:sp>
        <p:nvSpPr>
          <p:cNvPr id="42" name="S15 Rectangle 42"/>
          <p:cNvSpPr/>
          <p:nvPr/>
        </p:nvSpPr>
        <p:spPr>
          <a:xfrm>
            <a:off x="7726680" y="4498848"/>
            <a:ext cx="3913632" cy="1719072"/>
          </a:xfrm>
          <a:prstGeom prst="rect">
            <a:avLst/>
          </a:prstGeom>
          <a:solidFill>
            <a:srgbClr val="E6E8E1"/>
          </a:solidFill>
          <a:ln/>
        </p:spPr>
      </p:sp>
      <p:sp>
        <p:nvSpPr>
          <p:cNvPr id="43" name="S15 TextBox 43"/>
          <p:cNvSpPr txBox="1"/>
          <p:nvPr/>
        </p:nvSpPr>
        <p:spPr>
          <a:xfrm>
            <a:off x="7909560" y="4645152"/>
            <a:ext cx="3566160" cy="1463040"/>
          </a:xfrm>
          <a:prstGeom prst="rect">
            <a:avLst/>
          </a:prstGeom>
          <a:noFill/>
          <a:ln/>
        </p:spPr>
        <p:txBody>
          <a:bodyPr wrap="square" lIns="0" tIns="0" rIns="0" bIns="0" rtlCol="0" anchor="t"/>
          <a:lstStyle/>
          <a:p>
            <a:pPr marL="165100" indent="-165100">
              <a:spcAft>
                <a:spcPts val="1000"/>
              </a:spcAft>
              <a:buClr>
                <a:srgbClr val="1C2B25"/>
              </a:buClr>
              <a:buSzPct val="100000"/>
              <a:buChar char="•"/>
            </a:pPr>
            <a:r>
              <a:rPr lang="en-US" sz="1250" dirty="0">
                <a:solidFill>
                  <a:srgbClr val="1C2B25"/>
                </a:solidFill>
                <a:latin typeface="Segoe UI" pitchFamily="34" charset="0"/>
                <a:ea typeface="Segoe UI" pitchFamily="34" charset="-122"/>
                <a:cs typeface="Segoe UI" pitchFamily="34" charset="-120"/>
              </a:rPr>
              <a:t>Cổng quản trị chỉ nhận kết nối </a:t>
            </a:r>
            <a:r>
              <a:rPr lang="en-US" sz="1250" b="1" dirty="0">
                <a:solidFill>
                  <a:srgbClr val="9E2B25"/>
                </a:solidFill>
                <a:latin typeface="Segoe UI" pitchFamily="34" charset="0"/>
                <a:ea typeface="Segoe UI" pitchFamily="34" charset="-122"/>
                <a:cs typeface="Segoe UI" pitchFamily="34" charset="-120"/>
              </a:rPr>
              <a:t>từ chính máy</a:t>
            </a:r>
            <a:endParaRPr lang="en-US" sz="1250" dirty="0"/>
          </a:p>
          <a:p>
            <a:pPr marL="165100" indent="-165100">
              <a:spcAft>
                <a:spcPts val="1000"/>
              </a:spcAft>
              <a:buClr>
                <a:srgbClr val="1C2B25"/>
              </a:buClr>
              <a:buSzPct val="100000"/>
              <a:buChar char="•"/>
            </a:pPr>
            <a:r>
              <a:rPr lang="en-US" sz="1250" dirty="0">
                <a:solidFill>
                  <a:srgbClr val="1C2B25"/>
                </a:solidFill>
                <a:latin typeface="Segoe UI" pitchFamily="34" charset="0"/>
                <a:ea typeface="Segoe UI" pitchFamily="34" charset="-122"/>
                <a:cs typeface="Segoe UI" pitchFamily="34" charset="-120"/>
              </a:rPr>
              <a:t>Docker giữ dữ liệu trong </a:t>
            </a:r>
            <a:r>
              <a:rPr lang="en-US" sz="1250" b="1" dirty="0">
                <a:solidFill>
                  <a:srgbClr val="9E2B25"/>
                </a:solidFill>
                <a:latin typeface="Segoe UI" pitchFamily="34" charset="0"/>
                <a:ea typeface="Segoe UI" pitchFamily="34" charset="-122"/>
                <a:cs typeface="Segoe UI" pitchFamily="34" charset="-120"/>
              </a:rPr>
              <a:t>ba volume</a:t>
            </a:r>
            <a:endParaRPr lang="en-US" sz="1250" dirty="0"/>
          </a:p>
          <a:p>
            <a:pPr marL="165100" indent="-165100">
              <a:spcAft>
                <a:spcPts val="1000"/>
              </a:spcAft>
              <a:buClr>
                <a:srgbClr val="1C2B25"/>
              </a:buClr>
              <a:buSzPct val="100000"/>
              <a:buChar char="•"/>
            </a:pPr>
            <a:r>
              <a:rPr lang="en-US" sz="1250" dirty="0">
                <a:solidFill>
                  <a:srgbClr val="1C2B25"/>
                </a:solidFill>
                <a:latin typeface="Segoe UI" pitchFamily="34" charset="0"/>
                <a:ea typeface="Segoe UI" pitchFamily="34" charset="-122"/>
                <a:cs typeface="Segoe UI" pitchFamily="34" charset="-120"/>
              </a:rPr>
              <a:t>Cổng và chuỗi kết nối lấy từ tệp </a:t>
            </a:r>
            <a:r>
              <a:rPr lang="en-US" sz="1250" b="1" dirty="0">
                <a:solidFill>
                  <a:srgbClr val="9E2B25"/>
                </a:solidFill>
                <a:latin typeface="Segoe UI" pitchFamily="34" charset="0"/>
                <a:ea typeface="Segoe UI" pitchFamily="34" charset="-122"/>
                <a:cs typeface="Segoe UI" pitchFamily="34" charset="-120"/>
              </a:rPr>
              <a:t>.env</a:t>
            </a:r>
            <a:endParaRPr lang="en-US" sz="12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42" presetClass="entr" presetSubtype="0" fill="hold" grpId="0" nodeType="withEffect">
                                  <p:stCondLst>
                                    <p:cond delay="12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anim calcmode="lin" valueType="num">
                                      <p:cBhvr>
                                        <p:cTn id="17" dur="500" fill="hold"/>
                                        <p:tgtEl>
                                          <p:spTgt spid="14"/>
                                        </p:tgtEl>
                                        <p:attrNameLst>
                                          <p:attrName>ppt_x</p:attrName>
                                        </p:attrNameLst>
                                      </p:cBhvr>
                                      <p:tavLst>
                                        <p:tav tm="0">
                                          <p:val>
                                            <p:strVal val="#ppt_x"/>
                                          </p:val>
                                        </p:tav>
                                        <p:tav tm="100000">
                                          <p:val>
                                            <p:strVal val="#ppt_x"/>
                                          </p:val>
                                        </p:tav>
                                      </p:tavLst>
                                    </p:anim>
                                    <p:anim calcmode="lin" valueType="num">
                                      <p:cBhvr>
                                        <p:cTn id="18" dur="500" fill="hold"/>
                                        <p:tgtEl>
                                          <p:spTgt spid="14"/>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12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anim calcmode="lin" valueType="num">
                                      <p:cBhvr>
                                        <p:cTn id="22" dur="500" fill="hold"/>
                                        <p:tgtEl>
                                          <p:spTgt spid="15"/>
                                        </p:tgtEl>
                                        <p:attrNameLst>
                                          <p:attrName>ppt_x</p:attrName>
                                        </p:attrNameLst>
                                      </p:cBhvr>
                                      <p:tavLst>
                                        <p:tav tm="0">
                                          <p:val>
                                            <p:strVal val="#ppt_x"/>
                                          </p:val>
                                        </p:tav>
                                        <p:tav tm="100000">
                                          <p:val>
                                            <p:strVal val="#ppt_x"/>
                                          </p:val>
                                        </p:tav>
                                      </p:tavLst>
                                    </p:anim>
                                    <p:anim calcmode="lin" valueType="num">
                                      <p:cBhvr>
                                        <p:cTn id="23" dur="500" fill="hold"/>
                                        <p:tgtEl>
                                          <p:spTgt spid="15"/>
                                        </p:tgtEl>
                                        <p:attrNameLst>
                                          <p:attrName>ppt_y</p:attrName>
                                        </p:attrNameLst>
                                      </p:cBhvr>
                                      <p:tavLst>
                                        <p:tav tm="0">
                                          <p:val>
                                            <p:strVal val="#ppt_y+.1"/>
                                          </p:val>
                                        </p:tav>
                                        <p:tav tm="100000">
                                          <p:val>
                                            <p:strVal val="#ppt_y"/>
                                          </p:val>
                                        </p:tav>
                                      </p:tavLst>
                                    </p:anim>
                                  </p:childTnLst>
                                </p:cTn>
                              </p:par>
                              <p:par>
                                <p:cTn id="24" presetID="10" presetClass="entr" presetSubtype="0" fill="hold" nodeType="withEffect">
                                  <p:stCondLst>
                                    <p:cond delay="24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42" presetClass="entr" presetSubtype="0" fill="hold" grpId="0" nodeType="withEffect">
                                  <p:stCondLst>
                                    <p:cond delay="24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anim calcmode="lin" valueType="num">
                                      <p:cBhvr>
                                        <p:cTn id="30" dur="500" fill="hold"/>
                                        <p:tgtEl>
                                          <p:spTgt spid="17"/>
                                        </p:tgtEl>
                                        <p:attrNameLst>
                                          <p:attrName>ppt_x</p:attrName>
                                        </p:attrNameLst>
                                      </p:cBhvr>
                                      <p:tavLst>
                                        <p:tav tm="0">
                                          <p:val>
                                            <p:strVal val="#ppt_x"/>
                                          </p:val>
                                        </p:tav>
                                        <p:tav tm="100000">
                                          <p:val>
                                            <p:strVal val="#ppt_x"/>
                                          </p:val>
                                        </p:tav>
                                      </p:tavLst>
                                    </p:anim>
                                    <p:anim calcmode="lin" valueType="num">
                                      <p:cBhvr>
                                        <p:cTn id="31" dur="500" fill="hold"/>
                                        <p:tgtEl>
                                          <p:spTgt spid="1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24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anim calcmode="lin" valueType="num">
                                      <p:cBhvr>
                                        <p:cTn id="35" dur="500" fill="hold"/>
                                        <p:tgtEl>
                                          <p:spTgt spid="18"/>
                                        </p:tgtEl>
                                        <p:attrNameLst>
                                          <p:attrName>ppt_x</p:attrName>
                                        </p:attrNameLst>
                                      </p:cBhvr>
                                      <p:tavLst>
                                        <p:tav tm="0">
                                          <p:val>
                                            <p:strVal val="#ppt_x"/>
                                          </p:val>
                                        </p:tav>
                                        <p:tav tm="100000">
                                          <p:val>
                                            <p:strVal val="#ppt_x"/>
                                          </p:val>
                                        </p:tav>
                                      </p:tavLst>
                                    </p:anim>
                                    <p:anim calcmode="lin" valueType="num">
                                      <p:cBhvr>
                                        <p:cTn id="36" dur="500" fill="hold"/>
                                        <p:tgtEl>
                                          <p:spTgt spid="18"/>
                                        </p:tgtEl>
                                        <p:attrNameLst>
                                          <p:attrName>ppt_y</p:attrName>
                                        </p:attrNameLst>
                                      </p:cBhvr>
                                      <p:tavLst>
                                        <p:tav tm="0">
                                          <p:val>
                                            <p:strVal val="#ppt_y+.1"/>
                                          </p:val>
                                        </p:tav>
                                        <p:tav tm="100000">
                                          <p:val>
                                            <p:strVal val="#ppt_y"/>
                                          </p:val>
                                        </p:tav>
                                      </p:tavLst>
                                    </p:anim>
                                  </p:childTnLst>
                                </p:cTn>
                              </p:par>
                              <p:par>
                                <p:cTn id="37" presetID="10" presetClass="entr" presetSubtype="0" fill="hold" nodeType="withEffect">
                                  <p:stCondLst>
                                    <p:cond delay="36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42" presetClass="entr" presetSubtype="0" fill="hold" grpId="0" nodeType="withEffect">
                                  <p:stCondLst>
                                    <p:cond delay="36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anim calcmode="lin" valueType="num">
                                      <p:cBhvr>
                                        <p:cTn id="43" dur="500" fill="hold"/>
                                        <p:tgtEl>
                                          <p:spTgt spid="20"/>
                                        </p:tgtEl>
                                        <p:attrNameLst>
                                          <p:attrName>ppt_x</p:attrName>
                                        </p:attrNameLst>
                                      </p:cBhvr>
                                      <p:tavLst>
                                        <p:tav tm="0">
                                          <p:val>
                                            <p:strVal val="#ppt_x"/>
                                          </p:val>
                                        </p:tav>
                                        <p:tav tm="100000">
                                          <p:val>
                                            <p:strVal val="#ppt_x"/>
                                          </p:val>
                                        </p:tav>
                                      </p:tavLst>
                                    </p:anim>
                                    <p:anim calcmode="lin" valueType="num">
                                      <p:cBhvr>
                                        <p:cTn id="44" dur="500" fill="hold"/>
                                        <p:tgtEl>
                                          <p:spTgt spid="20"/>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36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anim calcmode="lin" valueType="num">
                                      <p:cBhvr>
                                        <p:cTn id="48" dur="500" fill="hold"/>
                                        <p:tgtEl>
                                          <p:spTgt spid="21"/>
                                        </p:tgtEl>
                                        <p:attrNameLst>
                                          <p:attrName>ppt_x</p:attrName>
                                        </p:attrNameLst>
                                      </p:cBhvr>
                                      <p:tavLst>
                                        <p:tav tm="0">
                                          <p:val>
                                            <p:strVal val="#ppt_x"/>
                                          </p:val>
                                        </p:tav>
                                        <p:tav tm="100000">
                                          <p:val>
                                            <p:strVal val="#ppt_x"/>
                                          </p:val>
                                        </p:tav>
                                      </p:tavLst>
                                    </p:anim>
                                    <p:anim calcmode="lin" valueType="num">
                                      <p:cBhvr>
                                        <p:cTn id="49" dur="500" fill="hold"/>
                                        <p:tgtEl>
                                          <p:spTgt spid="21"/>
                                        </p:tgtEl>
                                        <p:attrNameLst>
                                          <p:attrName>ppt_y</p:attrName>
                                        </p:attrNameLst>
                                      </p:cBhvr>
                                      <p:tavLst>
                                        <p:tav tm="0">
                                          <p:val>
                                            <p:strVal val="#ppt_y+.1"/>
                                          </p:val>
                                        </p:tav>
                                        <p:tav tm="100000">
                                          <p:val>
                                            <p:strVal val="#ppt_y"/>
                                          </p:val>
                                        </p:tav>
                                      </p:tavLst>
                                    </p:anim>
                                  </p:childTnLst>
                                </p:cTn>
                              </p:par>
                              <p:par>
                                <p:cTn id="50" presetID="10" presetClass="entr" presetSubtype="0" fill="hold" nodeType="withEffect">
                                  <p:stCondLst>
                                    <p:cond delay="48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par>
                                <p:cTn id="53" presetID="42" presetClass="entr" presetSubtype="0" fill="hold" grpId="0" nodeType="withEffect">
                                  <p:stCondLst>
                                    <p:cond delay="48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anim calcmode="lin" valueType="num">
                                      <p:cBhvr>
                                        <p:cTn id="56" dur="500" fill="hold"/>
                                        <p:tgtEl>
                                          <p:spTgt spid="23"/>
                                        </p:tgtEl>
                                        <p:attrNameLst>
                                          <p:attrName>ppt_x</p:attrName>
                                        </p:attrNameLst>
                                      </p:cBhvr>
                                      <p:tavLst>
                                        <p:tav tm="0">
                                          <p:val>
                                            <p:strVal val="#ppt_x"/>
                                          </p:val>
                                        </p:tav>
                                        <p:tav tm="100000">
                                          <p:val>
                                            <p:strVal val="#ppt_x"/>
                                          </p:val>
                                        </p:tav>
                                      </p:tavLst>
                                    </p:anim>
                                    <p:anim calcmode="lin" valueType="num">
                                      <p:cBhvr>
                                        <p:cTn id="57" dur="500" fill="hold"/>
                                        <p:tgtEl>
                                          <p:spTgt spid="23"/>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48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anim calcmode="lin" valueType="num">
                                      <p:cBhvr>
                                        <p:cTn id="61" dur="500" fill="hold"/>
                                        <p:tgtEl>
                                          <p:spTgt spid="24"/>
                                        </p:tgtEl>
                                        <p:attrNameLst>
                                          <p:attrName>ppt_x</p:attrName>
                                        </p:attrNameLst>
                                      </p:cBhvr>
                                      <p:tavLst>
                                        <p:tav tm="0">
                                          <p:val>
                                            <p:strVal val="#ppt_x"/>
                                          </p:val>
                                        </p:tav>
                                        <p:tav tm="100000">
                                          <p:val>
                                            <p:strVal val="#ppt_x"/>
                                          </p:val>
                                        </p:tav>
                                      </p:tavLst>
                                    </p:anim>
                                    <p:anim calcmode="lin" valueType="num">
                                      <p:cBhvr>
                                        <p:cTn id="62" dur="5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42" presetClass="entr" presetSubtype="0" fill="hold" grpId="0" nodeType="withEffect">
                                  <p:stCondLst>
                                    <p:cond delay="12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anim calcmode="lin" valueType="num">
                                      <p:cBhvr>
                                        <p:cTn id="77" dur="500" fill="hold"/>
                                        <p:tgtEl>
                                          <p:spTgt spid="28"/>
                                        </p:tgtEl>
                                        <p:attrNameLst>
                                          <p:attrName>ppt_x</p:attrName>
                                        </p:attrNameLst>
                                      </p:cBhvr>
                                      <p:tavLst>
                                        <p:tav tm="0">
                                          <p:val>
                                            <p:strVal val="#ppt_x"/>
                                          </p:val>
                                        </p:tav>
                                        <p:tav tm="100000">
                                          <p:val>
                                            <p:strVal val="#ppt_x"/>
                                          </p:val>
                                        </p:tav>
                                      </p:tavLst>
                                    </p:anim>
                                    <p:anim calcmode="lin" valueType="num">
                                      <p:cBhvr>
                                        <p:cTn id="78" dur="500" fill="hold"/>
                                        <p:tgtEl>
                                          <p:spTgt spid="28"/>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12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500"/>
                                        <p:tgtEl>
                                          <p:spTgt spid="29"/>
                                        </p:tgtEl>
                                      </p:cBhvr>
                                    </p:animEffect>
                                    <p:anim calcmode="lin" valueType="num">
                                      <p:cBhvr>
                                        <p:cTn id="82" dur="500" fill="hold"/>
                                        <p:tgtEl>
                                          <p:spTgt spid="29"/>
                                        </p:tgtEl>
                                        <p:attrNameLst>
                                          <p:attrName>ppt_x</p:attrName>
                                        </p:attrNameLst>
                                      </p:cBhvr>
                                      <p:tavLst>
                                        <p:tav tm="0">
                                          <p:val>
                                            <p:strVal val="#ppt_x"/>
                                          </p:val>
                                        </p:tav>
                                        <p:tav tm="100000">
                                          <p:val>
                                            <p:strVal val="#ppt_x"/>
                                          </p:val>
                                        </p:tav>
                                      </p:tavLst>
                                    </p:anim>
                                    <p:anim calcmode="lin" valueType="num">
                                      <p:cBhvr>
                                        <p:cTn id="83" dur="500" fill="hold"/>
                                        <p:tgtEl>
                                          <p:spTgt spid="29"/>
                                        </p:tgtEl>
                                        <p:attrNameLst>
                                          <p:attrName>ppt_y</p:attrName>
                                        </p:attrNameLst>
                                      </p:cBhvr>
                                      <p:tavLst>
                                        <p:tav tm="0">
                                          <p:val>
                                            <p:strVal val="#ppt_y+.1"/>
                                          </p:val>
                                        </p:tav>
                                        <p:tav tm="100000">
                                          <p:val>
                                            <p:strVal val="#ppt_y"/>
                                          </p:val>
                                        </p:tav>
                                      </p:tavLst>
                                    </p:anim>
                                  </p:childTnLst>
                                </p:cTn>
                              </p:par>
                              <p:par>
                                <p:cTn id="84" presetID="10" presetClass="entr" presetSubtype="0" fill="hold" nodeType="withEffect">
                                  <p:stCondLst>
                                    <p:cond delay="24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500"/>
                                        <p:tgtEl>
                                          <p:spTgt spid="30"/>
                                        </p:tgtEl>
                                      </p:cBhvr>
                                    </p:animEffect>
                                  </p:childTnLst>
                                </p:cTn>
                              </p:par>
                              <p:par>
                                <p:cTn id="87" presetID="42" presetClass="entr" presetSubtype="0" fill="hold" grpId="0" nodeType="withEffect">
                                  <p:stCondLst>
                                    <p:cond delay="24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500"/>
                                        <p:tgtEl>
                                          <p:spTgt spid="31"/>
                                        </p:tgtEl>
                                      </p:cBhvr>
                                    </p:animEffect>
                                    <p:anim calcmode="lin" valueType="num">
                                      <p:cBhvr>
                                        <p:cTn id="90" dur="500" fill="hold"/>
                                        <p:tgtEl>
                                          <p:spTgt spid="31"/>
                                        </p:tgtEl>
                                        <p:attrNameLst>
                                          <p:attrName>ppt_x</p:attrName>
                                        </p:attrNameLst>
                                      </p:cBhvr>
                                      <p:tavLst>
                                        <p:tav tm="0">
                                          <p:val>
                                            <p:strVal val="#ppt_x"/>
                                          </p:val>
                                        </p:tav>
                                        <p:tav tm="100000">
                                          <p:val>
                                            <p:strVal val="#ppt_x"/>
                                          </p:val>
                                        </p:tav>
                                      </p:tavLst>
                                    </p:anim>
                                    <p:anim calcmode="lin" valueType="num">
                                      <p:cBhvr>
                                        <p:cTn id="91" dur="500" fill="hold"/>
                                        <p:tgtEl>
                                          <p:spTgt spid="31"/>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24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500"/>
                                        <p:tgtEl>
                                          <p:spTgt spid="32"/>
                                        </p:tgtEl>
                                      </p:cBhvr>
                                    </p:animEffect>
                                    <p:anim calcmode="lin" valueType="num">
                                      <p:cBhvr>
                                        <p:cTn id="95" dur="500" fill="hold"/>
                                        <p:tgtEl>
                                          <p:spTgt spid="32"/>
                                        </p:tgtEl>
                                        <p:attrNameLst>
                                          <p:attrName>ppt_x</p:attrName>
                                        </p:attrNameLst>
                                      </p:cBhvr>
                                      <p:tavLst>
                                        <p:tav tm="0">
                                          <p:val>
                                            <p:strVal val="#ppt_x"/>
                                          </p:val>
                                        </p:tav>
                                        <p:tav tm="100000">
                                          <p:val>
                                            <p:strVal val="#ppt_x"/>
                                          </p:val>
                                        </p:tav>
                                      </p:tavLst>
                                    </p:anim>
                                    <p:anim calcmode="lin" valueType="num">
                                      <p:cBhvr>
                                        <p:cTn id="96" dur="500" fill="hold"/>
                                        <p:tgtEl>
                                          <p:spTgt spid="32"/>
                                        </p:tgtEl>
                                        <p:attrNameLst>
                                          <p:attrName>ppt_y</p:attrName>
                                        </p:attrNameLst>
                                      </p:cBhvr>
                                      <p:tavLst>
                                        <p:tav tm="0">
                                          <p:val>
                                            <p:strVal val="#ppt_y+.1"/>
                                          </p:val>
                                        </p:tav>
                                        <p:tav tm="100000">
                                          <p:val>
                                            <p:strVal val="#ppt_y"/>
                                          </p:val>
                                        </p:tav>
                                      </p:tavLst>
                                    </p:anim>
                                  </p:childTnLst>
                                </p:cTn>
                              </p:par>
                              <p:par>
                                <p:cTn id="97" presetID="10" presetClass="entr" presetSubtype="0" fill="hold" nodeType="withEffect">
                                  <p:stCondLst>
                                    <p:cond delay="360"/>
                                  </p:stCondLst>
                                  <p:childTnLst>
                                    <p:set>
                                      <p:cBhvr>
                                        <p:cTn id="98" dur="1" fill="hold">
                                          <p:stCondLst>
                                            <p:cond delay="0"/>
                                          </p:stCondLst>
                                        </p:cTn>
                                        <p:tgtEl>
                                          <p:spTgt spid="33"/>
                                        </p:tgtEl>
                                        <p:attrNameLst>
                                          <p:attrName>style.visibility</p:attrName>
                                        </p:attrNameLst>
                                      </p:cBhvr>
                                      <p:to>
                                        <p:strVal val="visible"/>
                                      </p:to>
                                    </p:set>
                                    <p:animEffect transition="in" filter="fade">
                                      <p:cBhvr>
                                        <p:cTn id="99" dur="500"/>
                                        <p:tgtEl>
                                          <p:spTgt spid="33"/>
                                        </p:tgtEl>
                                      </p:cBhvr>
                                    </p:animEffect>
                                  </p:childTnLst>
                                </p:cTn>
                              </p:par>
                              <p:par>
                                <p:cTn id="100" presetID="42" presetClass="entr" presetSubtype="0" fill="hold" grpId="0" nodeType="withEffect">
                                  <p:stCondLst>
                                    <p:cond delay="360"/>
                                  </p:stCondLst>
                                  <p:childTnLst>
                                    <p:set>
                                      <p:cBhvr>
                                        <p:cTn id="101" dur="1" fill="hold">
                                          <p:stCondLst>
                                            <p:cond delay="0"/>
                                          </p:stCondLst>
                                        </p:cTn>
                                        <p:tgtEl>
                                          <p:spTgt spid="34"/>
                                        </p:tgtEl>
                                        <p:attrNameLst>
                                          <p:attrName>style.visibility</p:attrName>
                                        </p:attrNameLst>
                                      </p:cBhvr>
                                      <p:to>
                                        <p:strVal val="visible"/>
                                      </p:to>
                                    </p:set>
                                    <p:animEffect transition="in" filter="fade">
                                      <p:cBhvr>
                                        <p:cTn id="102" dur="500"/>
                                        <p:tgtEl>
                                          <p:spTgt spid="34"/>
                                        </p:tgtEl>
                                      </p:cBhvr>
                                    </p:animEffect>
                                    <p:anim calcmode="lin" valueType="num">
                                      <p:cBhvr>
                                        <p:cTn id="103" dur="500" fill="hold"/>
                                        <p:tgtEl>
                                          <p:spTgt spid="34"/>
                                        </p:tgtEl>
                                        <p:attrNameLst>
                                          <p:attrName>ppt_x</p:attrName>
                                        </p:attrNameLst>
                                      </p:cBhvr>
                                      <p:tavLst>
                                        <p:tav tm="0">
                                          <p:val>
                                            <p:strVal val="#ppt_x"/>
                                          </p:val>
                                        </p:tav>
                                        <p:tav tm="100000">
                                          <p:val>
                                            <p:strVal val="#ppt_x"/>
                                          </p:val>
                                        </p:tav>
                                      </p:tavLst>
                                    </p:anim>
                                    <p:anim calcmode="lin" valueType="num">
                                      <p:cBhvr>
                                        <p:cTn id="104" dur="500" fill="hold"/>
                                        <p:tgtEl>
                                          <p:spTgt spid="34"/>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36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7" dur="500"/>
                                        <p:tgtEl>
                                          <p:spTgt spid="35"/>
                                        </p:tgtEl>
                                      </p:cBhvr>
                                    </p:animEffect>
                                    <p:anim calcmode="lin" valueType="num">
                                      <p:cBhvr>
                                        <p:cTn id="108" dur="500" fill="hold"/>
                                        <p:tgtEl>
                                          <p:spTgt spid="35"/>
                                        </p:tgtEl>
                                        <p:attrNameLst>
                                          <p:attrName>ppt_x</p:attrName>
                                        </p:attrNameLst>
                                      </p:cBhvr>
                                      <p:tavLst>
                                        <p:tav tm="0">
                                          <p:val>
                                            <p:strVal val="#ppt_x"/>
                                          </p:val>
                                        </p:tav>
                                        <p:tav tm="100000">
                                          <p:val>
                                            <p:strVal val="#ppt_x"/>
                                          </p:val>
                                        </p:tav>
                                      </p:tavLst>
                                    </p:anim>
                                    <p:anim calcmode="lin" valueType="num">
                                      <p:cBhvr>
                                        <p:cTn id="109" dur="500" fill="hold"/>
                                        <p:tgtEl>
                                          <p:spTgt spid="35"/>
                                        </p:tgtEl>
                                        <p:attrNameLst>
                                          <p:attrName>ppt_y</p:attrName>
                                        </p:attrNameLst>
                                      </p:cBhvr>
                                      <p:tavLst>
                                        <p:tav tm="0">
                                          <p:val>
                                            <p:strVal val="#ppt_y+.1"/>
                                          </p:val>
                                        </p:tav>
                                        <p:tav tm="100000">
                                          <p:val>
                                            <p:strVal val="#ppt_y"/>
                                          </p:val>
                                        </p:tav>
                                      </p:tavLst>
                                    </p:anim>
                                  </p:childTnLst>
                                </p:cTn>
                              </p:par>
                              <p:par>
                                <p:cTn id="110" presetID="10" presetClass="entr" presetSubtype="0" fill="hold" nodeType="withEffect">
                                  <p:stCondLst>
                                    <p:cond delay="480"/>
                                  </p:stCondLst>
                                  <p:childTnLst>
                                    <p:set>
                                      <p:cBhvr>
                                        <p:cTn id="111" dur="1" fill="hold">
                                          <p:stCondLst>
                                            <p:cond delay="0"/>
                                          </p:stCondLst>
                                        </p:cTn>
                                        <p:tgtEl>
                                          <p:spTgt spid="36"/>
                                        </p:tgtEl>
                                        <p:attrNameLst>
                                          <p:attrName>style.visibility</p:attrName>
                                        </p:attrNameLst>
                                      </p:cBhvr>
                                      <p:to>
                                        <p:strVal val="visible"/>
                                      </p:to>
                                    </p:set>
                                    <p:animEffect transition="in" filter="fade">
                                      <p:cBhvr>
                                        <p:cTn id="112" dur="500"/>
                                        <p:tgtEl>
                                          <p:spTgt spid="36"/>
                                        </p:tgtEl>
                                      </p:cBhvr>
                                    </p:animEffect>
                                  </p:childTnLst>
                                </p:cTn>
                              </p:par>
                              <p:par>
                                <p:cTn id="113" presetID="42" presetClass="entr" presetSubtype="0" fill="hold" grpId="0" nodeType="withEffect">
                                  <p:stCondLst>
                                    <p:cond delay="48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5" dur="500"/>
                                        <p:tgtEl>
                                          <p:spTgt spid="37"/>
                                        </p:tgtEl>
                                      </p:cBhvr>
                                    </p:animEffect>
                                    <p:anim calcmode="lin" valueType="num">
                                      <p:cBhvr>
                                        <p:cTn id="116" dur="500" fill="hold"/>
                                        <p:tgtEl>
                                          <p:spTgt spid="37"/>
                                        </p:tgtEl>
                                        <p:attrNameLst>
                                          <p:attrName>ppt_x</p:attrName>
                                        </p:attrNameLst>
                                      </p:cBhvr>
                                      <p:tavLst>
                                        <p:tav tm="0">
                                          <p:val>
                                            <p:strVal val="#ppt_x"/>
                                          </p:val>
                                        </p:tav>
                                        <p:tav tm="100000">
                                          <p:val>
                                            <p:strVal val="#ppt_x"/>
                                          </p:val>
                                        </p:tav>
                                      </p:tavLst>
                                    </p:anim>
                                    <p:anim calcmode="lin" valueType="num">
                                      <p:cBhvr>
                                        <p:cTn id="117" dur="500" fill="hold"/>
                                        <p:tgtEl>
                                          <p:spTgt spid="37"/>
                                        </p:tgtEl>
                                        <p:attrNameLst>
                                          <p:attrName>ppt_y</p:attrName>
                                        </p:attrNameLst>
                                      </p:cBhvr>
                                      <p:tavLst>
                                        <p:tav tm="0">
                                          <p:val>
                                            <p:strVal val="#ppt_y+.1"/>
                                          </p:val>
                                        </p:tav>
                                        <p:tav tm="100000">
                                          <p:val>
                                            <p:strVal val="#ppt_y"/>
                                          </p:val>
                                        </p:tav>
                                      </p:tavLst>
                                    </p:anim>
                                  </p:childTnLst>
                                </p:cTn>
                              </p:par>
                              <p:par>
                                <p:cTn id="118" presetID="42" presetClass="entr" presetSubtype="0" fill="hold" grpId="0" nodeType="withEffect">
                                  <p:stCondLst>
                                    <p:cond delay="480"/>
                                  </p:stCondLst>
                                  <p:childTnLst>
                                    <p:set>
                                      <p:cBhvr>
                                        <p:cTn id="119" dur="1" fill="hold">
                                          <p:stCondLst>
                                            <p:cond delay="0"/>
                                          </p:stCondLst>
                                        </p:cTn>
                                        <p:tgtEl>
                                          <p:spTgt spid="38"/>
                                        </p:tgtEl>
                                        <p:attrNameLst>
                                          <p:attrName>style.visibility</p:attrName>
                                        </p:attrNameLst>
                                      </p:cBhvr>
                                      <p:to>
                                        <p:strVal val="visible"/>
                                      </p:to>
                                    </p:set>
                                    <p:animEffect transition="in" filter="fade">
                                      <p:cBhvr>
                                        <p:cTn id="120" dur="500"/>
                                        <p:tgtEl>
                                          <p:spTgt spid="38"/>
                                        </p:tgtEl>
                                      </p:cBhvr>
                                    </p:animEffect>
                                    <p:anim calcmode="lin" valueType="num">
                                      <p:cBhvr>
                                        <p:cTn id="121" dur="500" fill="hold"/>
                                        <p:tgtEl>
                                          <p:spTgt spid="38"/>
                                        </p:tgtEl>
                                        <p:attrNameLst>
                                          <p:attrName>ppt_x</p:attrName>
                                        </p:attrNameLst>
                                      </p:cBhvr>
                                      <p:tavLst>
                                        <p:tav tm="0">
                                          <p:val>
                                            <p:strVal val="#ppt_x"/>
                                          </p:val>
                                        </p:tav>
                                        <p:tav tm="100000">
                                          <p:val>
                                            <p:strVal val="#ppt_x"/>
                                          </p:val>
                                        </p:tav>
                                      </p:tavLst>
                                    </p:anim>
                                    <p:anim calcmode="lin" valueType="num">
                                      <p:cBhvr>
                                        <p:cTn id="122" dur="5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39"/>
                                        </p:tgtEl>
                                        <p:attrNameLst>
                                          <p:attrName>style.visibility</p:attrName>
                                        </p:attrNameLst>
                                      </p:cBhvr>
                                      <p:to>
                                        <p:strVal val="visible"/>
                                      </p:to>
                                    </p:set>
                                    <p:animEffect transition="in" filter="fade">
                                      <p:cBhvr>
                                        <p:cTn id="127" dur="500"/>
                                        <p:tgtEl>
                                          <p:spTgt spid="39"/>
                                        </p:tgtEl>
                                      </p:cBhvr>
                                    </p:animEffect>
                                  </p:childTnLst>
                                </p:cTn>
                              </p:par>
                              <p:par>
                                <p:cTn id="128" presetID="53" presetClass="entr" presetSubtype="16" fill="hold" nodeType="withEffect">
                                  <p:stCondLst>
                                    <p:cond delay="120"/>
                                  </p:stCondLst>
                                  <p:childTnLst>
                                    <p:set>
                                      <p:cBhvr>
                                        <p:cTn id="129" dur="1" fill="hold">
                                          <p:stCondLst>
                                            <p:cond delay="0"/>
                                          </p:stCondLst>
                                        </p:cTn>
                                        <p:tgtEl>
                                          <p:spTgt spid="40"/>
                                        </p:tgtEl>
                                        <p:attrNameLst>
                                          <p:attrName>style.visibility</p:attrName>
                                        </p:attrNameLst>
                                      </p:cBhvr>
                                      <p:to>
                                        <p:strVal val="visible"/>
                                      </p:to>
                                    </p:set>
                                    <p:anim calcmode="lin" valueType="num">
                                      <p:cBhvr>
                                        <p:cTn id="130" dur="600" fill="hold"/>
                                        <p:tgtEl>
                                          <p:spTgt spid="40"/>
                                        </p:tgtEl>
                                        <p:attrNameLst>
                                          <p:attrName>ppt_w</p:attrName>
                                        </p:attrNameLst>
                                      </p:cBhvr>
                                      <p:tavLst>
                                        <p:tav tm="0">
                                          <p:val>
                                            <p:fltVal val="0"/>
                                          </p:val>
                                        </p:tav>
                                        <p:tav tm="100000">
                                          <p:val>
                                            <p:strVal val="#ppt_w"/>
                                          </p:val>
                                        </p:tav>
                                      </p:tavLst>
                                    </p:anim>
                                    <p:anim calcmode="lin" valueType="num">
                                      <p:cBhvr>
                                        <p:cTn id="131" dur="600" fill="hold"/>
                                        <p:tgtEl>
                                          <p:spTgt spid="40"/>
                                        </p:tgtEl>
                                        <p:attrNameLst>
                                          <p:attrName>ppt_h</p:attrName>
                                        </p:attrNameLst>
                                      </p:cBhvr>
                                      <p:tavLst>
                                        <p:tav tm="0">
                                          <p:val>
                                            <p:fltVal val="0"/>
                                          </p:val>
                                        </p:tav>
                                        <p:tav tm="100000">
                                          <p:val>
                                            <p:strVal val="#ppt_h"/>
                                          </p:val>
                                        </p:tav>
                                      </p:tavLst>
                                    </p:anim>
                                    <p:animEffect transition="in" filter="fade">
                                      <p:cBhvr>
                                        <p:cTn id="132" dur="600"/>
                                        <p:tgtEl>
                                          <p:spTgt spid="40"/>
                                        </p:tgtEl>
                                      </p:cBhvr>
                                    </p:animEffect>
                                  </p:childTnLst>
                                </p:cTn>
                              </p:par>
                              <p:par>
                                <p:cTn id="133" presetID="53" presetClass="entr" presetSubtype="16" fill="hold" nodeType="withEffect">
                                  <p:stCondLst>
                                    <p:cond delay="120"/>
                                  </p:stCondLst>
                                  <p:childTnLst>
                                    <p:set>
                                      <p:cBhvr>
                                        <p:cTn id="134" dur="1" fill="hold">
                                          <p:stCondLst>
                                            <p:cond delay="0"/>
                                          </p:stCondLst>
                                        </p:cTn>
                                        <p:tgtEl>
                                          <p:spTgt spid="41"/>
                                        </p:tgtEl>
                                        <p:attrNameLst>
                                          <p:attrName>style.visibility</p:attrName>
                                        </p:attrNameLst>
                                      </p:cBhvr>
                                      <p:to>
                                        <p:strVal val="visible"/>
                                      </p:to>
                                    </p:set>
                                    <p:anim calcmode="lin" valueType="num">
                                      <p:cBhvr>
                                        <p:cTn id="135" dur="600" fill="hold"/>
                                        <p:tgtEl>
                                          <p:spTgt spid="41"/>
                                        </p:tgtEl>
                                        <p:attrNameLst>
                                          <p:attrName>ppt_w</p:attrName>
                                        </p:attrNameLst>
                                      </p:cBhvr>
                                      <p:tavLst>
                                        <p:tav tm="0">
                                          <p:val>
                                            <p:fltVal val="0"/>
                                          </p:val>
                                        </p:tav>
                                        <p:tav tm="100000">
                                          <p:val>
                                            <p:strVal val="#ppt_w"/>
                                          </p:val>
                                        </p:tav>
                                      </p:tavLst>
                                    </p:anim>
                                    <p:anim calcmode="lin" valueType="num">
                                      <p:cBhvr>
                                        <p:cTn id="136" dur="600" fill="hold"/>
                                        <p:tgtEl>
                                          <p:spTgt spid="41"/>
                                        </p:tgtEl>
                                        <p:attrNameLst>
                                          <p:attrName>ppt_h</p:attrName>
                                        </p:attrNameLst>
                                      </p:cBhvr>
                                      <p:tavLst>
                                        <p:tav tm="0">
                                          <p:val>
                                            <p:fltVal val="0"/>
                                          </p:val>
                                        </p:tav>
                                        <p:tav tm="100000">
                                          <p:val>
                                            <p:strVal val="#ppt_h"/>
                                          </p:val>
                                        </p:tav>
                                      </p:tavLst>
                                    </p:anim>
                                    <p:animEffect transition="in" filter="fade">
                                      <p:cBhvr>
                                        <p:cTn id="137" dur="600"/>
                                        <p:tgtEl>
                                          <p:spTgt spid="41"/>
                                        </p:tgtEl>
                                      </p:cBhvr>
                                    </p:animEffect>
                                  </p:childTnLst>
                                </p:cTn>
                              </p:par>
                              <p:par>
                                <p:cTn id="138" presetID="10" presetClass="entr" presetSubtype="0" fill="hold" nodeType="withEffect">
                                  <p:stCondLst>
                                    <p:cond delay="240"/>
                                  </p:stCondLst>
                                  <p:childTnLst>
                                    <p:set>
                                      <p:cBhvr>
                                        <p:cTn id="139" dur="1" fill="hold">
                                          <p:stCondLst>
                                            <p:cond delay="0"/>
                                          </p:stCondLst>
                                        </p:cTn>
                                        <p:tgtEl>
                                          <p:spTgt spid="42"/>
                                        </p:tgtEl>
                                        <p:attrNameLst>
                                          <p:attrName>style.visibility</p:attrName>
                                        </p:attrNameLst>
                                      </p:cBhvr>
                                      <p:to>
                                        <p:strVal val="visible"/>
                                      </p:to>
                                    </p:set>
                                    <p:animEffect transition="in" filter="fade">
                                      <p:cBhvr>
                                        <p:cTn id="140" dur="500"/>
                                        <p:tgtEl>
                                          <p:spTgt spid="42"/>
                                        </p:tgtEl>
                                      </p:cBhvr>
                                    </p:animEffect>
                                  </p:childTnLst>
                                </p:cTn>
                              </p:par>
                              <p:par>
                                <p:cTn id="141" presetID="10" presetClass="entr" presetSubtype="0" fill="hold" grpId="0" nodeType="withEffect">
                                  <p:stCondLst>
                                    <p:cond delay="240"/>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3"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7" grpId="0" animBg="1"/>
      <p:bldP spid="18" grpId="0" animBg="1"/>
      <p:bldP spid="20" grpId="0" animBg="1"/>
      <p:bldP spid="21" grpId="0" animBg="1"/>
      <p:bldP spid="23" grpId="0" animBg="1"/>
      <p:bldP spid="24" grpId="0" animBg="1"/>
      <p:bldP spid="27" grpId="0" animBg="1"/>
      <p:bldP spid="28" grpId="0" animBg="1"/>
      <p:bldP spid="29" grpId="0" animBg="1"/>
      <p:bldP spid="31" grpId="0" animBg="1"/>
      <p:bldP spid="32" grpId="0" animBg="1"/>
      <p:bldP spid="34" grpId="0" animBg="1"/>
      <p:bldP spid="35" grpId="0" animBg="1"/>
      <p:bldP spid="37" grpId="0" animBg="1"/>
      <p:bldP spid="38" grpId="0" animBg="1"/>
      <p:bldP spid="39" grpId="0" animBg="1"/>
      <p:bldP spid="4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201B"/>
        </a:solidFill>
        <a:effectLst/>
      </p:bgPr>
    </p:bg>
    <p:spTree>
      <p:nvGrpSpPr>
        <p:cNvPr id="1" name=""/>
        <p:cNvGrpSpPr/>
        <p:nvPr/>
      </p:nvGrpSpPr>
      <p:grpSpPr>
        <a:xfrm>
          <a:off x="0" y="0"/>
          <a:ext cx="0" cy="0"/>
          <a:chOff x="0" y="0"/>
          <a:chExt cx="0" cy="0"/>
        </a:xfrm>
      </p:grpSpPr>
      <p:sp>
        <p:nvSpPr>
          <p:cNvPr id="2" name="S16 Rectangle 2"/>
          <p:cNvSpPr/>
          <p:nvPr/>
        </p:nvSpPr>
        <p:spPr>
          <a:xfrm>
            <a:off x="0" y="0"/>
            <a:ext cx="109728" cy="6858000"/>
          </a:xfrm>
          <a:prstGeom prst="rect">
            <a:avLst/>
          </a:prstGeom>
          <a:solidFill>
            <a:srgbClr val="43705F"/>
          </a:solidFill>
          <a:ln/>
        </p:spPr>
      </p:sp>
      <p:sp>
        <p:nvSpPr>
          <p:cNvPr id="3" name="S16 Rectangle 3"/>
          <p:cNvSpPr/>
          <p:nvPr/>
        </p:nvSpPr>
        <p:spPr>
          <a:xfrm>
            <a:off x="12081967" y="0"/>
            <a:ext cx="109728" cy="6858000"/>
          </a:xfrm>
          <a:prstGeom prst="rect">
            <a:avLst/>
          </a:prstGeom>
          <a:solidFill>
            <a:srgbClr val="7A5C10"/>
          </a:solidFill>
          <a:ln/>
        </p:spPr>
      </p:sp>
      <p:sp>
        <p:nvSpPr>
          <p:cNvPr id="4" name="S16 Oval 4"/>
          <p:cNvSpPr/>
          <p:nvPr/>
        </p:nvSpPr>
        <p:spPr>
          <a:xfrm>
            <a:off x="685800" y="457200"/>
            <a:ext cx="777240" cy="777240"/>
          </a:xfrm>
          <a:prstGeom prst="ellipse">
            <a:avLst/>
          </a:prstGeom>
          <a:solidFill>
            <a:srgbClr val="FFFFFF"/>
          </a:solidFill>
          <a:ln/>
        </p:spPr>
      </p:sp>
      <p:pic>
        <p:nvPicPr>
          <p:cNvPr id="5" name="S16 Picture 5" descr="Logo Trường Đại học Trà Vinh"/>
          <p:cNvPicPr>
            <a:picLocks noChangeAspect="1"/>
          </p:cNvPicPr>
          <p:nvPr/>
        </p:nvPicPr>
        <p:blipFill>
          <a:blip r:embed="rId3"/>
          <a:stretch>
            <a:fillRect/>
          </a:stretch>
        </p:blipFill>
        <p:spPr>
          <a:xfrm>
            <a:off x="716890" y="488290"/>
            <a:ext cx="715061" cy="715061"/>
          </a:xfrm>
          <a:prstGeom prst="rect">
            <a:avLst/>
          </a:prstGeom>
        </p:spPr>
      </p:pic>
      <p:sp>
        <p:nvSpPr>
          <p:cNvPr id="6" name="S16 TextBox 6"/>
          <p:cNvSpPr txBox="1"/>
          <p:nvPr/>
        </p:nvSpPr>
        <p:spPr>
          <a:xfrm>
            <a:off x="8897112" y="402336"/>
            <a:ext cx="2743200" cy="256032"/>
          </a:xfrm>
          <a:prstGeom prst="rect">
            <a:avLst/>
          </a:prstGeom>
          <a:noFill/>
          <a:ln/>
        </p:spPr>
        <p:txBody>
          <a:bodyPr wrap="square" lIns="0" tIns="0" rIns="0" bIns="0" rtlCol="0" anchor="t"/>
          <a:lstStyle/>
          <a:p>
            <a:pPr marL="0" indent="0" algn="r">
              <a:buNone/>
            </a:pPr>
            <a:r>
              <a:rPr lang="en-US" sz="1000" b="1" kern="0" spc="150" dirty="0">
                <a:solidFill>
                  <a:srgbClr val="C8CFC9"/>
                </a:solidFill>
                <a:latin typeface="Segoe UI" pitchFamily="34" charset="0"/>
                <a:ea typeface="Segoe UI" pitchFamily="34" charset="-122"/>
                <a:cs typeface="Segoe UI" pitchFamily="34" charset="-120"/>
              </a:rPr>
              <a:t>ĐÁNH GIÁ</a:t>
            </a:r>
            <a:endParaRPr lang="en-US" sz="1000" dirty="0"/>
          </a:p>
        </p:txBody>
      </p:sp>
      <p:sp>
        <p:nvSpPr>
          <p:cNvPr id="7" name="S16 TextBox 7"/>
          <p:cNvSpPr txBox="1"/>
          <p:nvPr/>
        </p:nvSpPr>
        <p:spPr>
          <a:xfrm>
            <a:off x="685800" y="1371600"/>
            <a:ext cx="10954512" cy="548640"/>
          </a:xfrm>
          <a:prstGeom prst="rect">
            <a:avLst/>
          </a:prstGeom>
          <a:noFill/>
          <a:ln/>
        </p:spPr>
        <p:txBody>
          <a:bodyPr wrap="square" lIns="0" tIns="0" rIns="0" bIns="0" rtlCol="0" anchor="t"/>
          <a:lstStyle/>
          <a:p>
            <a:pPr marL="0" indent="0">
              <a:buNone/>
            </a:pPr>
            <a:r>
              <a:rPr lang="en-US" sz="3000" b="1" dirty="0">
                <a:solidFill>
                  <a:srgbClr val="F8F8F4"/>
                </a:solidFill>
                <a:latin typeface="Cambria" pitchFamily="34" charset="0"/>
                <a:ea typeface="Cambria" pitchFamily="34" charset="-122"/>
                <a:cs typeface="Cambria" pitchFamily="34" charset="-120"/>
              </a:rPr>
              <a:t>Đánh giá, hướng phát triển và kết luận</a:t>
            </a:r>
            <a:endParaRPr lang="en-US" sz="3000" dirty="0"/>
          </a:p>
        </p:txBody>
      </p:sp>
      <p:sp>
        <p:nvSpPr>
          <p:cNvPr id="8" name="S16 Rectangle 8"/>
          <p:cNvSpPr/>
          <p:nvPr/>
        </p:nvSpPr>
        <p:spPr>
          <a:xfrm>
            <a:off x="685800" y="2011680"/>
            <a:ext cx="1463040" cy="54864"/>
          </a:xfrm>
          <a:prstGeom prst="rect">
            <a:avLst/>
          </a:prstGeom>
          <a:solidFill>
            <a:srgbClr val="43705F"/>
          </a:solidFill>
          <a:ln/>
        </p:spPr>
      </p:sp>
      <p:sp>
        <p:nvSpPr>
          <p:cNvPr id="9" name="S16 Rectangle 9"/>
          <p:cNvSpPr/>
          <p:nvPr/>
        </p:nvSpPr>
        <p:spPr>
          <a:xfrm>
            <a:off x="685800" y="2331720"/>
            <a:ext cx="3529584" cy="2606040"/>
          </a:xfrm>
          <a:prstGeom prst="rect">
            <a:avLst/>
          </a:prstGeom>
          <a:solidFill>
            <a:srgbClr val="FFFFFF"/>
          </a:solidFill>
          <a:ln/>
        </p:spPr>
      </p:sp>
      <p:sp>
        <p:nvSpPr>
          <p:cNvPr id="10" name="S16 TextBox 10"/>
          <p:cNvSpPr txBox="1"/>
          <p:nvPr/>
        </p:nvSpPr>
        <p:spPr>
          <a:xfrm>
            <a:off x="914400" y="2487168"/>
            <a:ext cx="3108960" cy="384048"/>
          </a:xfrm>
          <a:prstGeom prst="rect">
            <a:avLst/>
          </a:prstGeom>
          <a:noFill/>
          <a:ln/>
        </p:spPr>
        <p:txBody>
          <a:bodyPr wrap="square" lIns="0" tIns="0" rIns="0" bIns="0" rtlCol="0" anchor="t"/>
          <a:lstStyle/>
          <a:p>
            <a:pPr marL="0" indent="0">
              <a:buNone/>
            </a:pPr>
            <a:r>
              <a:rPr lang="en-US" sz="1900" b="1" dirty="0">
                <a:solidFill>
                  <a:srgbClr val="43705F"/>
                </a:solidFill>
                <a:latin typeface="Cambria" pitchFamily="34" charset="0"/>
                <a:ea typeface="Cambria" pitchFamily="34" charset="-122"/>
                <a:cs typeface="Cambria" pitchFamily="34" charset="-120"/>
              </a:rPr>
              <a:t>Ưu điểm</a:t>
            </a:r>
            <a:endParaRPr lang="en-US" sz="1900" dirty="0"/>
          </a:p>
        </p:txBody>
      </p:sp>
      <p:sp>
        <p:nvSpPr>
          <p:cNvPr id="11" name="S16 TextBox 11"/>
          <p:cNvSpPr txBox="1"/>
          <p:nvPr/>
        </p:nvSpPr>
        <p:spPr>
          <a:xfrm>
            <a:off x="914400" y="2999232"/>
            <a:ext cx="3154680" cy="1828800"/>
          </a:xfrm>
          <a:prstGeom prst="rect">
            <a:avLst/>
          </a:prstGeom>
          <a:noFill/>
          <a:ln/>
        </p:spPr>
        <p:txBody>
          <a:bodyPr wrap="square" lIns="0" tIns="0" rIns="0" bIns="0" rtlCol="0" anchor="t"/>
          <a:lstStyle/>
          <a:p>
            <a:pPr marL="177800" indent="-177800">
              <a:spcAft>
                <a:spcPts val="800"/>
              </a:spcAft>
              <a:buClr>
                <a:srgbClr val="1C2B25"/>
              </a:buClr>
              <a:buSzPct val="100000"/>
              <a:buChar char="•"/>
            </a:pPr>
            <a:r>
              <a:rPr lang="en-US" sz="1350" b="1" dirty="0">
                <a:solidFill>
                  <a:srgbClr val="43705F"/>
                </a:solidFill>
                <a:latin typeface="Segoe UI" pitchFamily="34" charset="0"/>
                <a:ea typeface="Segoe UI" pitchFamily="34" charset="-122"/>
                <a:cs typeface="Segoe UI" pitchFamily="34" charset="-120"/>
              </a:rPr>
              <a:t>14 + 1</a:t>
            </a:r>
            <a:r>
              <a:rPr lang="en-US" sz="1350" dirty="0">
                <a:solidFill>
                  <a:srgbClr val="1C2B25"/>
                </a:solidFill>
                <a:latin typeface="Segoe UI" pitchFamily="34" charset="0"/>
                <a:ea typeface="Segoe UI" pitchFamily="34" charset="-122"/>
                <a:cs typeface="Segoe UI" pitchFamily="34" charset="-120"/>
              </a:rPr>
              <a:t> chức năng: 14 đăng ký và A07</a:t>
            </a:r>
            <a:endParaRPr lang="en-US" sz="1350" dirty="0"/>
          </a:p>
          <a:p>
            <a:pPr marL="177800" indent="-177800">
              <a:spcAft>
                <a:spcPts val="800"/>
              </a:spcAft>
              <a:buClr>
                <a:srgbClr val="1C2B25"/>
              </a:buClr>
              <a:buSzPct val="100000"/>
              <a:buChar char="•"/>
            </a:pPr>
            <a:r>
              <a:rPr lang="en-US" sz="1350" b="1" dirty="0">
                <a:solidFill>
                  <a:srgbClr val="43705F"/>
                </a:solidFill>
                <a:latin typeface="Segoe UI" pitchFamily="34" charset="0"/>
                <a:ea typeface="Segoe UI" pitchFamily="34" charset="-122"/>
                <a:cs typeface="Segoe UI" pitchFamily="34" charset="-120"/>
              </a:rPr>
              <a:t>50/50</a:t>
            </a:r>
            <a:r>
              <a:rPr lang="en-US" sz="1350" dirty="0">
                <a:solidFill>
                  <a:srgbClr val="1C2B25"/>
                </a:solidFill>
                <a:latin typeface="Segoe UI" pitchFamily="34" charset="0"/>
                <a:ea typeface="Segoe UI" pitchFamily="34" charset="-122"/>
                <a:cs typeface="Segoe UI" pitchFamily="34" charset="-120"/>
              </a:rPr>
              <a:t> test case đạt</a:t>
            </a:r>
            <a:endParaRPr lang="en-US" sz="1350" dirty="0"/>
          </a:p>
          <a:p>
            <a:pPr marL="177800" indent="-177800">
              <a:spcAft>
                <a:spcPts val="800"/>
              </a:spcAft>
              <a:buClr>
                <a:srgbClr val="1C2B25"/>
              </a:buClr>
              <a:buSzPct val="100000"/>
              <a:buChar char="•"/>
            </a:pPr>
            <a:r>
              <a:rPr lang="en-US" sz="1350" dirty="0">
                <a:solidFill>
                  <a:srgbClr val="1C2B25"/>
                </a:solidFill>
                <a:latin typeface="Segoe UI" pitchFamily="34" charset="0"/>
                <a:ea typeface="Segoe UI" pitchFamily="34" charset="-122"/>
                <a:cs typeface="Segoe UI" pitchFamily="34" charset="-120"/>
              </a:rPr>
              <a:t>Tìm không dấu, lọc kết hợp </a:t>
            </a:r>
            <a:r>
              <a:rPr lang="en-US" sz="1350" b="1" dirty="0">
                <a:solidFill>
                  <a:srgbClr val="43705F"/>
                </a:solidFill>
                <a:latin typeface="Segoe UI" pitchFamily="34" charset="0"/>
                <a:ea typeface="Segoe UI" pitchFamily="34" charset="-122"/>
                <a:cs typeface="Segoe UI" pitchFamily="34" charset="-120"/>
              </a:rPr>
              <a:t>khớp SQL</a:t>
            </a:r>
            <a:endParaRPr lang="en-US" sz="1350" dirty="0"/>
          </a:p>
          <a:p>
            <a:pPr marL="177800" indent="-177800">
              <a:spcAft>
                <a:spcPts val="800"/>
              </a:spcAft>
              <a:buClr>
                <a:srgbClr val="1C2B25"/>
              </a:buClr>
              <a:buSzPct val="100000"/>
              <a:buChar char="•"/>
            </a:pPr>
            <a:r>
              <a:rPr lang="en-US" sz="1350" dirty="0">
                <a:solidFill>
                  <a:srgbClr val="1C2B25"/>
                </a:solidFill>
                <a:latin typeface="Segoe UI" pitchFamily="34" charset="0"/>
                <a:ea typeface="Segoe UI" pitchFamily="34" charset="-122"/>
                <a:cs typeface="Segoe UI" pitchFamily="34" charset="-120"/>
              </a:rPr>
              <a:t>Trang chậm nhất </a:t>
            </a:r>
            <a:r>
              <a:rPr lang="en-US" sz="1350" b="1" dirty="0">
                <a:solidFill>
                  <a:srgbClr val="43705F"/>
                </a:solidFill>
                <a:latin typeface="Segoe UI" pitchFamily="34" charset="0"/>
                <a:ea typeface="Segoe UI" pitchFamily="34" charset="-122"/>
                <a:cs typeface="Segoe UI" pitchFamily="34" charset="-120"/>
              </a:rPr>
              <a:t>4,6 ms</a:t>
            </a:r>
            <a:r>
              <a:rPr lang="en-US" sz="1350" dirty="0">
                <a:solidFill>
                  <a:srgbClr val="1C2B25"/>
                </a:solidFill>
                <a:latin typeface="Segoe UI" pitchFamily="34" charset="0"/>
                <a:ea typeface="Segoe UI" pitchFamily="34" charset="-122"/>
                <a:cs typeface="Segoe UI" pitchFamily="34" charset="-120"/>
              </a:rPr>
              <a:t> phía máy chủ</a:t>
            </a:r>
            <a:endParaRPr lang="en-US" sz="1350" dirty="0"/>
          </a:p>
        </p:txBody>
      </p:sp>
      <p:sp>
        <p:nvSpPr>
          <p:cNvPr id="12" name="S16 Rectangle 12"/>
          <p:cNvSpPr/>
          <p:nvPr/>
        </p:nvSpPr>
        <p:spPr>
          <a:xfrm>
            <a:off x="4398264" y="2331720"/>
            <a:ext cx="3529584" cy="2606040"/>
          </a:xfrm>
          <a:prstGeom prst="rect">
            <a:avLst/>
          </a:prstGeom>
          <a:solidFill>
            <a:srgbClr val="FFFFFF"/>
          </a:solidFill>
          <a:ln/>
        </p:spPr>
      </p:sp>
      <p:sp>
        <p:nvSpPr>
          <p:cNvPr id="13" name="S16 TextBox 13"/>
          <p:cNvSpPr txBox="1"/>
          <p:nvPr/>
        </p:nvSpPr>
        <p:spPr>
          <a:xfrm>
            <a:off x="4626864" y="2487168"/>
            <a:ext cx="3108960" cy="384048"/>
          </a:xfrm>
          <a:prstGeom prst="rect">
            <a:avLst/>
          </a:prstGeom>
          <a:noFill/>
          <a:ln/>
        </p:spPr>
        <p:txBody>
          <a:bodyPr wrap="square" lIns="0" tIns="0" rIns="0" bIns="0" rtlCol="0" anchor="t"/>
          <a:lstStyle/>
          <a:p>
            <a:pPr marL="0" indent="0">
              <a:buNone/>
            </a:pPr>
            <a:r>
              <a:rPr lang="en-US" sz="1900" b="1" dirty="0">
                <a:solidFill>
                  <a:srgbClr val="9E2B25"/>
                </a:solidFill>
                <a:latin typeface="Cambria" pitchFamily="34" charset="0"/>
                <a:ea typeface="Cambria" pitchFamily="34" charset="-122"/>
                <a:cs typeface="Cambria" pitchFamily="34" charset="-120"/>
              </a:rPr>
              <a:t>Hạn chế</a:t>
            </a:r>
            <a:endParaRPr lang="en-US" sz="1900" dirty="0"/>
          </a:p>
        </p:txBody>
      </p:sp>
      <p:sp>
        <p:nvSpPr>
          <p:cNvPr id="14" name="S16 TextBox 14"/>
          <p:cNvSpPr txBox="1"/>
          <p:nvPr/>
        </p:nvSpPr>
        <p:spPr>
          <a:xfrm>
            <a:off x="4626864" y="2999232"/>
            <a:ext cx="3154680" cy="1828800"/>
          </a:xfrm>
          <a:prstGeom prst="rect">
            <a:avLst/>
          </a:prstGeom>
          <a:noFill/>
          <a:ln/>
        </p:spPr>
        <p:txBody>
          <a:bodyPr wrap="square" lIns="0" tIns="0" rIns="0" bIns="0" rtlCol="0" anchor="t"/>
          <a:lstStyle/>
          <a:p>
            <a:pPr marL="177800" indent="-177800">
              <a:spcAft>
                <a:spcPts val="800"/>
              </a:spcAft>
              <a:buClr>
                <a:srgbClr val="1C2B25"/>
              </a:buClr>
              <a:buSzPct val="100000"/>
              <a:buChar char="•"/>
            </a:pPr>
            <a:r>
              <a:rPr lang="en-US" sz="1350" b="1" dirty="0">
                <a:solidFill>
                  <a:srgbClr val="9E2B25"/>
                </a:solidFill>
                <a:latin typeface="Segoe UI" pitchFamily="34" charset="0"/>
                <a:ea typeface="Segoe UI" pitchFamily="34" charset="-122"/>
                <a:cs typeface="Segoe UI" pitchFamily="34" charset="-120"/>
              </a:rPr>
              <a:t>75</a:t>
            </a:r>
            <a:r>
              <a:rPr lang="en-US" sz="1350" dirty="0">
                <a:solidFill>
                  <a:srgbClr val="1C2B25"/>
                </a:solidFill>
                <a:latin typeface="Segoe UI" pitchFamily="34" charset="0"/>
                <a:ea typeface="Segoe UI" pitchFamily="34" charset="-122"/>
                <a:cs typeface="Segoe UI" pitchFamily="34" charset="-120"/>
              </a:rPr>
              <a:t> bản ghi chưa có ảnh, </a:t>
            </a:r>
            <a:r>
              <a:rPr lang="en-US" sz="1350" b="1" dirty="0">
                <a:solidFill>
                  <a:srgbClr val="9E2B25"/>
                </a:solidFill>
                <a:latin typeface="Segoe UI" pitchFamily="34" charset="0"/>
                <a:ea typeface="Segoe UI" pitchFamily="34" charset="-122"/>
                <a:cs typeface="Segoe UI" pitchFamily="34" charset="-120"/>
              </a:rPr>
              <a:t>69</a:t>
            </a:r>
            <a:r>
              <a:rPr lang="en-US" sz="1350" dirty="0">
                <a:solidFill>
                  <a:srgbClr val="1C2B25"/>
                </a:solidFill>
                <a:latin typeface="Segoe UI" pitchFamily="34" charset="0"/>
                <a:ea typeface="Segoe UI" pitchFamily="34" charset="-122"/>
                <a:cs typeface="Segoe UI" pitchFamily="34" charset="-120"/>
              </a:rPr>
              <a:t> di tích chưa có tọa độ</a:t>
            </a:r>
            <a:endParaRPr lang="en-US" sz="1350" dirty="0"/>
          </a:p>
          <a:p>
            <a:pPr marL="177800" indent="-177800">
              <a:spcAft>
                <a:spcPts val="800"/>
              </a:spcAft>
              <a:buClr>
                <a:srgbClr val="1C2B25"/>
              </a:buClr>
              <a:buSzPct val="100000"/>
              <a:buChar char="•"/>
            </a:pPr>
            <a:r>
              <a:rPr lang="en-US" sz="1350" dirty="0">
                <a:solidFill>
                  <a:srgbClr val="1C2B25"/>
                </a:solidFill>
                <a:latin typeface="Segoe UI" pitchFamily="34" charset="0"/>
                <a:ea typeface="Segoe UI" pitchFamily="34" charset="-122"/>
                <a:cs typeface="Segoe UI" pitchFamily="34" charset="-120"/>
              </a:rPr>
              <a:t>Tỉnh Lai Châu chưa có bản ghi</a:t>
            </a:r>
            <a:endParaRPr lang="en-US" sz="1350" dirty="0"/>
          </a:p>
          <a:p>
            <a:pPr marL="177800" indent="-177800">
              <a:spcAft>
                <a:spcPts val="800"/>
              </a:spcAft>
              <a:buClr>
                <a:srgbClr val="1C2B25"/>
              </a:buClr>
              <a:buSzPct val="100000"/>
              <a:buChar char="•"/>
            </a:pPr>
            <a:r>
              <a:rPr lang="en-US" sz="1350" dirty="0">
                <a:solidFill>
                  <a:srgbClr val="1C2B25"/>
                </a:solidFill>
                <a:latin typeface="Segoe UI" pitchFamily="34" charset="0"/>
                <a:ea typeface="Segoe UI" pitchFamily="34" charset="-122"/>
                <a:cs typeface="Segoe UI" pitchFamily="34" charset="-120"/>
              </a:rPr>
              <a:t>Trang chủ nặng khoảng </a:t>
            </a:r>
            <a:r>
              <a:rPr lang="en-US" sz="1350" b="1" dirty="0">
                <a:solidFill>
                  <a:srgbClr val="9E2B25"/>
                </a:solidFill>
                <a:latin typeface="Segoe UI" pitchFamily="34" charset="0"/>
                <a:ea typeface="Segoe UI" pitchFamily="34" charset="-122"/>
                <a:cs typeface="Segoe UI" pitchFamily="34" charset="-120"/>
              </a:rPr>
              <a:t>3 MiB</a:t>
            </a:r>
            <a:endParaRPr lang="en-US" sz="1350" dirty="0"/>
          </a:p>
          <a:p>
            <a:pPr marL="177800" indent="-177800">
              <a:spcAft>
                <a:spcPts val="800"/>
              </a:spcAft>
              <a:buClr>
                <a:srgbClr val="1C2B25"/>
              </a:buClr>
              <a:buSzPct val="100000"/>
              <a:buChar char="•"/>
            </a:pPr>
            <a:r>
              <a:rPr lang="en-US" sz="1350" dirty="0">
                <a:solidFill>
                  <a:srgbClr val="1C2B25"/>
                </a:solidFill>
                <a:latin typeface="Segoe UI" pitchFamily="34" charset="0"/>
                <a:ea typeface="Segoe UI" pitchFamily="34" charset="-122"/>
                <a:cs typeface="Segoe UI" pitchFamily="34" charset="-120"/>
              </a:rPr>
              <a:t>Chưa có </a:t>
            </a:r>
            <a:r>
              <a:rPr lang="en-US" sz="1350" b="1" dirty="0">
                <a:solidFill>
                  <a:srgbClr val="9E2B25"/>
                </a:solidFill>
                <a:latin typeface="Segoe UI" pitchFamily="34" charset="0"/>
                <a:ea typeface="Segoe UI" pitchFamily="34" charset="-122"/>
                <a:cs typeface="Segoe UI" pitchFamily="34" charset="-120"/>
              </a:rPr>
              <a:t>kiểm thử đơn vị</a:t>
            </a:r>
            <a:endParaRPr lang="en-US" sz="1350" dirty="0"/>
          </a:p>
        </p:txBody>
      </p:sp>
      <p:sp>
        <p:nvSpPr>
          <p:cNvPr id="15" name="S16 Rectangle 15"/>
          <p:cNvSpPr/>
          <p:nvPr/>
        </p:nvSpPr>
        <p:spPr>
          <a:xfrm>
            <a:off x="8110728" y="2331720"/>
            <a:ext cx="3529584" cy="2606040"/>
          </a:xfrm>
          <a:prstGeom prst="rect">
            <a:avLst/>
          </a:prstGeom>
          <a:solidFill>
            <a:srgbClr val="FFFFFF"/>
          </a:solidFill>
          <a:ln/>
        </p:spPr>
      </p:sp>
      <p:sp>
        <p:nvSpPr>
          <p:cNvPr id="16" name="S16 TextBox 16"/>
          <p:cNvSpPr txBox="1"/>
          <p:nvPr/>
        </p:nvSpPr>
        <p:spPr>
          <a:xfrm>
            <a:off x="8339328" y="2487168"/>
            <a:ext cx="3108960" cy="384048"/>
          </a:xfrm>
          <a:prstGeom prst="rect">
            <a:avLst/>
          </a:prstGeom>
          <a:noFill/>
          <a:ln/>
        </p:spPr>
        <p:txBody>
          <a:bodyPr wrap="square" lIns="0" tIns="0" rIns="0" bIns="0" rtlCol="0" anchor="t"/>
          <a:lstStyle/>
          <a:p>
            <a:pPr marL="0" indent="0">
              <a:buNone/>
            </a:pPr>
            <a:r>
              <a:rPr lang="en-US" sz="1900" b="1" dirty="0">
                <a:solidFill>
                  <a:srgbClr val="7A5C10"/>
                </a:solidFill>
                <a:latin typeface="Cambria" pitchFamily="34" charset="0"/>
                <a:ea typeface="Cambria" pitchFamily="34" charset="-122"/>
                <a:cs typeface="Cambria" pitchFamily="34" charset="-120"/>
              </a:rPr>
              <a:t>Hướng phát triển</a:t>
            </a:r>
            <a:endParaRPr lang="en-US" sz="1900" dirty="0"/>
          </a:p>
        </p:txBody>
      </p:sp>
      <p:sp>
        <p:nvSpPr>
          <p:cNvPr id="17" name="S16 TextBox 17"/>
          <p:cNvSpPr txBox="1"/>
          <p:nvPr/>
        </p:nvSpPr>
        <p:spPr>
          <a:xfrm>
            <a:off x="8339328" y="2999232"/>
            <a:ext cx="3154680" cy="1828800"/>
          </a:xfrm>
          <a:prstGeom prst="rect">
            <a:avLst/>
          </a:prstGeom>
          <a:noFill/>
          <a:ln/>
        </p:spPr>
        <p:txBody>
          <a:bodyPr wrap="square" lIns="0" tIns="0" rIns="0" bIns="0" rtlCol="0" anchor="t"/>
          <a:lstStyle/>
          <a:p>
            <a:pPr marL="177800" indent="-177800">
              <a:spcAft>
                <a:spcPts val="800"/>
              </a:spcAft>
              <a:buClr>
                <a:srgbClr val="1C2B25"/>
              </a:buClr>
              <a:buSzPct val="100000"/>
              <a:buChar char="•"/>
            </a:pPr>
            <a:r>
              <a:rPr lang="en-US" sz="1350" dirty="0">
                <a:solidFill>
                  <a:srgbClr val="1C2B25"/>
                </a:solidFill>
                <a:latin typeface="Segoe UI" pitchFamily="34" charset="0"/>
                <a:ea typeface="Segoe UI" pitchFamily="34" charset="-122"/>
                <a:cs typeface="Segoe UI" pitchFamily="34" charset="-120"/>
              </a:rPr>
              <a:t>Bổ sung </a:t>
            </a:r>
            <a:r>
              <a:rPr lang="en-US" sz="1350" b="1" dirty="0">
                <a:solidFill>
                  <a:srgbClr val="7A5C10"/>
                </a:solidFill>
                <a:latin typeface="Segoe UI" pitchFamily="34" charset="0"/>
                <a:ea typeface="Segoe UI" pitchFamily="34" charset="-122"/>
                <a:cs typeface="Segoe UI" pitchFamily="34" charset="-120"/>
              </a:rPr>
              <a:t>ảnh, tọa độ</a:t>
            </a:r>
            <a:r>
              <a:rPr lang="en-US" sz="1350" dirty="0">
                <a:solidFill>
                  <a:srgbClr val="1C2B25"/>
                </a:solidFill>
                <a:latin typeface="Segoe UI" pitchFamily="34" charset="0"/>
                <a:ea typeface="Segoe UI" pitchFamily="34" charset="-122"/>
                <a:cs typeface="Segoe UI" pitchFamily="34" charset="-120"/>
              </a:rPr>
              <a:t> có nguồn</a:t>
            </a:r>
            <a:endParaRPr lang="en-US" sz="1350" dirty="0"/>
          </a:p>
          <a:p>
            <a:pPr marL="177800" indent="-177800">
              <a:spcAft>
                <a:spcPts val="800"/>
              </a:spcAft>
              <a:buClr>
                <a:srgbClr val="1C2B25"/>
              </a:buClr>
              <a:buSzPct val="100000"/>
              <a:buChar char="•"/>
            </a:pPr>
            <a:r>
              <a:rPr lang="en-US" sz="1350" dirty="0">
                <a:solidFill>
                  <a:srgbClr val="1C2B25"/>
                </a:solidFill>
                <a:latin typeface="Segoe UI" pitchFamily="34" charset="0"/>
                <a:ea typeface="Segoe UI" pitchFamily="34" charset="-122"/>
                <a:cs typeface="Segoe UI" pitchFamily="34" charset="-120"/>
              </a:rPr>
              <a:t>Sinh </a:t>
            </a:r>
            <a:r>
              <a:rPr lang="en-US" sz="1350" b="1" dirty="0">
                <a:solidFill>
                  <a:srgbClr val="7A5C10"/>
                </a:solidFill>
                <a:latin typeface="Segoe UI" pitchFamily="34" charset="0"/>
                <a:ea typeface="Segoe UI" pitchFamily="34" charset="-122"/>
                <a:cs typeface="Segoe UI" pitchFamily="34" charset="-120"/>
              </a:rPr>
              <a:t>ảnh thu nhỏ</a:t>
            </a:r>
            <a:endParaRPr lang="en-US" sz="1350" dirty="0"/>
          </a:p>
          <a:p>
            <a:pPr marL="177800" indent="-177800">
              <a:spcAft>
                <a:spcPts val="800"/>
              </a:spcAft>
              <a:buClr>
                <a:srgbClr val="1C2B25"/>
              </a:buClr>
              <a:buSzPct val="100000"/>
              <a:buChar char="•"/>
            </a:pPr>
            <a:r>
              <a:rPr lang="en-US" sz="1350" dirty="0">
                <a:solidFill>
                  <a:srgbClr val="1C2B25"/>
                </a:solidFill>
                <a:latin typeface="Segoe UI" pitchFamily="34" charset="0"/>
                <a:ea typeface="Segoe UI" pitchFamily="34" charset="-122"/>
                <a:cs typeface="Segoe UI" pitchFamily="34" charset="-120"/>
              </a:rPr>
              <a:t>Thêm </a:t>
            </a:r>
            <a:r>
              <a:rPr lang="en-US" sz="1350" b="1" dirty="0">
                <a:solidFill>
                  <a:srgbClr val="7A5C10"/>
                </a:solidFill>
                <a:latin typeface="Segoe UI" pitchFamily="34" charset="0"/>
                <a:ea typeface="Segoe UI" pitchFamily="34" charset="-122"/>
                <a:cs typeface="Segoe UI" pitchFamily="34" charset="-120"/>
              </a:rPr>
              <a:t>cột phiên bản</a:t>
            </a:r>
            <a:r>
              <a:rPr lang="en-US" sz="1350" dirty="0">
                <a:solidFill>
                  <a:srgbClr val="1C2B25"/>
                </a:solidFill>
                <a:latin typeface="Segoe UI" pitchFamily="34" charset="0"/>
                <a:ea typeface="Segoe UI" pitchFamily="34" charset="-122"/>
                <a:cs typeface="Segoe UI" pitchFamily="34" charset="-120"/>
              </a:rPr>
              <a:t> chống sửa chồng</a:t>
            </a:r>
            <a:endParaRPr lang="en-US" sz="1350" dirty="0"/>
          </a:p>
          <a:p>
            <a:pPr marL="177800" indent="-177800">
              <a:spcAft>
                <a:spcPts val="800"/>
              </a:spcAft>
              <a:buClr>
                <a:srgbClr val="1C2B25"/>
              </a:buClr>
              <a:buSzPct val="100000"/>
              <a:buChar char="•"/>
            </a:pPr>
            <a:r>
              <a:rPr lang="en-US" sz="1350" b="1" dirty="0">
                <a:solidFill>
                  <a:srgbClr val="7A5C10"/>
                </a:solidFill>
                <a:latin typeface="Segoe UI" pitchFamily="34" charset="0"/>
                <a:ea typeface="Segoe UI" pitchFamily="34" charset="-122"/>
                <a:cs typeface="Segoe UI" pitchFamily="34" charset="-120"/>
              </a:rPr>
              <a:t>Kiểm thử đơn vị</a:t>
            </a:r>
            <a:r>
              <a:rPr lang="en-US" sz="1350" dirty="0">
                <a:solidFill>
                  <a:srgbClr val="1C2B25"/>
                </a:solidFill>
                <a:latin typeface="Segoe UI" pitchFamily="34" charset="0"/>
                <a:ea typeface="Segoe UI" pitchFamily="34" charset="-122"/>
                <a:cs typeface="Segoe UI" pitchFamily="34" charset="-120"/>
              </a:rPr>
              <a:t>, tiếng Anh, Web API</a:t>
            </a:r>
            <a:endParaRPr lang="en-US" sz="1350" dirty="0"/>
          </a:p>
        </p:txBody>
      </p:sp>
      <p:sp>
        <p:nvSpPr>
          <p:cNvPr id="18" name="S16 Rectangle 18"/>
          <p:cNvSpPr/>
          <p:nvPr/>
        </p:nvSpPr>
        <p:spPr>
          <a:xfrm>
            <a:off x="685800" y="5212080"/>
            <a:ext cx="10954512" cy="868680"/>
          </a:xfrm>
          <a:prstGeom prst="rect">
            <a:avLst/>
          </a:prstGeom>
          <a:solidFill>
            <a:srgbClr val="1C2B25"/>
          </a:solidFill>
          <a:ln w="12700">
            <a:solidFill>
              <a:srgbClr val="7A5C10"/>
            </a:solidFill>
            <a:prstDash val="solid"/>
          </a:ln>
        </p:spPr>
      </p:sp>
      <p:sp>
        <p:nvSpPr>
          <p:cNvPr id="19" name="S16 Rectangle 19"/>
          <p:cNvSpPr/>
          <p:nvPr/>
        </p:nvSpPr>
        <p:spPr>
          <a:xfrm>
            <a:off x="886968" y="5472684"/>
            <a:ext cx="1234440" cy="347472"/>
          </a:xfrm>
          <a:prstGeom prst="rect">
            <a:avLst/>
          </a:prstGeom>
          <a:solidFill>
            <a:srgbClr val="7A5C10"/>
          </a:solidFill>
          <a:ln/>
        </p:spPr>
        <p:txBody>
          <a:bodyPr wrap="square" lIns="0" tIns="0" rIns="0" bIns="0" rtlCol="0" anchor="ctr"/>
          <a:lstStyle/>
          <a:p>
            <a:pPr marL="0" indent="0" algn="ctr">
              <a:buNone/>
            </a:pPr>
            <a:r>
              <a:rPr lang="en-US" sz="1050" b="1" kern="0" spc="100" dirty="0">
                <a:solidFill>
                  <a:srgbClr val="F8F8F4"/>
                </a:solidFill>
                <a:latin typeface="Segoe UI" pitchFamily="34" charset="0"/>
                <a:ea typeface="Segoe UI" pitchFamily="34" charset="-122"/>
                <a:cs typeface="Segoe UI" pitchFamily="34" charset="-120"/>
              </a:rPr>
              <a:t>KẾT LUẬN</a:t>
            </a:r>
            <a:endParaRPr lang="en-US" sz="1050" dirty="0"/>
          </a:p>
        </p:txBody>
      </p:sp>
      <p:sp>
        <p:nvSpPr>
          <p:cNvPr id="20" name="S16 TextBox 20"/>
          <p:cNvSpPr txBox="1"/>
          <p:nvPr/>
        </p:nvSpPr>
        <p:spPr>
          <a:xfrm>
            <a:off x="2331720" y="5212080"/>
            <a:ext cx="9144000" cy="868680"/>
          </a:xfrm>
          <a:prstGeom prst="rect">
            <a:avLst/>
          </a:prstGeom>
          <a:noFill/>
          <a:ln/>
        </p:spPr>
        <p:txBody>
          <a:bodyPr wrap="square" lIns="0" tIns="0" rIns="0" bIns="0" rtlCol="0" anchor="ctr"/>
          <a:lstStyle/>
          <a:p>
            <a:pPr marL="0" indent="0">
              <a:buNone/>
            </a:pPr>
            <a:r>
              <a:rPr lang="en-US" sz="1500" dirty="0">
                <a:solidFill>
                  <a:srgbClr val="C8CFC9"/>
                </a:solidFill>
                <a:latin typeface="Segoe UI" pitchFamily="34" charset="0"/>
                <a:ea typeface="Segoe UI" pitchFamily="34" charset="-122"/>
                <a:cs typeface="Segoe UI" pitchFamily="34" charset="-120"/>
              </a:rPr>
              <a:t>Đồ án hoàn thành </a:t>
            </a:r>
            <a:r>
              <a:rPr lang="en-US" sz="1500" b="1" dirty="0">
                <a:solidFill>
                  <a:srgbClr val="F8F8F4"/>
                </a:solidFill>
                <a:latin typeface="Segoe UI" pitchFamily="34" charset="0"/>
                <a:ea typeface="Segoe UI" pitchFamily="34" charset="-122"/>
                <a:cs typeface="Segoe UI" pitchFamily="34" charset="-120"/>
              </a:rPr>
              <a:t>14 chức năng</a:t>
            </a:r>
            <a:r>
              <a:rPr lang="en-US" sz="1500" dirty="0">
                <a:solidFill>
                  <a:srgbClr val="C8CFC9"/>
                </a:solidFill>
                <a:latin typeface="Segoe UI" pitchFamily="34" charset="0"/>
                <a:ea typeface="Segoe UI" pitchFamily="34" charset="-122"/>
                <a:cs typeface="Segoe UI" pitchFamily="34" charset="-120"/>
              </a:rPr>
              <a:t> đã đăng ký cùng </a:t>
            </a:r>
            <a:r>
              <a:rPr lang="en-US" sz="1500" b="1" dirty="0">
                <a:solidFill>
                  <a:srgbClr val="F8F8F4"/>
                </a:solidFill>
                <a:latin typeface="Segoe UI" pitchFamily="34" charset="0"/>
                <a:ea typeface="Segoe UI" pitchFamily="34" charset="-122"/>
                <a:cs typeface="Segoe UI" pitchFamily="34" charset="-120"/>
              </a:rPr>
              <a:t>A07</a:t>
            </a:r>
            <a:r>
              <a:rPr lang="en-US" sz="1500" dirty="0">
                <a:solidFill>
                  <a:srgbClr val="C8CFC9"/>
                </a:solidFill>
                <a:latin typeface="Segoe UI" pitchFamily="34" charset="0"/>
                <a:ea typeface="Segoe UI" pitchFamily="34" charset="-122"/>
                <a:cs typeface="Segoe UI" pitchFamily="34" charset="-120"/>
              </a:rPr>
              <a:t>, với </a:t>
            </a:r>
            <a:r>
              <a:rPr lang="en-US" sz="1500" b="1" dirty="0">
                <a:solidFill>
                  <a:srgbClr val="F8F8F4"/>
                </a:solidFill>
                <a:latin typeface="Segoe UI" pitchFamily="34" charset="0"/>
                <a:ea typeface="Segoe UI" pitchFamily="34" charset="-122"/>
                <a:cs typeface="Segoe UI" pitchFamily="34" charset="-120"/>
              </a:rPr>
              <a:t>209 bản ghi</a:t>
            </a:r>
            <a:r>
              <a:rPr lang="en-US" sz="1500" dirty="0">
                <a:solidFill>
                  <a:srgbClr val="C8CFC9"/>
                </a:solidFill>
                <a:latin typeface="Segoe UI" pitchFamily="34" charset="0"/>
                <a:ea typeface="Segoe UI" pitchFamily="34" charset="-122"/>
                <a:cs typeface="Segoe UI" pitchFamily="34" charset="-120"/>
              </a:rPr>
              <a:t> có nguồn và </a:t>
            </a:r>
            <a:r>
              <a:rPr lang="en-US" sz="1500" b="1" dirty="0">
                <a:solidFill>
                  <a:srgbClr val="F8F8F4"/>
                </a:solidFill>
                <a:latin typeface="Segoe UI" pitchFamily="34" charset="0"/>
                <a:ea typeface="Segoe UI" pitchFamily="34" charset="-122"/>
                <a:cs typeface="Segoe UI" pitchFamily="34" charset="-120"/>
              </a:rPr>
              <a:t>50/50</a:t>
            </a:r>
            <a:r>
              <a:rPr lang="en-US" sz="1500" dirty="0">
                <a:solidFill>
                  <a:srgbClr val="C8CFC9"/>
                </a:solidFill>
                <a:latin typeface="Segoe UI" pitchFamily="34" charset="0"/>
                <a:ea typeface="Segoe UI" pitchFamily="34" charset="-122"/>
                <a:cs typeface="Segoe UI" pitchFamily="34" charset="-120"/>
              </a:rPr>
              <a:t> test case đạt.</a:t>
            </a:r>
            <a:endParaRPr lang="en-US" sz="1500" dirty="0"/>
          </a:p>
        </p:txBody>
      </p:sp>
      <p:sp>
        <p:nvSpPr>
          <p:cNvPr id="21" name="S16 TextBox 21"/>
          <p:cNvSpPr txBox="1"/>
          <p:nvPr/>
        </p:nvSpPr>
        <p:spPr>
          <a:xfrm>
            <a:off x="10972800" y="6455664"/>
            <a:ext cx="548640" cy="219456"/>
          </a:xfrm>
          <a:prstGeom prst="rect">
            <a:avLst/>
          </a:prstGeom>
          <a:noFill/>
          <a:ln/>
        </p:spPr>
        <p:txBody>
          <a:bodyPr wrap="square" lIns="0" tIns="0" rIns="0" bIns="0" rtlCol="0" anchor="t"/>
          <a:lstStyle/>
          <a:p>
            <a:pPr marL="0" indent="0" algn="r">
              <a:buNone/>
            </a:pPr>
            <a:r>
              <a:rPr lang="en-US" sz="900" dirty="0">
                <a:solidFill>
                  <a:srgbClr val="C8CFC9"/>
                </a:solidFill>
                <a:latin typeface="Segoe UI" pitchFamily="34" charset="0"/>
                <a:ea typeface="Segoe UI" pitchFamily="34" charset="-122"/>
                <a:cs typeface="Segoe UI" pitchFamily="34" charset="-120"/>
              </a:rPr>
              <a:t>16</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42"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anim calcmode="lin" valueType="num">
                                      <p:cBhvr>
                                        <p:cTn id="14" dur="500" fill="hold"/>
                                        <p:tgtEl>
                                          <p:spTgt spid="7"/>
                                        </p:tgtEl>
                                        <p:attrNameLst>
                                          <p:attrName>ppt_x</p:attrName>
                                        </p:attrNameLst>
                                      </p:cBhvr>
                                      <p:tavLst>
                                        <p:tav tm="0">
                                          <p:val>
                                            <p:strVal val="#ppt_x"/>
                                          </p:val>
                                        </p:tav>
                                        <p:tav tm="100000">
                                          <p:val>
                                            <p:strVal val="#ppt_x"/>
                                          </p:val>
                                        </p:tav>
                                      </p:tavLst>
                                    </p:anim>
                                    <p:anim calcmode="lin" valueType="num">
                                      <p:cBhvr>
                                        <p:cTn id="15" dur="500" fill="hold"/>
                                        <p:tgtEl>
                                          <p:spTgt spid="7"/>
                                        </p:tgtEl>
                                        <p:attrNameLst>
                                          <p:attrName>ppt_y</p:attrName>
                                        </p:attrNameLst>
                                      </p:cBhvr>
                                      <p:tavLst>
                                        <p:tav tm="0">
                                          <p:val>
                                            <p:strVal val="#ppt_y+.1"/>
                                          </p:val>
                                        </p:tav>
                                        <p:tav tm="100000">
                                          <p:val>
                                            <p:strVal val="#ppt_y"/>
                                          </p:val>
                                        </p:tav>
                                      </p:tavLst>
                                    </p:anim>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anim calcmode="lin" valueType="num">
                                      <p:cBhvr>
                                        <p:cTn id="24" dur="500" fill="hold"/>
                                        <p:tgtEl>
                                          <p:spTgt spid="9"/>
                                        </p:tgtEl>
                                        <p:attrNameLst>
                                          <p:attrName>ppt_x</p:attrName>
                                        </p:attrNameLst>
                                      </p:cBhvr>
                                      <p:tavLst>
                                        <p:tav tm="0">
                                          <p:val>
                                            <p:strVal val="#ppt_x"/>
                                          </p:val>
                                        </p:tav>
                                        <p:tav tm="100000">
                                          <p:val>
                                            <p:strVal val="#ppt_x"/>
                                          </p:val>
                                        </p:tav>
                                      </p:tavLst>
                                    </p:anim>
                                    <p:anim calcmode="lin" valueType="num">
                                      <p:cBhvr>
                                        <p:cTn id="25" dur="500" fill="hold"/>
                                        <p:tgtEl>
                                          <p:spTgt spid="9"/>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anim calcmode="lin" valueType="num">
                                      <p:cBhvr>
                                        <p:cTn id="29" dur="500" fill="hold"/>
                                        <p:tgtEl>
                                          <p:spTgt spid="10"/>
                                        </p:tgtEl>
                                        <p:attrNameLst>
                                          <p:attrName>ppt_x</p:attrName>
                                        </p:attrNameLst>
                                      </p:cBhvr>
                                      <p:tavLst>
                                        <p:tav tm="0">
                                          <p:val>
                                            <p:strVal val="#ppt_x"/>
                                          </p:val>
                                        </p:tav>
                                        <p:tav tm="100000">
                                          <p:val>
                                            <p:strVal val="#ppt_x"/>
                                          </p:val>
                                        </p:tav>
                                      </p:tavLst>
                                    </p:anim>
                                    <p:anim calcmode="lin" valueType="num">
                                      <p:cBhvr>
                                        <p:cTn id="30" dur="500" fill="hold"/>
                                        <p:tgtEl>
                                          <p:spTgt spid="10"/>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anim calcmode="lin" valueType="num">
                                      <p:cBhvr>
                                        <p:cTn id="34" dur="500" fill="hold"/>
                                        <p:tgtEl>
                                          <p:spTgt spid="11"/>
                                        </p:tgtEl>
                                        <p:attrNameLst>
                                          <p:attrName>ppt_x</p:attrName>
                                        </p:attrNameLst>
                                      </p:cBhvr>
                                      <p:tavLst>
                                        <p:tav tm="0">
                                          <p:val>
                                            <p:strVal val="#ppt_x"/>
                                          </p:val>
                                        </p:tav>
                                        <p:tav tm="100000">
                                          <p:val>
                                            <p:strVal val="#ppt_x"/>
                                          </p:val>
                                        </p:tav>
                                      </p:tavLst>
                                    </p:anim>
                                    <p:anim calcmode="lin" valueType="num">
                                      <p:cBhvr>
                                        <p:cTn id="35"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anim calcmode="lin" valueType="num">
                                      <p:cBhvr>
                                        <p:cTn id="41" dur="500" fill="hold"/>
                                        <p:tgtEl>
                                          <p:spTgt spid="12"/>
                                        </p:tgtEl>
                                        <p:attrNameLst>
                                          <p:attrName>ppt_x</p:attrName>
                                        </p:attrNameLst>
                                      </p:cBhvr>
                                      <p:tavLst>
                                        <p:tav tm="0">
                                          <p:val>
                                            <p:strVal val="#ppt_x"/>
                                          </p:val>
                                        </p:tav>
                                        <p:tav tm="100000">
                                          <p:val>
                                            <p:strVal val="#ppt_x"/>
                                          </p:val>
                                        </p:tav>
                                      </p:tavLst>
                                    </p:anim>
                                    <p:anim calcmode="lin" valueType="num">
                                      <p:cBhvr>
                                        <p:cTn id="42" dur="500" fill="hold"/>
                                        <p:tgtEl>
                                          <p:spTgt spid="12"/>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anim calcmode="lin" valueType="num">
                                      <p:cBhvr>
                                        <p:cTn id="46" dur="500" fill="hold"/>
                                        <p:tgtEl>
                                          <p:spTgt spid="13"/>
                                        </p:tgtEl>
                                        <p:attrNameLst>
                                          <p:attrName>ppt_x</p:attrName>
                                        </p:attrNameLst>
                                      </p:cBhvr>
                                      <p:tavLst>
                                        <p:tav tm="0">
                                          <p:val>
                                            <p:strVal val="#ppt_x"/>
                                          </p:val>
                                        </p:tav>
                                        <p:tav tm="100000">
                                          <p:val>
                                            <p:strVal val="#ppt_x"/>
                                          </p:val>
                                        </p:tav>
                                      </p:tavLst>
                                    </p:anim>
                                    <p:anim calcmode="lin" valueType="num">
                                      <p:cBhvr>
                                        <p:cTn id="47" dur="500" fill="hold"/>
                                        <p:tgtEl>
                                          <p:spTgt spid="13"/>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anim calcmode="lin" valueType="num">
                                      <p:cBhvr>
                                        <p:cTn id="51" dur="500" fill="hold"/>
                                        <p:tgtEl>
                                          <p:spTgt spid="14"/>
                                        </p:tgtEl>
                                        <p:attrNameLst>
                                          <p:attrName>ppt_x</p:attrName>
                                        </p:attrNameLst>
                                      </p:cBhvr>
                                      <p:tavLst>
                                        <p:tav tm="0">
                                          <p:val>
                                            <p:strVal val="#ppt_x"/>
                                          </p:val>
                                        </p:tav>
                                        <p:tav tm="100000">
                                          <p:val>
                                            <p:strVal val="#ppt_x"/>
                                          </p:val>
                                        </p:tav>
                                      </p:tavLst>
                                    </p:anim>
                                    <p:anim calcmode="lin" valueType="num">
                                      <p:cBhvr>
                                        <p:cTn id="52"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anim calcmode="lin" valueType="num">
                                      <p:cBhvr>
                                        <p:cTn id="58" dur="500" fill="hold"/>
                                        <p:tgtEl>
                                          <p:spTgt spid="15"/>
                                        </p:tgtEl>
                                        <p:attrNameLst>
                                          <p:attrName>ppt_x</p:attrName>
                                        </p:attrNameLst>
                                      </p:cBhvr>
                                      <p:tavLst>
                                        <p:tav tm="0">
                                          <p:val>
                                            <p:strVal val="#ppt_x"/>
                                          </p:val>
                                        </p:tav>
                                        <p:tav tm="100000">
                                          <p:val>
                                            <p:strVal val="#ppt_x"/>
                                          </p:val>
                                        </p:tav>
                                      </p:tavLst>
                                    </p:anim>
                                    <p:anim calcmode="lin" valueType="num">
                                      <p:cBhvr>
                                        <p:cTn id="59" dur="50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anim calcmode="lin" valueType="num">
                                      <p:cBhvr>
                                        <p:cTn id="63" dur="500" fill="hold"/>
                                        <p:tgtEl>
                                          <p:spTgt spid="16"/>
                                        </p:tgtEl>
                                        <p:attrNameLst>
                                          <p:attrName>ppt_x</p:attrName>
                                        </p:attrNameLst>
                                      </p:cBhvr>
                                      <p:tavLst>
                                        <p:tav tm="0">
                                          <p:val>
                                            <p:strVal val="#ppt_x"/>
                                          </p:val>
                                        </p:tav>
                                        <p:tav tm="100000">
                                          <p:val>
                                            <p:strVal val="#ppt_x"/>
                                          </p:val>
                                        </p:tav>
                                      </p:tavLst>
                                    </p:anim>
                                    <p:anim calcmode="lin" valueType="num">
                                      <p:cBhvr>
                                        <p:cTn id="64" dur="500" fill="hold"/>
                                        <p:tgtEl>
                                          <p:spTgt spid="16"/>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anim calcmode="lin" valueType="num">
                                      <p:cBhvr>
                                        <p:cTn id="68" dur="500" fill="hold"/>
                                        <p:tgtEl>
                                          <p:spTgt spid="17"/>
                                        </p:tgtEl>
                                        <p:attrNameLst>
                                          <p:attrName>ppt_x</p:attrName>
                                        </p:attrNameLst>
                                      </p:cBhvr>
                                      <p:tavLst>
                                        <p:tav tm="0">
                                          <p:val>
                                            <p:strVal val="#ppt_x"/>
                                          </p:val>
                                        </p:tav>
                                        <p:tav tm="100000">
                                          <p:val>
                                            <p:strVal val="#ppt_x"/>
                                          </p:val>
                                        </p:tav>
                                      </p:tavLst>
                                    </p:anim>
                                    <p:anim calcmode="lin" valueType="num">
                                      <p:cBhvr>
                                        <p:cTn id="69" dur="500" fill="hold"/>
                                        <p:tgtEl>
                                          <p:spTgt spid="17"/>
                                        </p:tgtEl>
                                        <p:attrNameLst>
                                          <p:attrName>ppt_y</p:attrName>
                                        </p:attrNameLst>
                                      </p:cBhvr>
                                      <p:tavLst>
                                        <p:tav tm="0">
                                          <p:val>
                                            <p:strVal val="#ppt_y+.1"/>
                                          </p:val>
                                        </p:tav>
                                        <p:tav tm="100000">
                                          <p:val>
                                            <p:strVal val="#ppt_y"/>
                                          </p:val>
                                        </p:tav>
                                      </p:tavLst>
                                    </p:anim>
                                  </p:childTnLst>
                                </p:cTn>
                              </p:par>
                              <p:par>
                                <p:cTn id="70" presetID="10" presetClass="entr" presetSubtype="0" fill="hold" nodeType="withEffect">
                                  <p:stCondLst>
                                    <p:cond delay="12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par>
                                <p:cTn id="73" presetID="10" presetClass="entr" presetSubtype="0" fill="hold" grpId="0" nodeType="withEffect">
                                  <p:stCondLst>
                                    <p:cond delay="12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500"/>
                                        <p:tgtEl>
                                          <p:spTgt spid="19"/>
                                        </p:tgtEl>
                                      </p:cBhvr>
                                    </p:animEffect>
                                  </p:childTnLst>
                                </p:cTn>
                              </p:par>
                              <p:par>
                                <p:cTn id="76" presetID="10" presetClass="entr" presetSubtype="0" fill="hold" grpId="0" nodeType="withEffect">
                                  <p:stCondLst>
                                    <p:cond delay="24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P spid="13" grpId="0" animBg="1"/>
      <p:bldP spid="14" grpId="0" animBg="1"/>
      <p:bldP spid="16" grpId="0" animBg="1"/>
      <p:bldP spid="17" grpId="0" animBg="1"/>
      <p:bldP spid="19" grpId="0" animBg="1"/>
      <p:bldP spid="2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8F4"/>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11064240" cy="274320"/>
          </a:xfrm>
          <a:prstGeom prst="rect">
            <a:avLst/>
          </a:prstGeom>
          <a:noFill/>
          <a:ln/>
        </p:spPr>
        <p:txBody>
          <a:bodyPr wrap="square" lIns="0" tIns="0" rIns="0" bIns="0" rtlCol="0" anchor="t"/>
          <a:lstStyle/>
          <a:p>
            <a:pPr marL="0" indent="0">
              <a:buNone/>
            </a:pPr>
            <a:r>
              <a:rPr lang="en-US" sz="1100" b="1" kern="0" spc="200" dirty="0">
                <a:solidFill>
                  <a:srgbClr val="43705F"/>
                </a:solidFill>
                <a:latin typeface="Segoe UI" pitchFamily="34" charset="0"/>
                <a:ea typeface="Segoe UI" pitchFamily="34" charset="-122"/>
                <a:cs typeface="Segoe UI" pitchFamily="34" charset="-120"/>
              </a:rPr>
              <a:t>TỔNG KẾT</a:t>
            </a:r>
            <a:endParaRPr lang="en-US" sz="1100" dirty="0"/>
          </a:p>
        </p:txBody>
      </p:sp>
      <p:sp>
        <p:nvSpPr>
          <p:cNvPr id="3" name="TextBox 2"/>
          <p:cNvSpPr txBox="1"/>
          <p:nvPr/>
        </p:nvSpPr>
        <p:spPr>
          <a:xfrm>
            <a:off x="548640" y="713232"/>
            <a:ext cx="11064240" cy="640080"/>
          </a:xfrm>
          <a:prstGeom prst="rect">
            <a:avLst/>
          </a:prstGeom>
          <a:noFill/>
          <a:ln/>
        </p:spPr>
        <p:txBody>
          <a:bodyPr wrap="square" lIns="0" tIns="0" rIns="0" bIns="0" rtlCol="0" anchor="t"/>
          <a:lstStyle/>
          <a:p>
            <a:pPr marL="0" indent="0">
              <a:buNone/>
            </a:pPr>
            <a:r>
              <a:rPr lang="en-US" sz="3200" b="1" dirty="0">
                <a:solidFill>
                  <a:srgbClr val="1C2B25"/>
                </a:solidFill>
                <a:latin typeface="Cambria" pitchFamily="34" charset="0"/>
                <a:ea typeface="Cambria" pitchFamily="34" charset="-122"/>
                <a:cs typeface="Cambria" pitchFamily="34" charset="-120"/>
              </a:rPr>
              <a:t>Mã nguồn và video thuyết trình</a:t>
            </a:r>
            <a:endParaRPr lang="en-US" sz="3200" dirty="0"/>
          </a:p>
        </p:txBody>
      </p:sp>
      <p:sp>
        <p:nvSpPr>
          <p:cNvPr id="4" name="Rectangle 3"/>
          <p:cNvSpPr/>
          <p:nvPr/>
        </p:nvSpPr>
        <p:spPr>
          <a:xfrm>
            <a:off x="548640" y="1554480"/>
            <a:ext cx="7772400" cy="2743200"/>
          </a:xfrm>
          <a:prstGeom prst="rect">
            <a:avLst/>
          </a:prstGeom>
          <a:solidFill>
            <a:srgbClr val="FFFFFF"/>
          </a:solidFill>
          <a:ln w="9525">
            <a:solidFill>
              <a:srgbClr val="C9CDC2"/>
            </a:solidFill>
            <a:prstDash val="solid"/>
          </a:ln>
          <a:effectLst>
            <a:outerShdw blurRad="127000" dist="25400" dir="5400000" algn="bl" rotWithShape="0">
              <a:srgbClr val="000000">
                <a:alpha val="12000"/>
              </a:srgbClr>
            </a:outerShdw>
          </a:effectLst>
        </p:spPr>
      </p:sp>
      <p:sp>
        <p:nvSpPr>
          <p:cNvPr id="5" name="Oval 4"/>
          <p:cNvSpPr/>
          <p:nvPr/>
        </p:nvSpPr>
        <p:spPr>
          <a:xfrm>
            <a:off x="822960" y="1810512"/>
            <a:ext cx="640080" cy="640080"/>
          </a:xfrm>
          <a:prstGeom prst="ellipse">
            <a:avLst/>
          </a:prstGeom>
          <a:solidFill>
            <a:srgbClr val="12201B"/>
          </a:solidFill>
          <a:ln/>
        </p:spPr>
      </p:sp>
      <p:pic>
        <p:nvPicPr>
          <p:cNvPr id="6" name="Picture 5" descr="D:\02_learning\Courses\DXTTT8\.thuc-tap-co-so-nganh\_workspace\69_slide\assets\github_F8F8F4.png"/>
          <p:cNvPicPr>
            <a:picLocks noChangeAspect="1"/>
          </p:cNvPicPr>
          <p:nvPr/>
        </p:nvPicPr>
        <p:blipFill>
          <a:blip r:embed="rId3"/>
          <a:stretch>
            <a:fillRect/>
          </a:stretch>
        </p:blipFill>
        <p:spPr>
          <a:xfrm>
            <a:off x="976579" y="1964131"/>
            <a:ext cx="332842" cy="332842"/>
          </a:xfrm>
          <a:prstGeom prst="rect">
            <a:avLst/>
          </a:prstGeom>
        </p:spPr>
      </p:pic>
      <p:sp>
        <p:nvSpPr>
          <p:cNvPr id="7" name="TextBox 6"/>
          <p:cNvSpPr txBox="1"/>
          <p:nvPr/>
        </p:nvSpPr>
        <p:spPr>
          <a:xfrm>
            <a:off x="1645920" y="1810512"/>
            <a:ext cx="6400800" cy="640080"/>
          </a:xfrm>
          <a:prstGeom prst="rect">
            <a:avLst/>
          </a:prstGeom>
          <a:noFill/>
          <a:ln/>
        </p:spPr>
        <p:txBody>
          <a:bodyPr wrap="square" lIns="0" tIns="0" rIns="0" bIns="0" rtlCol="0" anchor="ctr"/>
          <a:lstStyle/>
          <a:p>
            <a:pPr marL="0" indent="0">
              <a:buNone/>
            </a:pPr>
            <a:r>
              <a:rPr lang="en-US" sz="1900" b="1" dirty="0">
                <a:solidFill>
                  <a:srgbClr val="1C2B25"/>
                </a:solidFill>
                <a:latin typeface="Cambria" pitchFamily="34" charset="0"/>
                <a:ea typeface="Cambria" pitchFamily="34" charset="-122"/>
                <a:cs typeface="Cambria" pitchFamily="34" charset="-120"/>
              </a:rPr>
              <a:t>Mã nguồn trên GitHub</a:t>
            </a:r>
            <a:endParaRPr lang="en-US" sz="1900" dirty="0"/>
          </a:p>
        </p:txBody>
      </p:sp>
      <p:sp>
        <p:nvSpPr>
          <p:cNvPr id="8" name="TextBox 7"/>
          <p:cNvSpPr txBox="1"/>
          <p:nvPr/>
        </p:nvSpPr>
        <p:spPr>
          <a:xfrm>
            <a:off x="822960" y="2633472"/>
            <a:ext cx="7269480" cy="731520"/>
          </a:xfrm>
          <a:prstGeom prst="rect">
            <a:avLst/>
          </a:prstGeom>
          <a:noFill/>
          <a:ln/>
        </p:spPr>
        <p:txBody>
          <a:bodyPr wrap="square" lIns="0" tIns="0" rIns="0" bIns="0" rtlCol="0" anchor="t"/>
          <a:lstStyle/>
          <a:p>
            <a:pPr marL="0" indent="0">
              <a:buNone/>
            </a:pPr>
            <a:r>
              <a:rPr lang="en-US" sz="1400" u="sng" dirty="0">
                <a:solidFill>
                  <a:srgbClr val="9E2B25"/>
                </a:solidFill>
                <a:latin typeface="Segoe UI" pitchFamily="34" charset="0"/>
                <a:ea typeface="Segoe UI" pitchFamily="34" charset="-122"/>
                <a:cs typeface="Segoe UI" pitchFamily="34" charset="-120"/>
                <a:hlinkClick r:id="rId4">
                  <a:extLst>
                    <a:ext uri="{A12FA001-AC4F-418D-AE19-62706E023703}">
                      <ahyp:hlinkClr xmlns:ahyp="http://schemas.microsoft.com/office/drawing/2018/hyperlinkcolor" val="tx"/>
                    </a:ext>
                  </a:extLst>
                </a:hlinkClick>
              </a:rPr>
              <a:t>https://github.com/doits930/</a:t>
            </a:r>
            <a:endParaRPr lang="en-US" sz="1400" dirty="0"/>
          </a:p>
          <a:p>
            <a:pPr marL="0" indent="0">
              <a:buNone/>
            </a:pPr>
            <a:r>
              <a:rPr lang="en-US" sz="1400" u="sng" dirty="0">
                <a:solidFill>
                  <a:srgbClr val="9E2B25"/>
                </a:solidFill>
                <a:latin typeface="Segoe UI" pitchFamily="34" charset="0"/>
                <a:ea typeface="Segoe UI" pitchFamily="34" charset="-122"/>
                <a:cs typeface="Segoe UI" pitchFamily="34" charset="-120"/>
                <a:hlinkClick r:id="rId4">
                  <a:extLst>
                    <a:ext uri="{A12FA001-AC4F-418D-AE19-62706E023703}">
                      <ahyp:hlinkClr xmlns:ahyp="http://schemas.microsoft.com/office/drawing/2018/hyperlinkcolor" val="tx"/>
                    </a:ext>
                  </a:extLst>
                </a:hlinkClick>
              </a:rPr>
              <a:t>csn-dx24tt8-phamvanphong-gioithieuditichlichsuvavanhoavietnam-asp.netmvc</a:t>
            </a:r>
            <a:endParaRPr lang="en-US" sz="1400" dirty="0"/>
          </a:p>
        </p:txBody>
      </p:sp>
      <p:sp>
        <p:nvSpPr>
          <p:cNvPr id="9" name="TextBox 8"/>
          <p:cNvSpPr txBox="1"/>
          <p:nvPr/>
        </p:nvSpPr>
        <p:spPr>
          <a:xfrm>
            <a:off x="822960" y="3474720"/>
            <a:ext cx="7269480" cy="685800"/>
          </a:xfrm>
          <a:prstGeom prst="rect">
            <a:avLst/>
          </a:prstGeom>
          <a:noFill/>
          <a:ln/>
        </p:spPr>
        <p:txBody>
          <a:bodyPr wrap="square" lIns="0" tIns="0" rIns="0" bIns="0" rtlCol="0" anchor="t"/>
          <a:lstStyle/>
          <a:p>
            <a:pPr marL="0" indent="0">
              <a:buNone/>
            </a:pPr>
            <a:r>
              <a:rPr lang="en-US" sz="1250" dirty="0">
                <a:solidFill>
                  <a:srgbClr val="4E5B54"/>
                </a:solidFill>
                <a:latin typeface="Segoe UI" pitchFamily="34" charset="0"/>
                <a:ea typeface="Segoe UI" pitchFamily="34" charset="-122"/>
                <a:cs typeface="Segoe UI" pitchFamily="34" charset="-120"/>
              </a:rPr>
              <a:t>Gồm mã nguồn, migration, dữ liệu khởi tạo, ảnh, hướng dẫn cài đặt (thư mục setup) và tệp Docker Compose (thư mục docker).</a:t>
            </a:r>
            <a:endParaRPr lang="en-US" sz="1250" dirty="0"/>
          </a:p>
        </p:txBody>
      </p:sp>
      <p:sp>
        <p:nvSpPr>
          <p:cNvPr id="10" name="Rectangle 9"/>
          <p:cNvSpPr/>
          <p:nvPr/>
        </p:nvSpPr>
        <p:spPr>
          <a:xfrm>
            <a:off x="8641080" y="1554480"/>
            <a:ext cx="2999232" cy="2743200"/>
          </a:xfrm>
          <a:prstGeom prst="rect">
            <a:avLst/>
          </a:prstGeom>
          <a:solidFill>
            <a:srgbClr val="FFFFFF"/>
          </a:solidFill>
          <a:ln w="9525">
            <a:solidFill>
              <a:srgbClr val="C9CDC2"/>
            </a:solidFill>
            <a:prstDash val="solid"/>
          </a:ln>
          <a:effectLst>
            <a:outerShdw blurRad="127000" dist="25400" dir="5400000" algn="bl" rotWithShape="0">
              <a:srgbClr val="000000">
                <a:alpha val="12000"/>
              </a:srgbClr>
            </a:outerShdw>
          </a:effectLst>
        </p:spPr>
      </p:sp>
      <p:pic>
        <p:nvPicPr>
          <p:cNvPr id="11" name="Picture 10" descr="Mã QR dẫn tới repository GitHub"/>
          <p:cNvPicPr>
            <a:picLocks noChangeAspect="1"/>
          </p:cNvPicPr>
          <p:nvPr/>
        </p:nvPicPr>
        <p:blipFill>
          <a:blip r:embed="rId5"/>
          <a:stretch>
            <a:fillRect/>
          </a:stretch>
        </p:blipFill>
        <p:spPr>
          <a:xfrm>
            <a:off x="9043416" y="1691640"/>
            <a:ext cx="2194560" cy="2194560"/>
          </a:xfrm>
          <a:prstGeom prst="rect">
            <a:avLst/>
          </a:prstGeom>
        </p:spPr>
      </p:pic>
      <p:sp>
        <p:nvSpPr>
          <p:cNvPr id="12" name="TextBox 11"/>
          <p:cNvSpPr txBox="1"/>
          <p:nvPr/>
        </p:nvSpPr>
        <p:spPr>
          <a:xfrm>
            <a:off x="8641080" y="3931920"/>
            <a:ext cx="2999232" cy="274320"/>
          </a:xfrm>
          <a:prstGeom prst="rect">
            <a:avLst/>
          </a:prstGeom>
          <a:noFill/>
          <a:ln/>
        </p:spPr>
        <p:txBody>
          <a:bodyPr wrap="square" lIns="0" tIns="0" rIns="0" bIns="0" rtlCol="0" anchor="t"/>
          <a:lstStyle/>
          <a:p>
            <a:pPr marL="0" indent="0" algn="ctr">
              <a:buNone/>
            </a:pPr>
            <a:r>
              <a:rPr lang="en-US" sz="1100" dirty="0">
                <a:solidFill>
                  <a:srgbClr val="4E5B54"/>
                </a:solidFill>
                <a:latin typeface="Segoe UI" pitchFamily="34" charset="0"/>
                <a:ea typeface="Segoe UI" pitchFamily="34" charset="-122"/>
                <a:cs typeface="Segoe UI" pitchFamily="34" charset="-120"/>
              </a:rPr>
              <a:t>Quét để mở repository</a:t>
            </a:r>
            <a:endParaRPr lang="en-US" sz="1100" dirty="0"/>
          </a:p>
        </p:txBody>
      </p:sp>
      <p:sp>
        <p:nvSpPr>
          <p:cNvPr id="13" name="Rectangle 12"/>
          <p:cNvSpPr/>
          <p:nvPr/>
        </p:nvSpPr>
        <p:spPr>
          <a:xfrm>
            <a:off x="548640" y="4572000"/>
            <a:ext cx="11091672" cy="1691640"/>
          </a:xfrm>
          <a:prstGeom prst="rect">
            <a:avLst/>
          </a:prstGeom>
          <a:solidFill>
            <a:srgbClr val="E6E8E1"/>
          </a:solidFill>
          <a:ln/>
        </p:spPr>
      </p:sp>
      <p:sp>
        <p:nvSpPr>
          <p:cNvPr id="14" name="TextBox 13"/>
          <p:cNvSpPr txBox="1"/>
          <p:nvPr/>
        </p:nvSpPr>
        <p:spPr>
          <a:xfrm>
            <a:off x="822960" y="4754880"/>
            <a:ext cx="10543032" cy="1325880"/>
          </a:xfrm>
          <a:prstGeom prst="rect">
            <a:avLst/>
          </a:prstGeom>
          <a:noFill/>
          <a:ln/>
        </p:spPr>
        <p:txBody>
          <a:bodyPr wrap="square" lIns="0" tIns="0" rIns="0" bIns="0" rtlCol="0" anchor="t"/>
          <a:lstStyle/>
          <a:p>
            <a:pPr marL="0" indent="0">
              <a:buNone/>
            </a:pPr>
            <a:r>
              <a:rPr lang="en-US" sz="1800" b="1" dirty="0">
                <a:solidFill>
                  <a:srgbClr val="1C2B25"/>
                </a:solidFill>
                <a:latin typeface="Segoe UI" pitchFamily="34" charset="0"/>
                <a:ea typeface="Segoe UI" pitchFamily="34" charset="-122"/>
                <a:cs typeface="Segoe UI" pitchFamily="34" charset="-120"/>
              </a:rPr>
              <a:t>Video thuyết trình: </a:t>
            </a:r>
            <a:endParaRPr lang="en-US" sz="1800" dirty="0"/>
          </a:p>
        </p:txBody>
      </p:sp>
      <p:sp>
        <p:nvSpPr>
          <p:cNvPr id="15" name="TextBox 14"/>
          <p:cNvSpPr txBox="1"/>
          <p:nvPr/>
        </p:nvSpPr>
        <p:spPr>
          <a:xfrm>
            <a:off x="11091672" y="6419088"/>
            <a:ext cx="548640" cy="256032"/>
          </a:xfrm>
          <a:prstGeom prst="rect">
            <a:avLst/>
          </a:prstGeom>
          <a:noFill/>
          <a:ln/>
        </p:spPr>
        <p:txBody>
          <a:bodyPr wrap="square" lIns="0" tIns="0" rIns="0" bIns="0" rtlCol="0" anchor="t"/>
          <a:lstStyle/>
          <a:p>
            <a:pPr marL="0" indent="0" algn="r">
              <a:buNone/>
            </a:pPr>
            <a:r>
              <a:rPr lang="en-US" sz="1000" dirty="0">
                <a:solidFill>
                  <a:srgbClr val="4E5B54"/>
                </a:solidFill>
                <a:latin typeface="Segoe UI" pitchFamily="34" charset="0"/>
                <a:ea typeface="Segoe UI" pitchFamily="34" charset="-122"/>
                <a:cs typeface="Segoe UI" pitchFamily="34" charset="-120"/>
              </a:rPr>
              <a:t>17</a:t>
            </a:r>
            <a:endParaRPr lang="en-US" sz="1000" dirty="0"/>
          </a:p>
        </p:txBody>
      </p:sp>
    </p:spTree>
    <p:extLst>
      <p:ext uri="{BB962C8B-B14F-4D97-AF65-F5344CB8AC3E}">
        <p14:creationId xmlns:p14="http://schemas.microsoft.com/office/powerpoint/2010/main" val="2412177355"/>
      </p:ext>
    </p:extLst>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childTnLst>
                                </p:cTn>
                              </p:par>
                              <p:par>
                                <p:cTn id="23" presetID="10" presetClass="entr" presetSubtype="0" fill="hold" nodeType="withEffect">
                                  <p:stCondLst>
                                    <p:cond delay="8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600"/>
                                        <p:tgtEl>
                                          <p:spTgt spid="10"/>
                                        </p:tgtEl>
                                      </p:cBhvr>
                                    </p:animEffect>
                                  </p:childTnLst>
                                </p:cTn>
                              </p:par>
                              <p:par>
                                <p:cTn id="26" presetID="10" presetClass="entr" presetSubtype="0" fill="hold" nodeType="withEffect">
                                  <p:stCondLst>
                                    <p:cond delay="8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600"/>
                                        <p:tgtEl>
                                          <p:spTgt spid="11"/>
                                        </p:tgtEl>
                                      </p:cBhvr>
                                    </p:animEffect>
                                  </p:childTnLst>
                                </p:cTn>
                              </p:par>
                              <p:par>
                                <p:cTn id="29" presetID="10" presetClass="entr" presetSubtype="0" fill="hold" grpId="0" nodeType="withEffect">
                                  <p:stCondLst>
                                    <p:cond delay="8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600"/>
                                        <p:tgtEl>
                                          <p:spTgt spid="12"/>
                                        </p:tgtEl>
                                      </p:cBhvr>
                                    </p:animEffect>
                                  </p:childTnLst>
                                </p:cTn>
                              </p:par>
                              <p:par>
                                <p:cTn id="32" presetID="10" presetClass="entr" presetSubtype="0" fill="hold" nodeType="withEffect">
                                  <p:stCondLst>
                                    <p:cond delay="16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childTnLst>
                                </p:cTn>
                              </p:par>
                              <p:par>
                                <p:cTn id="35" presetID="10" presetClass="entr" presetSubtype="0" fill="hold" grpId="0" nodeType="withEffect">
                                  <p:stCondLst>
                                    <p:cond delay="16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2" grpId="0" animBg="1"/>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2201B"/>
        </a:solidFill>
        <a:effectLst/>
      </p:bgPr>
    </p:bg>
    <p:spTree>
      <p:nvGrpSpPr>
        <p:cNvPr id="1" name=""/>
        <p:cNvGrpSpPr/>
        <p:nvPr/>
      </p:nvGrpSpPr>
      <p:grpSpPr>
        <a:xfrm>
          <a:off x="0" y="0"/>
          <a:ext cx="0" cy="0"/>
          <a:chOff x="0" y="0"/>
          <a:chExt cx="0" cy="0"/>
        </a:xfrm>
      </p:grpSpPr>
      <p:pic>
        <p:nvPicPr>
          <p:cNvPr id="2" name="Picture 1" descr="Chùa Cầu, Hội An"/>
          <p:cNvPicPr>
            <a:picLocks noChangeAspect="1"/>
          </p:cNvPicPr>
          <p:nvPr/>
        </p:nvPicPr>
        <p:blipFill>
          <a:blip r:embed="rId3"/>
          <a:stretch>
            <a:fillRect/>
          </a:stretch>
        </p:blipFill>
        <p:spPr>
          <a:xfrm>
            <a:off x="6400800" y="1005840"/>
            <a:ext cx="5239512" cy="3584448"/>
          </a:xfrm>
          <a:prstGeom prst="rect">
            <a:avLst/>
          </a:prstGeom>
        </p:spPr>
      </p:pic>
      <p:sp>
        <p:nvSpPr>
          <p:cNvPr id="4" name="TextBox 3"/>
          <p:cNvSpPr txBox="1"/>
          <p:nvPr/>
        </p:nvSpPr>
        <p:spPr>
          <a:xfrm>
            <a:off x="640080" y="1737360"/>
            <a:ext cx="5394960" cy="1463040"/>
          </a:xfrm>
          <a:prstGeom prst="rect">
            <a:avLst/>
          </a:prstGeom>
          <a:noFill/>
          <a:ln/>
        </p:spPr>
        <p:txBody>
          <a:bodyPr wrap="square" lIns="0" tIns="0" rIns="0" bIns="0" rtlCol="0" anchor="t"/>
          <a:lstStyle/>
          <a:p>
            <a:pPr marL="0" indent="0">
              <a:buNone/>
            </a:pPr>
            <a:r>
              <a:rPr lang="en-US" sz="4200" b="1" dirty="0">
                <a:solidFill>
                  <a:srgbClr val="F8F8F4"/>
                </a:solidFill>
                <a:latin typeface="Cambria" pitchFamily="34" charset="0"/>
                <a:ea typeface="Cambria" pitchFamily="34" charset="-122"/>
                <a:cs typeface="Cambria" pitchFamily="34" charset="-120"/>
              </a:rPr>
              <a:t>Em xin chân thành cảm ơn</a:t>
            </a:r>
            <a:endParaRPr lang="en-US" sz="4200" dirty="0"/>
          </a:p>
        </p:txBody>
      </p:sp>
      <p:sp>
        <p:nvSpPr>
          <p:cNvPr id="5" name="TextBox 4"/>
          <p:cNvSpPr txBox="1"/>
          <p:nvPr/>
        </p:nvSpPr>
        <p:spPr>
          <a:xfrm>
            <a:off x="640080" y="3337560"/>
            <a:ext cx="5120640" cy="1097280"/>
          </a:xfrm>
          <a:prstGeom prst="rect">
            <a:avLst/>
          </a:prstGeom>
          <a:noFill/>
          <a:ln/>
        </p:spPr>
        <p:txBody>
          <a:bodyPr wrap="square" lIns="0" tIns="0" rIns="0" bIns="0" rtlCol="0" anchor="t"/>
          <a:lstStyle/>
          <a:p>
            <a:pPr marL="0" indent="0">
              <a:buNone/>
            </a:pPr>
            <a:r>
              <a:rPr lang="en-US" sz="1700" dirty="0" err="1">
                <a:solidFill>
                  <a:srgbClr val="C8CFC9"/>
                </a:solidFill>
                <a:latin typeface="Segoe UI" pitchFamily="34" charset="0"/>
                <a:ea typeface="Segoe UI" pitchFamily="34" charset="-122"/>
                <a:cs typeface="Segoe UI" pitchFamily="34" charset="-120"/>
              </a:rPr>
              <a:t>Thầy</a:t>
            </a:r>
            <a:r>
              <a:rPr lang="en-US" sz="1700" dirty="0">
                <a:solidFill>
                  <a:srgbClr val="C8CFC9"/>
                </a:solidFill>
                <a:latin typeface="Segoe UI" pitchFamily="34" charset="0"/>
                <a:ea typeface="Segoe UI" pitchFamily="34" charset="-122"/>
                <a:cs typeface="Segoe UI" pitchFamily="34" charset="-120"/>
              </a:rPr>
              <a:t> Trầm Hoàng Nam và quý thầy cô đã lắng nghe. Em rất mong nhận được góp ý để hoàn thiện đồ án.</a:t>
            </a:r>
            <a:endParaRPr lang="en-US" sz="1700" dirty="0"/>
          </a:p>
        </p:txBody>
      </p:sp>
      <p:sp>
        <p:nvSpPr>
          <p:cNvPr id="6" name="TextBox 5"/>
          <p:cNvSpPr txBox="1"/>
          <p:nvPr/>
        </p:nvSpPr>
        <p:spPr>
          <a:xfrm>
            <a:off x="640080" y="5989320"/>
            <a:ext cx="5486400" cy="320040"/>
          </a:xfrm>
          <a:prstGeom prst="rect">
            <a:avLst/>
          </a:prstGeom>
          <a:noFill/>
          <a:ln/>
        </p:spPr>
        <p:txBody>
          <a:bodyPr wrap="square" lIns="0" tIns="0" rIns="0" bIns="0" rtlCol="0" anchor="t"/>
          <a:lstStyle/>
          <a:p>
            <a:pPr marL="0" indent="0">
              <a:buNone/>
            </a:pPr>
            <a:r>
              <a:rPr lang="en-US" sz="1200" dirty="0">
                <a:solidFill>
                  <a:srgbClr val="C8CFC9"/>
                </a:solidFill>
                <a:latin typeface="Segoe UI" pitchFamily="34" charset="0"/>
                <a:ea typeface="Segoe UI" pitchFamily="34" charset="-122"/>
                <a:cs typeface="Segoe UI" pitchFamily="34" charset="-120"/>
              </a:rPr>
              <a:t>Phạm Văn Phong  ·  170124953  ·  DX24TT8</a:t>
            </a:r>
            <a:endParaRPr lang="en-US" sz="1200" dirty="0"/>
          </a:p>
        </p:txBody>
      </p:sp>
    </p:spTree>
    <p:extLst>
      <p:ext uri="{BB962C8B-B14F-4D97-AF65-F5344CB8AC3E}">
        <p14:creationId xmlns:p14="http://schemas.microsoft.com/office/powerpoint/2010/main" val="3232037218"/>
      </p:ext>
    </p:extLst>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8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grpId="0" nodeType="withEffect">
                                  <p:stCondLst>
                                    <p:cond delay="16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grpId="0" nodeType="withEffect">
                                  <p:stCondLst>
                                    <p:cond delay="16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9E2B25"/>
      </a:hlink>
      <a:folHlink>
        <a:srgbClr val="9E2B25"/>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4459</Words>
  <Application>Microsoft Office PowerPoint</Application>
  <PresentationFormat>Widescreen</PresentationFormat>
  <Paragraphs>358</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Cambria</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Xây dựng website giới thiệu di tích lịch sử và văn hóa Việt Nam</dc:title>
  <dc:subject>Thuyết trình đồ án thực tập cơ sở ngành</dc:subject>
  <dc:creator>Phạm Văn Phong</dc:creator>
  <cp:lastModifiedBy>Phạm Văn Phong</cp:lastModifiedBy>
  <cp:revision>2</cp:revision>
  <dcterms:created xsi:type="dcterms:W3CDTF">2026-09-28T06:37:44Z</dcterms:created>
  <dcterms:modified xsi:type="dcterms:W3CDTF">2026-09-28T06:37:47Z</dcterms:modified>
</cp:coreProperties>
</file>